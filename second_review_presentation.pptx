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555555"/>
                </a:solidFill>
              </a:rPr>
              <a:t>PES University Bengaluru  |  M.Tech Individual Project — Semester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0D2F5E"/>
                </a:solidFill>
              </a:rPr>
              <a:t>AI-Assisted 3D Assembly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6FC4"/>
                </a:solidFill>
              </a:rPr>
              <a:t>Second Review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55555"/>
                </a:solidFill>
              </a:rPr>
              <a:t>Date: 6th June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520440"/>
            <a:ext cx="9601200" cy="3657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2F5E"/>
                </a:solidFill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22222"/>
                </a:solidFill>
              </a:rPr>
              <a:t>This project develops an end-to-end AI pipeline that analyses partial 3D mechanical assemblies supplied as STEP files, constructs graph representations of parts and their mating relationships, and employs a Graph Attention Network (GAT) to detect missing components.  A natural-language assistant (AIDA), powered by Gemini 2.5 Flash, explains assembly structure and suggests corrective actions.  The system is delivered as an interactive web application combining a FastAPI backend with a Streamlit frontend.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5852160"/>
            <a:ext cx="3977639" cy="868680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58795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Presented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614476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D2F5E"/>
                </a:solidFill>
              </a:rPr>
              <a:t>Parthasarathy Perumal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6803136"/>
            <a:ext cx="12024360" cy="54864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Detailed Algorithm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0E8F8"/>
                </a:solidFill>
              </a:rPr>
              <a:t>Graph Neural Network Pipeline for Missing Component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AI-Assisted 3D Assembly Design  |  PES University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D0E8F8"/>
                </a:solidFill>
              </a:rPr>
              <a:t>2 /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2377440" cy="105156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481328"/>
            <a:ext cx="22494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1  Input
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755648"/>
            <a:ext cx="310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F5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417320"/>
            <a:ext cx="2377440" cy="105156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4056" y="1481328"/>
            <a:ext cx="22494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2  Graph
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755648"/>
            <a:ext cx="310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F5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1417320"/>
            <a:ext cx="2377440" cy="1051560"/>
          </a:xfrm>
          <a:prstGeom prst="rect">
            <a:avLst/>
          </a:prstGeom>
          <a:solidFill>
            <a:srgbClr val="0D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1481328"/>
            <a:ext cx="22494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3  GNN
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1755648"/>
            <a:ext cx="310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F5E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52944" y="1417320"/>
            <a:ext cx="2377440" cy="1051560"/>
          </a:xfrm>
          <a:prstGeom prst="rect">
            <a:avLst/>
          </a:prstGeom>
          <a:solidFill>
            <a:srgbClr val="D66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2" y="1481328"/>
            <a:ext cx="22494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4  Prediction
&amp;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STEP file as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90779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gmsh / OpenCASCADE parser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36975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Extracts 3D solid geometry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566159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Generates mesh &amp; B-rep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Nodes — 13-dim features: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2907791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  – Part-type one-hot (8 dims)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3236975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  – Volume, Surface area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8" y="356615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  – Bounding-box Δx, Δy, Δz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38953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Edges — 2-dim features: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0088" y="422452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  – Mate-type encoding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0088" y="455371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</a:rPr>
              <a:t>  – Contact weight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6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3-layer Graph Attention 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7216" y="290779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Multi-head attention (8 heads)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3236975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64-dim node embeddings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7216" y="3566159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Dropout = 0.1 for regularisation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7216" y="38953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Adam + ReduceLROnPlateau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8664" y="25786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MLP Link Predictor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8664" y="2907791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Binary edge score per pair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8664" y="3236975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Threshold → missing parts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98664" y="3566159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NodeRanker for ranking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8664" y="389534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▸ AIDA (Gemini) explanation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5577840"/>
            <a:ext cx="11731752" cy="7498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6144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F5E"/>
                </a:solidFill>
              </a:rPr>
              <a:t>AIDA Assistant: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5614416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Gemini 2.5 Flash LLM  +  engineering_3d_assembly persona  →  Natural-language explanations, assembly-category analysis, joint-type identification, and corrective suggestions via 6 domain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Contribution of the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0E8F8"/>
                </a:solidFill>
              </a:rPr>
              <a:t>Parthasarathy Perumal — Individual Project, M.Tech Sem 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AI-Assisted 3D Assembly Design  |  PES University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D0E8F8"/>
                </a:solidFill>
              </a:rPr>
              <a:t>3 /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394960" cy="438912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43560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Core AI / ML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385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Designed &amp; implemented the full STEP-to-GNN pipeline 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77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Built STEP parser using gmsh + OpenCASCADE — handles real CAD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1635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Engineered 13-dimensional node feature vectors from 3D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552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Designed AssemblyGNN: 3-layer GAT with multi-head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9417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Implemented MLP Link Predictor for binary missing-part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33087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Wrote training loop with Adam, early stopping, ReduceLROnPlateau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720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Defined evaluation metrics: AUC-ROC and Average Precision (AP)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417320"/>
            <a:ext cx="5394960" cy="43891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43560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System, UI &amp; AI Skills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9385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Built FastAPI backend exposing /predict/missing, /explain, /identify, /health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377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Created Streamlit frontend with Plotly 3D mesh viewer of assemblies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1635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Integrated real-time training monitor within the web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2552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Developed AIDA agent (Gemini 2.5 Flash) with 6 domain skills YAML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69417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Engineered system prompt / persona (engineering_3d_assembly.yaml)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133087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Wrote shell scripts for one-command service start/stop/log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5720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</a:rPr>
              <a:t>▸  Maintained a version-controlled project across macOS (MPS) environment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8" y="1417320"/>
            <a:ext cx="36576" cy="4892040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Results Obtained  —  Intermediate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0E8F8"/>
                </a:solidFill>
              </a:rPr>
              <a:t>GNN Training Metrics as of May 2026  |  Phase 1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AI-Assisted 3D Assembly Design  |  PES University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D0E8F8"/>
                </a:solidFill>
              </a:rPr>
              <a:t>4 /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2697480" cy="141732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087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Best AUC-ROC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7451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0.9272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5786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FF"/>
                </a:solidFill>
              </a:rPr>
              <a:t>assembly_gnn_20260523
_162431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2112" y="1444752"/>
            <a:ext cx="2697480" cy="14173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5087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Avg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7451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0.6463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786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FF"/>
                </a:solidFill>
              </a:rPr>
              <a:t>Current test set
AP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1444752"/>
            <a:ext cx="2697480" cy="1417320"/>
          </a:xfrm>
          <a:prstGeom prst="rect">
            <a:avLst/>
          </a:prstGeom>
          <a:solidFill>
            <a:srgbClr val="0D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5087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Models Trained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187451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5786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FF"/>
                </a:solidFill>
              </a:rPr>
              <a:t>Checkpoints saved
in trained_models/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7696" y="1444752"/>
            <a:ext cx="2697480" cy="1417320"/>
          </a:xfrm>
          <a:prstGeom prst="rect">
            <a:avLst/>
          </a:prstGeom>
          <a:solidFill>
            <a:srgbClr val="D66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15087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Training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187451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6+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5786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FF"/>
                </a:solidFill>
              </a:rPr>
              <a:t>Multiple configs
explored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063240"/>
            <a:ext cx="5394960" cy="384048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0815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Training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502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Optimiser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5021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Adam  (lr = 1×10⁻³)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8679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LR Scheduler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86791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ReduceLROnPlateau (factor 0.5, patience 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2336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Early Stopping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2336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Patience = 20 epochs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5994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Batch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45994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Full-graph (single batch per epoch)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9651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Input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496519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Node: 13-dim  |  Edge: 2-dim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3309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Embedding dim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3309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64  (hidden = 128)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696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Dropout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569671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0.1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0624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Device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606247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</a:rPr>
              <a:t>MPS (Apple Silicon M-series)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3063240"/>
            <a:ext cx="5943600" cy="38404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08152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AUC Variation Across Runs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3502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Run 1 (best)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3502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7A3E"/>
                </a:solidFill>
              </a:rPr>
              <a:t>AUC = 0.9272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50215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Optimal LR + data split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38679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Run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3867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</a:rPr>
              <a:t>AUC = 0.8641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38679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Slightly larger dropout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42336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Run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423367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</a:rPr>
              <a:t>AUC = 0.7418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423367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Reduced hidden dim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4599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Run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45994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</a:rPr>
              <a:t>AUC = 0.6367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72600" y="459943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Latest checkpoint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49651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Run 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60" y="4965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66310"/>
                </a:solidFill>
              </a:rPr>
              <a:t>AUC = 0.4424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496519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Current test_metrics.json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Observation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53309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6FC4"/>
                </a:solidFill>
              </a:rPr>
              <a:t>High variance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72600" y="533095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</a:rPr>
              <a:t>Sensitivity to data split &amp; LR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6199632"/>
            <a:ext cx="11640312" cy="54864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59436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F5E"/>
                </a:solidFill>
              </a:rPr>
              <a:t>Next (Phase 2):  Next-component ranking using NodeRanker  |  Metrics: Hit@K, MRR, NDCG@K  |  Target AUC ≥ 0.92 consistently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0E8F8"/>
                </a:solidFill>
              </a:rPr>
              <a:t>Key Literature, Frameworks, and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AI-Assisted 3D Assembly Design  |  PES University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D0E8F8"/>
                </a:solidFill>
              </a:rPr>
              <a:t>5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63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FC4"/>
                </a:solidFill>
              </a:rPr>
              <a:t>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P. Veličković et al.  Graph Attention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82496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ICLR 2018.  arXiv:1710.10903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025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FC4"/>
                </a:solidFill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02536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M. Fey &amp; J. E. Lenssen.  Fast Graph Representation Learning with PyTorch Geometric.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2199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ICLR Workshop on Representation Learning on Graphs and Manifolds, 2019.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5420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FC4"/>
                </a:solidFill>
              </a:rPr>
              <a:t>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4203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Geuzaine, C. &amp; Remacle, J.-F.  Gmsh: A 3-D finite element mesh generator with built-in pre- and post-processing facilities.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61487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International Journal for Numerical Methods in Engineering, 79(11), 1309–1331, 2009.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08152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FC4"/>
                </a:solidFill>
              </a:rP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81527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Open CASCADE Technology (OCCT).  Open CASCADE 3D Modeling Kernel.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00983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https://www.opencascade.com  (accessed June 2026)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621023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FC4"/>
                </a:solidFill>
              </a:rPr>
              <a:t>[5]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21023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Google DeepMind.  Gemini 2.5 Flash — Multimodal Large Language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40479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Technical Report, Google LLC, 2025.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1605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FC4"/>
                </a:solidFill>
              </a:rPr>
              <a:t>[6]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FastAPI Framework.  Sebastián Ramírez.  FastAPI — High Performance, Easy to Learn, Fast to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379976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https://fastapi.tiangolo.com  (accessed June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7000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FC4"/>
                </a:solidFill>
              </a:rPr>
              <a:t>[7]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00016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Streamlit Inc.  Streamlit — A Faster Way to Build and Share Data Apps.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1947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https://streamlit.io  (accessed June 2026)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2395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6FC4"/>
                </a:solidFill>
              </a:rPr>
              <a:t>[8]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39512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</a:rPr>
              <a:t>A. Paszke et al.  PyTorch: An Imperative Style, High-Performance Deep Learning Library.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5896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NeurIPS 2019.  arXiv:1912.01703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