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Hero image: an AI assistant projecting a holographic scan of a robot with a missing limb (decorative).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data (Mean AUC-ROC per logged run; ★ = promoted to serving; corpus and protocol change between eras, so compare within an era).</a:t>
            </a:r>
          </a:p>
          <a:p>
            <a:r>
              <a:t>Era 1: R12 0.697, R13 0.574, R14 0.624 (R1–R11: single-split runs, no cross-validated AUC; R3 inflated by 300 synthetic graphs).</a:t>
            </a:r>
          </a:p>
          <a:p>
            <a:r>
              <a:t>Era 2: R15 0.726, R16 0.659, R17 0.625, R18 0.483, R19 0.504, R20 0.503, R21 0.428, R22 0.588, R23 0.460, R27 0.531, R28 0.5455.</a:t>
            </a:r>
          </a:p>
          <a:p>
            <a:r>
              <a:t>Era 3: R29 0.566★, R30 0.599★, R31 0.594, R32 0.507, R33 0.531★, R34 0.556★.</a:t>
            </a:r>
          </a:p>
          <a:p>
            <a:r>
              <a:t>Era 4: R35 0.539, R36 0.628★ (+0.072), R37 0.677★, Final (16–17 Aug) 0.8235★, R39 0.9206★.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chart: bar chart of AUC by run, R1 through R39, plus the 238-model final retrain (Aug 16–17) — highlighted bars are the Final and R39 runs.</a:t>
            </a:r>
          </a:p>
          <a:p>
            <a:r>
              <a:t>Bottom chart: line chart of the latest retrain's epoch-wise smoothed validation AUC, all 5 folds (749-model corpus).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data — corpus size (graphs; curated folders from R32) at each logged corpus change:</a:t>
            </a:r>
          </a:p>
          <a:p>
            <a:r>
              <a:t>R6 25 · R9 138 (+hinge) · R10 780 (+Fusion360 Gallery) · R11 416 · R13 807 · R14 270 · R17 1,760 (6.5× more data) · R18 995 (curated) · R20 444 (38 categories) · R21 89 · R22 239 · R23 156 · R27 869 · R28 695 · R29 248 (8 categories) · R31 484 · R32 193 (7 categories) · Final 238 · R39 648 usable graphs from 749 models (7 × 107).</a:t>
            </a:r>
          </a:p>
          <a:p>
            <a:r>
              <a:t>Category lane: Synthetic + real → hinge → Fusion360 Gallery, 4 generic domain tags (R1–R14) · 38 categories → 3 → Tools-only → Mech. Eng. split by graph complexity (R15–R28) · 8 machine-part categories → 7, 193 → 238 curated folders (R29–R38) · 7 × 107 = 749 models (R39).</a:t>
            </a:r>
          </a:p>
          <a:p>
            <a:r>
              <a:t>R1–R5: synthetic + real mix; 300 synthetic graphs inflated R3. R24–R26 were not in the change logs (the line holds the previous corpus). About 20 corpus versions is a tally of distinct logged corpus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Image: 749-model corpus EDA dashboard — (A) raw models vs usable graphs by category, (B) component-type mix across 25,155 bodies / 8 classes, (C) component-type composition by category, plus summary numbers (749 raw models, 648 usable graphs, 25,155 bodies, 38.8 / 144.3 mean nodes / mean edges per graph, 34+6 features).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Frames (each a full-resolution screenshot of the running app): 1 Full window: sidebar, Input / Results panels and the AIDA panel · 2 Viewer settings: colour, opacity, background, camera · 3 Model info: serving checkpoint and code version · 4 Activity log: timestamped pipeline stages · 5 Upload a STEP/STP file (up to 50 MB); Results waits · 6 Original view: rotate, zoom and toggle each part · 7 Result view: Suggested Shapes (pink) and Not Assembled parts (orange) · 8 Reconstructed group, coloured by component category · 9 Details panel: reconstruction table, .glb export, six result sections · 10 AIDA: engineering-language interpretation of the predictions.</a:t>
            </a:r>
          </a:p>
          <a:p>
            <a:r>
              <a:t>The 'LIVE DEMO' label links to the local app (http://localhost:8501) — start it first with: bash start_services.sh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Relationship Id="rId9" Type="http://schemas.openxmlformats.org/officeDocument/2006/relationships/image" Target="../media/image14.jpg"/><Relationship Id="rId10" Type="http://schemas.openxmlformats.org/officeDocument/2006/relationships/image" Target="../media/image15.jpg"/><Relationship Id="rId11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hyperlink" Target="https://claude.ai/code/artifact/cad69948-0551-476f-9f6a-c3657431ca85" TargetMode="External"/><Relationship Id="rId5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://localhost:8501" TargetMode="External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jpg"/><Relationship Id="rId11" Type="http://schemas.openxmlformats.org/officeDocument/2006/relationships/image" Target="../media/image24.jpg"/><Relationship Id="rId12" Type="http://schemas.openxmlformats.org/officeDocument/2006/relationships/image" Target="../media/image25.jpg"/><Relationship Id="rId13" Type="http://schemas.openxmlformats.org/officeDocument/2006/relationships/image" Target="../media/image26.jpg"/><Relationship Id="rId14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01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C7691"/>
                </a:solidFill>
                <a:latin typeface="Courier New"/>
              </a:rPr>
              <a:t>M.TECH END-SEMESTER EXAMINATION · DATA SCIENCE &amp; AI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56692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7F8FB"/>
                </a:solidFill>
                <a:latin typeface="Cambria"/>
              </a:rPr>
              <a:t>AI-Assisted 3D Assembly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A6B1C7"/>
                </a:solidFill>
                <a:latin typeface="Calibri"/>
              </a:rPr>
              <a:t>Detecting, Ranking &amp; Generating 3D Shape of Missing Components in CAD Assemblies with Graph Neural Networks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5257800" cy="1463040"/>
          </a:xfrm>
          <a:prstGeom prst="roundRect">
            <a:avLst>
              <a:gd name="adj" fmla="val 750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75488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800" b="0" i="0" spc="100">
                <a:solidFill>
                  <a:srgbClr val="6C7691"/>
                </a:solidFill>
                <a:latin typeface="Courier New"/>
              </a:rPr>
              <a:t>STUDENT</a:t>
            </a:r>
          </a:p>
          <a:p>
            <a:pPr algn="l"/>
            <a:r>
              <a:rPr sz="1300" b="1" i="0">
                <a:solidFill>
                  <a:srgbClr val="EEF2F9"/>
                </a:solidFill>
                <a:latin typeface="Calibri"/>
              </a:rPr>
              <a:t>Parthasarathy Perumal</a:t>
            </a:r>
          </a:p>
          <a:p>
            <a:pPr algn="l"/>
            <a:r>
              <a:rPr sz="850" b="0" i="0">
                <a:solidFill>
                  <a:srgbClr val="6C7691"/>
                </a:solidFill>
                <a:latin typeface="Courier New"/>
              </a:rPr>
              <a:t>SRN PES2PGE24DS193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475488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800" b="0" i="0" spc="100">
                <a:solidFill>
                  <a:srgbClr val="6C7691"/>
                </a:solidFill>
                <a:latin typeface="Courier New"/>
              </a:rPr>
              <a:t>GUIDE — PHASE 1</a:t>
            </a:r>
          </a:p>
          <a:p>
            <a:pPr algn="l"/>
            <a:r>
              <a:rPr sz="1300" b="1" i="0">
                <a:solidFill>
                  <a:srgbClr val="EEF2F9"/>
                </a:solidFill>
                <a:latin typeface="Calibri"/>
              </a:rPr>
              <a:t>Prof. Sagarika Borah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413248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800" b="0" i="0" spc="100">
                <a:solidFill>
                  <a:srgbClr val="6C7691"/>
                </a:solidFill>
                <a:latin typeface="Courier New"/>
              </a:rPr>
              <a:t>GUIDE — PHASE 2</a:t>
            </a:r>
          </a:p>
          <a:p>
            <a:pPr algn="l"/>
            <a:r>
              <a:rPr sz="1300" b="1" i="0">
                <a:solidFill>
                  <a:srgbClr val="EEF2F9"/>
                </a:solidFill>
                <a:latin typeface="Calibri"/>
              </a:rPr>
              <a:t>Prof. Gaurav Siwal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5413248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800" b="0" i="0" spc="100">
                <a:solidFill>
                  <a:srgbClr val="6C7691"/>
                </a:solidFill>
                <a:latin typeface="Courier New"/>
              </a:rPr>
              <a:t>UNIVERSITY</a:t>
            </a:r>
          </a:p>
          <a:p>
            <a:pPr algn="l"/>
            <a:r>
              <a:rPr sz="1300" b="1" i="0">
                <a:solidFill>
                  <a:srgbClr val="EEF2F9"/>
                </a:solidFill>
                <a:latin typeface="Calibri"/>
              </a:rPr>
              <a:t>PES University, Electronic City, Bengaluru</a:t>
            </a:r>
          </a:p>
        </p:txBody>
      </p:sp>
      <p:pic>
        <p:nvPicPr>
          <p:cNvPr id="13" name="Picture 12" descr="AI assistant projecting a holographic scan of a robot with a missing left-leg component flagg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50961"/>
            <a:ext cx="4983480" cy="2715996"/>
          </a:xfrm>
          <a:prstGeom prst="rect">
            <a:avLst/>
          </a:prstGeom>
          <a:ln w="63500">
            <a:solidFill>
              <a:srgbClr val="F7F8FB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What We’ll Cover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02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641668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285232" cy="841248"/>
          </a:xfrm>
          <a:prstGeom prst="roundRect">
            <a:avLst>
              <a:gd name="adj" fmla="val 1304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783080"/>
            <a:ext cx="475488" cy="475488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874519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A8E63C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91640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EEF2F9"/>
                </a:solidFill>
                <a:latin typeface="Calibri"/>
              </a:rPr>
              <a:t>Problem Statement &amp; Research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85232" cy="841248"/>
          </a:xfrm>
          <a:prstGeom prst="roundRect">
            <a:avLst>
              <a:gd name="adj" fmla="val 1304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3096" y="1783080"/>
            <a:ext cx="475488" cy="475488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874519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A8E63C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691640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EEF2F9"/>
                </a:solidFill>
                <a:latin typeface="Calibri"/>
              </a:rPr>
              <a:t>System Architecture &amp; Novel Contributions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79191"/>
            <a:ext cx="5285232" cy="841248"/>
          </a:xfrm>
          <a:prstGeom prst="roundRect">
            <a:avLst>
              <a:gd name="adj" fmla="val 1304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" y="2862072"/>
            <a:ext cx="475488" cy="475488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953511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A8E63C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77063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EEF2F9"/>
                </a:solidFill>
                <a:latin typeface="Calibri"/>
              </a:rPr>
              <a:t>Project Timeline &amp; Review Milestones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79191"/>
            <a:ext cx="5285232" cy="841248"/>
          </a:xfrm>
          <a:prstGeom prst="roundRect">
            <a:avLst>
              <a:gd name="adj" fmla="val 1304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83096" y="2862072"/>
            <a:ext cx="475488" cy="475488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2953511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A8E63C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77063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EEF2F9"/>
                </a:solidFill>
                <a:latin typeface="Calibri"/>
              </a:rPr>
              <a:t>Complete Training History — R1 to R39 (4 eras)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58183"/>
            <a:ext cx="5285232" cy="841248"/>
          </a:xfrm>
          <a:prstGeom prst="roundRect">
            <a:avLst>
              <a:gd name="adj" fmla="val 1304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" y="3941063"/>
            <a:ext cx="475488" cy="475488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4032503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A8E63C"/>
                </a:solidFill>
                <a:latin typeface="Courier New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849623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EEF2F9"/>
                </a:solidFill>
                <a:latin typeface="Calibri"/>
              </a:rPr>
              <a:t>Latest Full-Corpus End-to-End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758183"/>
            <a:ext cx="5285232" cy="841248"/>
          </a:xfrm>
          <a:prstGeom prst="roundRect">
            <a:avLst>
              <a:gd name="adj" fmla="val 1304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83096" y="3941063"/>
            <a:ext cx="475488" cy="475488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4032503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A8E63C"/>
                </a:solidFill>
                <a:latin typeface="Courier New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849623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EEF2F9"/>
                </a:solidFill>
                <a:latin typeface="Calibri"/>
              </a:rPr>
              <a:t>Engineering Challenges Overcome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837176"/>
            <a:ext cx="5285232" cy="841248"/>
          </a:xfrm>
          <a:prstGeom prst="roundRect">
            <a:avLst>
              <a:gd name="adj" fmla="val 1304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976" y="5020056"/>
            <a:ext cx="475488" cy="475488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111496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A8E63C"/>
                </a:solidFill>
                <a:latin typeface="Courier New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928616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EEF2F9"/>
                </a:solidFill>
                <a:latin typeface="Calibri"/>
              </a:rPr>
              <a:t>Live Demo — real STEP file, right now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37176"/>
            <a:ext cx="5285232" cy="841248"/>
          </a:xfrm>
          <a:prstGeom prst="roundRect">
            <a:avLst>
              <a:gd name="adj" fmla="val 1304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83096" y="5020056"/>
            <a:ext cx="475488" cy="475488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3096" y="5111496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A8E63C"/>
                </a:solidFill>
                <a:latin typeface="Courier New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928616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EEF2F9"/>
                </a:solidFill>
                <a:latin typeface="Calibri"/>
              </a:rPr>
              <a:t>Conclusion, Limitations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03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83336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0817352" cy="1234440"/>
          </a:xfrm>
          <a:prstGeom prst="roundRect">
            <a:avLst>
              <a:gd name="adj" fmla="val 8888"/>
            </a:avLst>
          </a:prstGeom>
          <a:solidFill>
            <a:srgbClr val="19231D"/>
          </a:solidFill>
          <a:ln w="9525">
            <a:solidFill>
              <a:srgbClr val="516F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274320" bIns="91440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F7F8FB"/>
                </a:solidFill>
                <a:latin typeface="Cambria"/>
              </a:rPr>
              <a:t>Modern CAD tools — SolidWorks, CATIA, Fusion 360 — offer </a:t>
            </a:r>
            <a:r>
              <a:rPr sz="2100" b="1" i="0" u="sng">
                <a:solidFill>
                  <a:srgbClr val="A8E63C"/>
                </a:solidFill>
                <a:latin typeface="Cambria"/>
              </a:rPr>
              <a:t>no contextual intelligence</a:t>
            </a:r>
            <a:r>
              <a:rPr sz="2100" b="1" i="0">
                <a:solidFill>
                  <a:srgbClr val="F7F8FB"/>
                </a:solidFill>
                <a:latin typeface="Cambria"/>
              </a:rPr>
              <a:t> during assembly creation. Engineers </a:t>
            </a:r>
            <a:r>
              <a:rPr sz="2100" b="1" i="0" u="sng">
                <a:solidFill>
                  <a:srgbClr val="A8E63C"/>
                </a:solidFill>
                <a:latin typeface="Cambria"/>
              </a:rPr>
              <a:t>rely entirely on domain knowledge</a:t>
            </a:r>
            <a:r>
              <a:rPr sz="2100" b="1" i="0">
                <a:solidFill>
                  <a:srgbClr val="F7F8FB"/>
                </a:solidFill>
                <a:latin typeface="Cambria"/>
              </a:rPr>
              <a:t> to choose and position every component.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34640"/>
            <a:ext cx="3383280" cy="1234440"/>
          </a:xfrm>
          <a:prstGeom prst="roundRect">
            <a:avLst>
              <a:gd name="adj" fmla="val 8888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A8E63C"/>
                </a:solidFill>
                <a:latin typeface="Cambria"/>
              </a:rPr>
              <a:t>Knowledge Barrier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6B1C7"/>
                </a:solidFill>
                <a:latin typeface="Calibri"/>
              </a:rPr>
              <a:t>Junior engineers lack the assembly patterns built over years of hands-on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834640"/>
            <a:ext cx="3383280" cy="1234440"/>
          </a:xfrm>
          <a:prstGeom prst="roundRect">
            <a:avLst>
              <a:gd name="adj" fmla="val 8888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A8E63C"/>
                </a:solidFill>
                <a:latin typeface="Cambria"/>
              </a:rPr>
              <a:t>No Automation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6B1C7"/>
                </a:solidFill>
                <a:latin typeface="Calibri"/>
              </a:rPr>
              <a:t>Existing CAD tools offer no intelligent part suggestion during assembly creation.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06240"/>
            <a:ext cx="3383280" cy="1234440"/>
          </a:xfrm>
          <a:prstGeom prst="roundRect">
            <a:avLst>
              <a:gd name="adj" fmla="val 8888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A8E63C"/>
                </a:solidFill>
                <a:latin typeface="Cambria"/>
              </a:rPr>
              <a:t>Non-Standardisation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6B1C7"/>
                </a:solidFill>
                <a:latin typeface="Calibri"/>
              </a:rPr>
              <a:t>Different designers make inconsistent choices for equivalent subassemblies.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206240"/>
            <a:ext cx="3383280" cy="1234440"/>
          </a:xfrm>
          <a:prstGeom prst="roundRect">
            <a:avLst>
              <a:gd name="adj" fmla="val 8888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A8E63C"/>
                </a:solidFill>
                <a:latin typeface="Cambria"/>
              </a:rPr>
              <a:t>Incomplete Assemblies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A6B1C7"/>
                </a:solidFill>
                <a:latin typeface="Calibri"/>
              </a:rPr>
              <a:t>Partially defined assemblies have no mechanism to detect or fill missing parts.</a:t>
            </a:r>
          </a:p>
        </p:txBody>
      </p:sp>
      <p:pic>
        <p:nvPicPr>
          <p:cNvPr id="13" name="Picture 12" descr="GNN-predicted missing wheel component overlay on a bicycle CAD assemb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861226"/>
            <a:ext cx="3593592" cy="1958507"/>
          </a:xfrm>
          <a:prstGeom prst="rect">
            <a:avLst/>
          </a:prstGeom>
          <a:ln w="50800">
            <a:solidFill>
              <a:srgbClr val="F7F8FB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909560" y="4911173"/>
            <a:ext cx="3593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0" i="1">
                <a:solidFill>
                  <a:srgbClr val="6C7691"/>
                </a:solidFill>
                <a:latin typeface="Calibri"/>
              </a:rPr>
              <a:t>What this project builds toward — a GNN flags the missing wheel with 98.4%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577840"/>
            <a:ext cx="10817352" cy="777240"/>
          </a:xfrm>
          <a:prstGeom prst="roundRect">
            <a:avLst>
              <a:gd name="adj" fmla="val 14117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73152" rIns="182880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 spc="100">
                <a:solidFill>
                  <a:srgbClr val="A8E63C"/>
                </a:solidFill>
                <a:latin typeface="Courier New"/>
              </a:rPr>
              <a:t>RESEARCH GAP</a:t>
            </a:r>
          </a:p>
          <a:p>
            <a:pPr algn="l"/>
            <a:r>
              <a:rPr sz="1250" b="0" i="0">
                <a:solidFill>
                  <a:srgbClr val="EEF2F9"/>
                </a:solidFill>
                <a:latin typeface="Calibri"/>
              </a:rPr>
              <a:t>No existing system applies graph-based deep learning to recommend components from partial CAD assembly graphs — without proprietary CAD-API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04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925004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817352" cy="26700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172200"/>
                <a:gridCol w="231343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A8E63C"/>
                          </a:solidFill>
                          <a:latin typeface="Courier New"/>
                        </a:rPr>
                        <a:t>AUTHORS / YEAR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93356"/>
                      </a:solidFill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A8E63C"/>
                          </a:solidFill>
                          <a:latin typeface="Courier New"/>
                        </a:rPr>
                        <a:t>WORK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93356"/>
                      </a:solidFill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A8E63C"/>
                          </a:solidFill>
                          <a:latin typeface="Courier New"/>
                        </a:rPr>
                        <a:t>VENUE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93356"/>
                      </a:solidFill>
                    </a:lnB>
                    <a:solidFill>
                      <a:srgbClr val="1B24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EF2F9"/>
                          </a:solidFill>
                          <a:latin typeface="Calibri"/>
                        </a:rPr>
                        <a:t>Du et al. (2024)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A6B1C7"/>
                          </a:solidFill>
                          <a:latin typeface="Calibri"/>
                        </a:rPr>
                        <a:t>BrepGen: A B-Rep Generative Diffusion Model with Structured Latent Geometry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6C7691"/>
                          </a:solidFill>
                          <a:latin typeface="Courier New"/>
                        </a:rPr>
                        <a:t>ACM SIGGRAPH 2024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EF2F9"/>
                          </a:solidFill>
                          <a:latin typeface="Calibri"/>
                        </a:rPr>
                        <a:t>Jayaraman et al. (2024)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A6B1C7"/>
                          </a:solidFill>
                          <a:latin typeface="Calibri"/>
                        </a:rPr>
                        <a:t>SolidGen: An Autoregressive Model for Direct B-Rep Synthesis and Editing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6C7691"/>
                          </a:solidFill>
                          <a:latin typeface="Courier New"/>
                        </a:rPr>
                        <a:t>ACM ToG, Vol. 43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EF2F9"/>
                          </a:solidFill>
                          <a:latin typeface="Calibri"/>
                        </a:rPr>
                        <a:t>Wang et al. (2025)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A6B1C7"/>
                          </a:solidFill>
                          <a:latin typeface="Calibri"/>
                        </a:rPr>
                        <a:t>CAD-GPT: Synthesising CAD Construction Sequences with Spatial-Reasoning LLMs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6C7691"/>
                          </a:solidFill>
                          <a:latin typeface="Courier New"/>
                        </a:rPr>
                        <a:t>arXiv:2501.09803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EF2F9"/>
                          </a:solidFill>
                          <a:latin typeface="Calibri"/>
                        </a:rPr>
                        <a:t>— (2024)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A6B1C7"/>
                          </a:solidFill>
                          <a:latin typeface="Calibri"/>
                        </a:rPr>
                        <a:t>Can GNNs Learn Link Heuristics?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6C7691"/>
                          </a:solidFill>
                          <a:latin typeface="Courier New"/>
                        </a:rPr>
                        <a:t>arXiv:2411.14711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EF2F9"/>
                          </a:solidFill>
                          <a:latin typeface="Calibri"/>
                        </a:rPr>
                        <a:t>— (2023)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A6B1C7"/>
                          </a:solidFill>
                          <a:latin typeface="Calibri"/>
                        </a:rPr>
                        <a:t>Heterogeneous Graph Contrastive Learning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6C7691"/>
                          </a:solidFill>
                          <a:latin typeface="Courier New"/>
                        </a:rPr>
                        <a:t>arXiv:2303.00995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343400"/>
            <a:ext cx="10817352" cy="1051560"/>
          </a:xfrm>
          <a:prstGeom prst="roundRect">
            <a:avLst>
              <a:gd name="adj" fmla="val 10434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91440" rIns="182880">
            <a:noAutofit/>
          </a:bodyPr>
          <a:lstStyle/>
          <a:p>
            <a:pPr algn="l">
              <a:spcAft>
                <a:spcPts val="300"/>
              </a:spcAft>
            </a:pPr>
            <a:r>
              <a:rPr sz="950" b="1" i="0" spc="100">
                <a:solidFill>
                  <a:srgbClr val="A8E63C"/>
                </a:solidFill>
                <a:latin typeface="Courier New"/>
              </a:rPr>
              <a:t>FOUNDATIONAL — GUIDE’S OWN RESEARCH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EF2F9"/>
                </a:solidFill>
                <a:latin typeface="Calibri"/>
              </a:rPr>
              <a:t>Borah &amp; Borah (2020) — PEE-based reversible mesh watermarking (</a:t>
            </a:r>
            <a:r>
              <a:rPr sz="1200" b="0" i="1">
                <a:solidFill>
                  <a:srgbClr val="EEF2F9"/>
                </a:solidFill>
                <a:latin typeface="Calibri"/>
              </a:rPr>
              <a:t>Multimedia Tools &amp; Applications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) — its Octree spatial-partitioning concept is adapted here to build the open-surface / missing-joint detector.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7784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6C7691"/>
                </a:solidFill>
                <a:latin typeface="Calibri"/>
              </a:rPr>
              <a:t>Also cited: Kipf &amp; Welling (GCN, 2017) · Veličković et al. (GAT, 2018) · Hamilton et al. (GraphSAGE, 2017) · Koch et al. (ABC Dataset, 2019) · Mo et al. (PartNet, 2019) · Ying et al. (GNNExplainer, 2019)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End-to-End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05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2566672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920240" cy="960120"/>
          </a:xfrm>
          <a:prstGeom prst="roundRect">
            <a:avLst>
              <a:gd name="adj" fmla="val 11428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Aft>
                <a:spcPts val="300"/>
              </a:spcAft>
            </a:pPr>
            <a:r>
              <a:rPr sz="1450" b="1" i="0">
                <a:solidFill>
                  <a:srgbClr val="A8E63C"/>
                </a:solidFill>
                <a:latin typeface="Calibri"/>
              </a:rPr>
              <a:t>STEP File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6B1C7"/>
                </a:solidFill>
                <a:latin typeface="Calibri"/>
              </a:rPr>
              <a:t>Partial or complete CAD assembly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600200"/>
            <a:ext cx="3040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50" b="0" i="0">
                <a:solidFill>
                  <a:srgbClr val="6C7691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0078" y="1371600"/>
            <a:ext cx="1920240" cy="960120"/>
          </a:xfrm>
          <a:prstGeom prst="roundRect">
            <a:avLst>
              <a:gd name="adj" fmla="val 11428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Aft>
                <a:spcPts val="300"/>
              </a:spcAft>
            </a:pPr>
            <a:r>
              <a:rPr sz="1450" b="1" i="0">
                <a:solidFill>
                  <a:srgbClr val="A8E63C"/>
                </a:solidFill>
                <a:latin typeface="Calibri"/>
              </a:rPr>
              <a:t>Graph Extraction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6B1C7"/>
                </a:solidFill>
                <a:latin typeface="Calibri"/>
              </a:rPr>
              <a:t>dataset.py — gmsh + OpenCASCADE + trimesh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0318" y="1600200"/>
            <a:ext cx="3040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50" b="0" i="0">
                <a:solidFill>
                  <a:srgbClr val="6C7691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4356" y="1371600"/>
            <a:ext cx="1920240" cy="960120"/>
          </a:xfrm>
          <a:prstGeom prst="roundRect">
            <a:avLst>
              <a:gd name="adj" fmla="val 11428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Aft>
                <a:spcPts val="300"/>
              </a:spcAft>
            </a:pPr>
            <a:r>
              <a:rPr sz="1450" b="1" i="0">
                <a:solidFill>
                  <a:srgbClr val="A8E63C"/>
                </a:solidFill>
                <a:latin typeface="Calibri"/>
              </a:rPr>
              <a:t>AssemblyGNN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6B1C7"/>
                </a:solidFill>
                <a:latin typeface="Calibri"/>
              </a:rPr>
              <a:t>Heterogeneous encoder, frozen after 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4596" y="1600200"/>
            <a:ext cx="3040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50" b="0" i="0">
                <a:solidFill>
                  <a:srgbClr val="6C7691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8633" y="1371600"/>
            <a:ext cx="1920240" cy="960120"/>
          </a:xfrm>
          <a:prstGeom prst="roundRect">
            <a:avLst>
              <a:gd name="adj" fmla="val 11428"/>
            </a:avLst>
          </a:prstGeom>
          <a:solidFill>
            <a:srgbClr val="1E2A4E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Aft>
                <a:spcPts val="300"/>
              </a:spcAft>
            </a:pPr>
            <a:r>
              <a:rPr sz="1450" b="1" i="0">
                <a:solidFill>
                  <a:srgbClr val="A8E63C"/>
                </a:solidFill>
                <a:latin typeface="Calibri"/>
              </a:rPr>
              <a:t>3 Task Heads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6B1C7"/>
                </a:solidFill>
                <a:latin typeface="Calibri"/>
              </a:rPr>
              <a:t>Detect · Rank · 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8874" y="1600200"/>
            <a:ext cx="30403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50" b="0" i="0">
                <a:solidFill>
                  <a:srgbClr val="6C7691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82912" y="1371600"/>
            <a:ext cx="1920240" cy="960120"/>
          </a:xfrm>
          <a:prstGeom prst="roundRect">
            <a:avLst>
              <a:gd name="adj" fmla="val 11428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Aft>
                <a:spcPts val="300"/>
              </a:spcAft>
            </a:pPr>
            <a:r>
              <a:rPr sz="1450" b="1" i="0">
                <a:solidFill>
                  <a:srgbClr val="A8E63C"/>
                </a:solidFill>
                <a:latin typeface="Calibri"/>
              </a:rPr>
              <a:t>Serving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6B1C7"/>
                </a:solidFill>
                <a:latin typeface="Calibri"/>
              </a:rPr>
              <a:t>FastAPI + Streamlit + AIDA (Gemini)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560320"/>
            <a:ext cx="3493008" cy="1691640"/>
          </a:xfrm>
          <a:prstGeom prst="roundRect">
            <a:avLst>
              <a:gd name="adj" fmla="val 6486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7F8FB"/>
                </a:solidFill>
                <a:latin typeface="Cambria"/>
              </a:rPr>
              <a:t>Phase 1 — LinkPredictor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1">
                <a:solidFill>
                  <a:srgbClr val="5B8DEF"/>
                </a:solidFill>
                <a:latin typeface="Courier New"/>
              </a:rPr>
              <a:t>MLP(h</a:t>
            </a:r>
            <a:r>
              <a:rPr sz="1150" b="0" i="1" baseline="-25000">
                <a:solidFill>
                  <a:srgbClr val="5B8DEF"/>
                </a:solidFill>
                <a:latin typeface="Courier New"/>
              </a:rPr>
              <a:t>u</a:t>
            </a:r>
            <a:r>
              <a:rPr sz="1150" b="0" i="1">
                <a:solidFill>
                  <a:srgbClr val="5B8DEF"/>
                </a:solidFill>
                <a:latin typeface="Courier New"/>
              </a:rPr>
              <a:t> ‖ h</a:t>
            </a:r>
            <a:r>
              <a:rPr sz="1150" b="0" i="1" baseline="-25000">
                <a:solidFill>
                  <a:srgbClr val="5B8DEF"/>
                </a:solidFill>
                <a:latin typeface="Courier New"/>
              </a:rPr>
              <a:t>v</a:t>
            </a:r>
            <a:r>
              <a:rPr sz="1150" b="0" i="1">
                <a:solidFill>
                  <a:srgbClr val="5B8DEF"/>
                </a:solidFill>
                <a:latin typeface="Courier New"/>
              </a:rPr>
              <a:t> ‖ dist) → BCE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A6B1C7"/>
                </a:solidFill>
                <a:latin typeface="Calibri"/>
              </a:rPr>
              <a:t>Missing-component detection</a:t>
            </a:r>
          </a:p>
          <a:p>
            <a:pPr algn="l"/>
            <a:r>
              <a:rPr sz="1200" b="1" i="0">
                <a:solidFill>
                  <a:srgbClr val="A8E63C"/>
                </a:solidFill>
                <a:latin typeface="Courier New"/>
              </a:rPr>
              <a:t>AUC-ROC / 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7972" y="2560320"/>
            <a:ext cx="3493008" cy="1691640"/>
          </a:xfrm>
          <a:prstGeom prst="roundRect">
            <a:avLst>
              <a:gd name="adj" fmla="val 6486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7F8FB"/>
                </a:solidFill>
                <a:latin typeface="Cambria"/>
              </a:rPr>
              <a:t>Phase 2 — NodeRanker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1">
                <a:solidFill>
                  <a:srgbClr val="5B8DEF"/>
                </a:solidFill>
                <a:latin typeface="Courier New"/>
              </a:rPr>
              <a:t>cosine(ctx, prototypes) × temperature, BPR loss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A6B1C7"/>
                </a:solidFill>
                <a:latin typeface="Calibri"/>
              </a:rPr>
              <a:t>Next-component ranking</a:t>
            </a:r>
          </a:p>
          <a:p>
            <a:pPr algn="l"/>
            <a:r>
              <a:rPr sz="1200" b="1" i="0">
                <a:solidFill>
                  <a:srgbClr val="A8E63C"/>
                </a:solidFill>
                <a:latin typeface="Courier New"/>
              </a:rPr>
              <a:t>Hit@K / MRR / NDCG@K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560320"/>
            <a:ext cx="3493008" cy="1691640"/>
          </a:xfrm>
          <a:prstGeom prst="roundRect">
            <a:avLst>
              <a:gd name="adj" fmla="val 6486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7F8FB"/>
                </a:solidFill>
                <a:latin typeface="Cambria"/>
              </a:rPr>
              <a:t>Phase 3 — HybridShapeGen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1">
                <a:solidFill>
                  <a:srgbClr val="5B8DEF"/>
                </a:solidFill>
                <a:latin typeface="Courier New"/>
              </a:rPr>
              <a:t>Part-bank retrieval → conditional VAE fallback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A6B1C7"/>
                </a:solidFill>
                <a:latin typeface="Calibri"/>
              </a:rPr>
              <a:t>Missing-shape generation</a:t>
            </a:r>
          </a:p>
          <a:p>
            <a:pPr algn="l"/>
            <a:r>
              <a:rPr sz="1200" b="1" i="0">
                <a:solidFill>
                  <a:srgbClr val="A8E63C"/>
                </a:solidFill>
                <a:latin typeface="Courier New"/>
              </a:rPr>
              <a:t>IoU / Chamfer distance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34840"/>
            <a:ext cx="10817352" cy="1874519"/>
          </a:xfrm>
          <a:prstGeom prst="roundRect">
            <a:avLst>
              <a:gd name="adj" fmla="val 585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i="0" spc="100">
                <a:solidFill>
                  <a:srgbClr val="6C7691"/>
                </a:solidFill>
                <a:latin typeface="Courier New"/>
              </a:rPr>
              <a:t>SUPPORTING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50749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A8E63C"/>
                </a:solidFill>
                <a:latin typeface="Calibri"/>
              </a:rPr>
              <a:t>AssemblyTemplateDB</a:t>
            </a:r>
            <a:r>
              <a:rPr sz="1250" b="0" i="0">
                <a:solidFill>
                  <a:srgbClr val="A6B1C7"/>
                </a:solidFill>
                <a:latin typeface="Calibri"/>
              </a:rPr>
              <a:t> — Per-category component-type frequency prior; works on single-body uploads too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46320"/>
            <a:ext cx="50749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A8E63C"/>
                </a:solidFill>
                <a:latin typeface="Calibri"/>
              </a:rPr>
              <a:t>Octree Surface Analyzer</a:t>
            </a:r>
            <a:r>
              <a:rPr sz="1250" b="0" i="0">
                <a:solidFill>
                  <a:srgbClr val="A6B1C7"/>
                </a:solidFill>
                <a:latin typeface="Calibri"/>
              </a:rPr>
              <a:t> — Spatial partitioning finds open (unmated) joint surfaces — Borah &amp; Borah (2020)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59552"/>
            <a:ext cx="50749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A8E63C"/>
                </a:solidFill>
                <a:latin typeface="Calibri"/>
              </a:rPr>
              <a:t>AIDA (Gemini agent)</a:t>
            </a:r>
            <a:r>
              <a:rPr sz="1250" b="0" i="0">
                <a:solidFill>
                  <a:srgbClr val="A6B1C7"/>
                </a:solidFill>
                <a:latin typeface="Calibri"/>
              </a:rPr>
              <a:t> — Explains every GNN prediction in engineering language,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59552"/>
            <a:ext cx="50749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A8E63C"/>
                </a:solidFill>
                <a:latin typeface="Calibri"/>
              </a:rPr>
              <a:t>GNNExplainer</a:t>
            </a:r>
            <a:r>
              <a:rPr sz="1250" b="0" i="0">
                <a:solidFill>
                  <a:srgbClr val="A6B1C7"/>
                </a:solidFill>
                <a:latin typeface="Calibri"/>
              </a:rPr>
              <a:t> — Post-hoc attribution over the frozen encoder + heads; surfaces the influential edges/features behind each prediction, live in the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Graph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06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3208340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6263640" cy="3931920"/>
          </a:xfrm>
          <a:prstGeom prst="roundRect">
            <a:avLst>
              <a:gd name="adj" fmla="val 279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 bIns="91440">
            <a:noAutofit/>
          </a:bodyPr>
          <a:lstStyle/>
          <a:p>
            <a:pPr algn="l">
              <a:spcAft>
                <a:spcPts val="100"/>
              </a:spcAft>
            </a:pPr>
            <a:r>
              <a:rPr sz="1650" b="1" i="0">
                <a:solidFill>
                  <a:srgbClr val="A8E63C"/>
                </a:solidFill>
                <a:latin typeface="Cambria"/>
              </a:rPr>
              <a:t>Node — 34 dimensions</a:t>
            </a:r>
          </a:p>
          <a:p>
            <a:pPr algn="l">
              <a:spcAft>
                <a:spcPts val="700"/>
              </a:spcAft>
            </a:pPr>
            <a:r>
              <a:rPr sz="1050" b="0" i="1">
                <a:solidFill>
                  <a:srgbClr val="6C7691"/>
                </a:solidFill>
                <a:latin typeface="Calibri"/>
              </a:rPr>
              <a:t>A solid body in the assembly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[0:8]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Component-type one-hot — 8-class multi-signal geometric voting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[8:10]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log1p(volume) · log1p(exact surface area, via trimesh)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[10:13]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Bounding-box Δx/Δy/Δz, scale-relative to the assembly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[13:18]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Elongation · flatness · aspect x/y, y/z · sphericity (affine-invariant)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[18:20]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SDF mean · SDF variance (inward ray-casting)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[20]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Surface-area / volume ratio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[21]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log1p(hole count) — geometry-derived since R35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[22:34]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Hole geometry (new, R39) — has-holes · through/counterbore/indentation/filled fractions · mean/max diameter · curved-surface-mount flag, 12 dims 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4032" y="1371600"/>
            <a:ext cx="4389120" cy="3931920"/>
          </a:xfrm>
          <a:prstGeom prst="roundRect">
            <a:avLst>
              <a:gd name="adj" fmla="val 279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 bIns="91440">
            <a:noAutofit/>
          </a:bodyPr>
          <a:lstStyle/>
          <a:p>
            <a:pPr algn="l">
              <a:spcAft>
                <a:spcPts val="100"/>
              </a:spcAft>
            </a:pPr>
            <a:r>
              <a:rPr sz="1650" b="1" i="0">
                <a:solidFill>
                  <a:srgbClr val="A8E63C"/>
                </a:solidFill>
                <a:latin typeface="Cambria"/>
              </a:rPr>
              <a:t>Edge — 6 dimensions</a:t>
            </a:r>
          </a:p>
          <a:p>
            <a:pPr algn="l">
              <a:spcAft>
                <a:spcPts val="700"/>
              </a:spcAft>
            </a:pPr>
            <a:r>
              <a:rPr sz="1050" b="0" i="1">
                <a:solidFill>
                  <a:srgbClr val="6C7691"/>
                </a:solidFill>
                <a:latin typeface="Calibri"/>
              </a:rPr>
              <a:t>Bodies sharing real boundary geometry after fragment()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[0]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Mate-type indicator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[1]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Real contact-area weight — shared-surface area ratio (R36; was hardcoded 1.0)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[2:6]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Joint-type one-hot — rigid / revolute / slider / cylindrical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150" b="0" i="0">
                <a:solidFill>
                  <a:srgbClr val="5B8DEF"/>
                </a:solidFill>
                <a:latin typeface="Courier New"/>
              </a:rPr>
              <a:t>pos (3-dim)</a:t>
            </a:r>
            <a:r>
              <a:rPr sz="1200" b="0" i="0">
                <a:solidFill>
                  <a:srgbClr val="EEF2F9"/>
                </a:solidFill>
                <a:latin typeface="Calibri"/>
              </a:rPr>
              <a:t> — body centroid, feeds a spatial link-prediction signal (R36)</a:t>
            </a:r>
          </a:p>
          <a:p>
            <a:pPr algn="l" marL="146304" indent="-146304">
              <a:lnSpc>
                <a:spcPct val="105000"/>
              </a:lnSpc>
              <a:spcAft>
                <a:spcPts val="350"/>
              </a:spcAft>
              <a:buClr>
                <a:srgbClr val="A8E63C"/>
              </a:buClr>
              <a:buFont typeface="Arial"/>
              <a:buChar char="▪"/>
            </a:pPr>
            <a:r>
              <a:rPr sz="1200" b="0" i="0">
                <a:solidFill>
                  <a:srgbClr val="EEF2F9"/>
                </a:solidFill>
                <a:latin typeface="Calibri"/>
              </a:rPr>
              <a:t>Two bodies get an edge iff their boundary face sets intersect — real contact, not proximity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486400"/>
            <a:ext cx="10817352" cy="868680"/>
          </a:xfrm>
          <a:prstGeom prst="roundRect">
            <a:avLst>
              <a:gd name="adj" fmla="val 12631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54864" rIns="201168" bIns="54864">
            <a:no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EEF2F9"/>
                </a:solidFill>
                <a:latin typeface="Calibri"/>
              </a:rPr>
              <a:t>8-class taxonomy: </a:t>
            </a:r>
            <a:r>
              <a:rPr sz="1250" b="0" i="0">
                <a:solidFill>
                  <a:srgbClr val="EEF2F9"/>
                </a:solidFill>
                <a:latin typeface="Calibri"/>
              </a:rPr>
              <a:t>long/short shaft · thick/thin plate · bolt · washer · nut · body — multi-signal voting (hole detection + bolt-head detection + absolute-size gate), replacing single-signal SDF rules at R33.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Beyond Base Replication — 4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07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3850009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85232" cy="2103120"/>
          </a:xfrm>
          <a:prstGeom prst="roundRect">
            <a:avLst>
              <a:gd name="adj" fmla="val 5217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810512"/>
            <a:ext cx="713232" cy="713232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20240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50" b="0" i="0">
                <a:solidFill>
                  <a:srgbClr val="A8E63C"/>
                </a:solidFill>
                <a:latin typeface="Calibr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64792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7F8FB"/>
                </a:solidFill>
                <a:latin typeface="Cambria"/>
              </a:rPr>
              <a:t>AssemblyTemplateDB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6B1C7"/>
                </a:solidFill>
                <a:latin typeface="Calibri"/>
              </a:rPr>
              <a:t>Learns per-category component-type frequency distributions from training data; identifies what’s missing even from a single-body upload.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285232" cy="2103120"/>
          </a:xfrm>
          <a:prstGeom prst="roundRect">
            <a:avLst>
              <a:gd name="adj" fmla="val 5217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8232" y="1810512"/>
            <a:ext cx="713232" cy="713232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20240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50" b="0" i="0">
                <a:solidFill>
                  <a:srgbClr val="A8E63C"/>
                </a:solidFill>
                <a:latin typeface="Calibri"/>
              </a:rPr>
              <a:t>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764792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7F8FB"/>
                </a:solidFill>
                <a:latin typeface="Cambria"/>
              </a:rPr>
              <a:t>Octree Surface Detector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6B1C7"/>
                </a:solidFill>
                <a:latin typeface="Calibri"/>
              </a:rPr>
              <a:t>Spatial partitioning (Borah &amp; Borah, 2020) clusters free-surface centroids after fragment() to flag open mating joints — highlighted live in the 3D viewer.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79"/>
            <a:ext cx="5285232" cy="2103120"/>
          </a:xfrm>
          <a:prstGeom prst="roundRect">
            <a:avLst>
              <a:gd name="adj" fmla="val 5217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142231"/>
            <a:ext cx="713232" cy="713232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51959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50" b="0" i="0">
                <a:solidFill>
                  <a:srgbClr val="A8E63C"/>
                </a:solidFill>
                <a:latin typeface="Calibri"/>
              </a:rPr>
              <a:t>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096511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7F8FB"/>
                </a:solidFill>
                <a:latin typeface="Cambria"/>
              </a:rPr>
              <a:t>Hybrid Shape Generator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6B1C7"/>
                </a:solidFill>
                <a:latin typeface="Calibri"/>
              </a:rPr>
              <a:t>Part-bank retrieval first (5,363 real parts), conditional voxel VAE fallback — produces an actual placeable mesh, not just a text label.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79"/>
            <a:ext cx="5285232" cy="2103120"/>
          </a:xfrm>
          <a:prstGeom prst="roundRect">
            <a:avLst>
              <a:gd name="adj" fmla="val 5217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4142231"/>
            <a:ext cx="713232" cy="713232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251959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50" b="0" i="0">
                <a:solidFill>
                  <a:srgbClr val="A8E63C"/>
                </a:solidFill>
                <a:latin typeface="Calibri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096511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7F8FB"/>
                </a:solidFill>
                <a:latin typeface="Cambria"/>
              </a:rPr>
              <a:t>AIDA — Gemini Agent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6B1C7"/>
                </a:solidFill>
                <a:latin typeface="Calibri"/>
              </a:rPr>
              <a:t>A skills-based explanation agent that reads every GNN prediction and open joint, and explains it in plain engineering language, live.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Project Timeline &amp; Review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08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4491677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349240" cy="1234440"/>
          </a:xfrm>
          <a:prstGeom prst="roundRect">
            <a:avLst>
              <a:gd name="adj" fmla="val 8888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A8E63C"/>
                </a:solidFill>
                <a:latin typeface="Cambria"/>
              </a:rPr>
              <a:t>Phase 1 — Missing Component Prediction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6B1C7"/>
                </a:solidFill>
                <a:latin typeface="Calibri"/>
              </a:rPr>
              <a:t>May 10 – Jul 10, 2026 · Baseline GAT replication</a:t>
            </a:r>
          </a:p>
          <a:p>
            <a:pPr algn="l"/>
            <a:r>
              <a:rPr sz="1250" b="1" i="0">
                <a:solidFill>
                  <a:srgbClr val="A8E63C"/>
                </a:solidFill>
                <a:latin typeface="Calibri"/>
              </a:rPr>
              <a:t>Status: Complete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463040"/>
            <a:ext cx="5349240" cy="1234440"/>
          </a:xfrm>
          <a:prstGeom prst="roundRect">
            <a:avLst>
              <a:gd name="adj" fmla="val 8888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A8E63C"/>
                </a:solidFill>
                <a:latin typeface="Cambria"/>
              </a:rPr>
              <a:t>Phase 2 — Novelty &amp; Improvement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6B1C7"/>
                </a:solidFill>
                <a:latin typeface="Calibri"/>
              </a:rPr>
              <a:t>Jul 10 – Sep 10, 2026 · Ranking, generation, hardening</a:t>
            </a:r>
          </a:p>
          <a:p>
            <a:pPr algn="l"/>
            <a:r>
              <a:rPr sz="1250" b="1" i="0">
                <a:solidFill>
                  <a:srgbClr val="F0B94E"/>
                </a:solidFill>
                <a:latin typeface="Calibri"/>
              </a:rPr>
              <a:t>Status: Full pipeline delivered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3977639"/>
            <a:ext cx="10268712" cy="0"/>
          </a:xfrm>
          <a:prstGeom prst="line">
            <a:avLst/>
          </a:prstGeom>
          <a:ln w="19050">
            <a:solidFill>
              <a:srgbClr val="293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490472" y="3913631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0399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400" b="1" i="0">
                <a:solidFill>
                  <a:srgbClr val="EEF2F9"/>
                </a:solidFill>
                <a:latin typeface="Courier New"/>
              </a:rPr>
              <a:t>10 May</a:t>
            </a:r>
          </a:p>
          <a:p>
            <a:pPr algn="ctr"/>
            <a:r>
              <a:rPr sz="1100" b="0" i="0">
                <a:solidFill>
                  <a:srgbClr val="A6B1C7"/>
                </a:solidFill>
                <a:latin typeface="Calibri"/>
              </a:rPr>
              <a:t>Zeroth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2999232" y="3913631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5999" y="416052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EEF2F9"/>
                </a:solidFill>
                <a:latin typeface="Courier New"/>
              </a:rPr>
              <a:t>24 May</a:t>
            </a:r>
          </a:p>
          <a:p>
            <a:pPr algn="ctr"/>
            <a:r>
              <a:rPr sz="1100" b="0" i="0">
                <a:solidFill>
                  <a:srgbClr val="A6B1C7"/>
                </a:solidFill>
                <a:latin typeface="Calibri"/>
              </a:rPr>
              <a:t>First Review</a:t>
            </a:r>
          </a:p>
        </p:txBody>
      </p:sp>
      <p:sp>
        <p:nvSpPr>
          <p:cNvPr id="15" name="Oval 14"/>
          <p:cNvSpPr/>
          <p:nvPr/>
        </p:nvSpPr>
        <p:spPr>
          <a:xfrm>
            <a:off x="4507992" y="3913631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200399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400" b="1" i="0">
                <a:solidFill>
                  <a:srgbClr val="EEF2F9"/>
                </a:solidFill>
                <a:latin typeface="Courier New"/>
              </a:rPr>
              <a:t>10 Jul</a:t>
            </a:r>
          </a:p>
          <a:p>
            <a:pPr algn="ctr"/>
            <a:r>
              <a:rPr sz="1100" b="0" i="0">
                <a:solidFill>
                  <a:srgbClr val="A6B1C7"/>
                </a:solidFill>
                <a:latin typeface="Calibri"/>
              </a:rPr>
              <a:t>Phase 1 ESA</a:t>
            </a:r>
          </a:p>
        </p:txBody>
      </p:sp>
      <p:sp>
        <p:nvSpPr>
          <p:cNvPr id="17" name="Oval 16"/>
          <p:cNvSpPr/>
          <p:nvPr/>
        </p:nvSpPr>
        <p:spPr>
          <a:xfrm>
            <a:off x="6016751" y="3913631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416052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EEF2F9"/>
                </a:solidFill>
                <a:latin typeface="Courier New"/>
              </a:rPr>
              <a:t>18 Jul</a:t>
            </a:r>
          </a:p>
          <a:p>
            <a:pPr algn="ctr"/>
            <a:r>
              <a:rPr sz="1100" b="0" i="0">
                <a:solidFill>
                  <a:srgbClr val="A6B1C7"/>
                </a:solidFill>
                <a:latin typeface="Calibri"/>
              </a:rPr>
              <a:t>Guidance Call 1</a:t>
            </a:r>
          </a:p>
        </p:txBody>
      </p:sp>
      <p:sp>
        <p:nvSpPr>
          <p:cNvPr id="19" name="Oval 18"/>
          <p:cNvSpPr/>
          <p:nvPr/>
        </p:nvSpPr>
        <p:spPr>
          <a:xfrm>
            <a:off x="7525511" y="3913631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79" y="3200399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400" b="1" i="0">
                <a:solidFill>
                  <a:srgbClr val="EEF2F9"/>
                </a:solidFill>
                <a:latin typeface="Courier New"/>
              </a:rPr>
              <a:t>25 Jul</a:t>
            </a:r>
          </a:p>
          <a:p>
            <a:pPr algn="ctr"/>
            <a:r>
              <a:rPr sz="1100" b="0" i="0">
                <a:solidFill>
                  <a:srgbClr val="A6B1C7"/>
                </a:solidFill>
                <a:latin typeface="Calibri"/>
              </a:rPr>
              <a:t>Phase 2 First Review</a:t>
            </a:r>
          </a:p>
        </p:txBody>
      </p:sp>
      <p:sp>
        <p:nvSpPr>
          <p:cNvPr id="21" name="Oval 20"/>
          <p:cNvSpPr/>
          <p:nvPr/>
        </p:nvSpPr>
        <p:spPr>
          <a:xfrm>
            <a:off x="9034272" y="3913631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16052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EEF2F9"/>
                </a:solidFill>
                <a:latin typeface="Courier New"/>
              </a:rPr>
              <a:t>Aug</a:t>
            </a:r>
          </a:p>
          <a:p>
            <a:pPr algn="ctr"/>
            <a:r>
              <a:rPr sz="1100" b="0" i="0">
                <a:solidFill>
                  <a:srgbClr val="A6B1C7"/>
                </a:solidFill>
                <a:latin typeface="Calibri"/>
              </a:rPr>
              <a:t>Guidance Calls 2 &amp; 3</a:t>
            </a:r>
          </a:p>
        </p:txBody>
      </p:sp>
      <p:sp>
        <p:nvSpPr>
          <p:cNvPr id="23" name="Oval 22"/>
          <p:cNvSpPr/>
          <p:nvPr/>
        </p:nvSpPr>
        <p:spPr>
          <a:xfrm>
            <a:off x="10543031" y="3913631"/>
            <a:ext cx="128016" cy="128016"/>
          </a:xfrm>
          <a:prstGeom prst="ellipse">
            <a:avLst/>
          </a:prstGeom>
          <a:solidFill>
            <a:srgbClr val="A8E63C"/>
          </a:solidFill>
          <a:ln w="1905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799" y="3200399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400" b="1" i="0">
                <a:solidFill>
                  <a:srgbClr val="A8E63C"/>
                </a:solidFill>
                <a:latin typeface="Courier New"/>
              </a:rPr>
              <a:t>21 Aug</a:t>
            </a:r>
          </a:p>
          <a:p>
            <a:pPr algn="ctr"/>
            <a:r>
              <a:rPr sz="1100" b="0" i="0">
                <a:solidFill>
                  <a:srgbClr val="A8E63C"/>
                </a:solidFill>
                <a:latin typeface="Calibri"/>
              </a:rPr>
              <a:t>★ Phase 2 Third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74920"/>
            <a:ext cx="10817352" cy="868680"/>
          </a:xfrm>
          <a:prstGeom prst="roundRect">
            <a:avLst>
              <a:gd name="adj" fmla="val 12631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54864" rIns="201168" bIns="54864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A6B1C7"/>
                </a:solidFill>
                <a:latin typeface="Calibri"/>
              </a:rPr>
              <a:t>Presentation history: Zeroth Review → First Review → Phase 1 ESA (14 slides) → Phase 2 First Review (20 slides, R29–R31) → Phase 2 Second Review → three Phase-2 guidance calls — full record in </a:t>
            </a:r>
            <a:r>
              <a:rPr sz="1200" b="0" i="1">
                <a:solidFill>
                  <a:srgbClr val="6C7691"/>
                </a:solidFill>
                <a:latin typeface="Courier New"/>
              </a:rPr>
              <a:t>Review_files/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TRAINING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R1 </a:t>
            </a:r>
            <a:r>
              <a:rPr sz="3000" b="1" i="0">
                <a:solidFill>
                  <a:srgbClr val="F7F8FB"/>
                </a:solidFill>
                <a:latin typeface="Arial"/>
              </a:rPr>
              <a:t>→</a:t>
            </a:r>
            <a:r>
              <a:rPr sz="3000" b="1" i="0">
                <a:solidFill>
                  <a:srgbClr val="F7F8FB"/>
                </a:solidFill>
                <a:latin typeface="Cambria"/>
              </a:rPr>
              <a:t> R39 — A Complete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TRAINING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09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5133345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624328" cy="1188720"/>
          </a:xfrm>
          <a:prstGeom prst="roundRect">
            <a:avLst>
              <a:gd name="adj" fmla="val 923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 bIns="91440">
            <a:noAutofit/>
          </a:bodyPr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A8E63C"/>
                </a:solidFill>
                <a:latin typeface="Courier New"/>
              </a:rPr>
              <a:t>185</a:t>
            </a:r>
          </a:p>
          <a:p>
            <a:pPr algn="ctr"/>
            <a:r>
              <a:rPr sz="1150" b="0" i="0">
                <a:solidFill>
                  <a:srgbClr val="A6B1C7"/>
                </a:solidFill>
                <a:latin typeface="Calibri"/>
              </a:rPr>
              <a:t>commits tracked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463040"/>
            <a:ext cx="2624328" cy="1188720"/>
          </a:xfrm>
          <a:prstGeom prst="roundRect">
            <a:avLst>
              <a:gd name="adj" fmla="val 923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 bIns="91440">
            <a:noAutofit/>
          </a:bodyPr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A8E63C"/>
                </a:solidFill>
                <a:latin typeface="Courier New"/>
              </a:rPr>
              <a:t>39</a:t>
            </a:r>
          </a:p>
          <a:p>
            <a:pPr algn="ctr"/>
            <a:r>
              <a:rPr sz="1150" b="0" i="0">
                <a:solidFill>
                  <a:srgbClr val="A6B1C7"/>
                </a:solidFill>
                <a:latin typeface="Calibri"/>
              </a:rPr>
              <a:t>numbered training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1463040"/>
            <a:ext cx="2624328" cy="1188720"/>
          </a:xfrm>
          <a:prstGeom prst="roundRect">
            <a:avLst>
              <a:gd name="adj" fmla="val 923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 bIns="91440">
            <a:noAutofit/>
          </a:bodyPr>
          <a:lstStyle/>
          <a:p>
            <a:pPr algn="ctr">
              <a:spcAft>
                <a:spcPts val="300"/>
              </a:spcAft>
            </a:pPr>
            <a:r>
              <a:rPr sz="2050" b="1" i="0">
                <a:solidFill>
                  <a:srgbClr val="A8E63C"/>
                </a:solidFill>
                <a:latin typeface="Courier New"/>
              </a:rPr>
              <a:t>23 May → 2 Sep</a:t>
            </a:r>
          </a:p>
          <a:p>
            <a:pPr algn="ctr"/>
            <a:r>
              <a:rPr sz="1150" b="0" i="0">
                <a:solidFill>
                  <a:srgbClr val="A6B1C7"/>
                </a:solidFill>
                <a:latin typeface="Calibri"/>
              </a:rPr>
              <a:t>2026 date range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0536" y="1463040"/>
            <a:ext cx="2624328" cy="1188720"/>
          </a:xfrm>
          <a:prstGeom prst="roundRect">
            <a:avLst>
              <a:gd name="adj" fmla="val 923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 bIns="91440">
            <a:noAutofit/>
          </a:bodyPr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A8E63C"/>
                </a:solidFill>
                <a:latin typeface="Courier New"/>
              </a:rPr>
              <a:t>13 → 34+6</a:t>
            </a:r>
          </a:p>
          <a:p>
            <a:pPr algn="ctr"/>
            <a:r>
              <a:rPr sz="1150" b="0" i="0">
                <a:solidFill>
                  <a:srgbClr val="A6B1C7"/>
                </a:solidFill>
                <a:latin typeface="Calibri"/>
              </a:rPr>
              <a:t>feature dims (node/edge)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108173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F7F8FB"/>
                </a:solidFill>
                <a:latin typeface="Cambria"/>
              </a:rPr>
              <a:t>Four eras of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2624328" cy="2377440"/>
          </a:xfrm>
          <a:prstGeom prst="roundRect">
            <a:avLst>
              <a:gd name="adj" fmla="val 4615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A8E63C"/>
                </a:solidFill>
                <a:latin typeface="Courier New"/>
              </a:rPr>
              <a:t>R1–R14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00" b="1" i="0">
                <a:solidFill>
                  <a:srgbClr val="F7F8FB"/>
                </a:solidFill>
                <a:latin typeface="Calibri"/>
              </a:rPr>
              <a:t>Foundation &amp; Data Pipeline</a:t>
            </a:r>
          </a:p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C7691"/>
                </a:solidFill>
                <a:latin typeface="Calibri"/>
              </a:rPr>
              <a:t>23 May – 14 Jun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From an inflated synthetic illusion to an honest, cross-validated real-geometry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3383280"/>
            <a:ext cx="2624328" cy="2377440"/>
          </a:xfrm>
          <a:prstGeom prst="roundRect">
            <a:avLst>
              <a:gd name="adj" fmla="val 4615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A8E63C"/>
                </a:solidFill>
                <a:latin typeface="Courier New"/>
              </a:rPr>
              <a:t>R15–R28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00" b="1" i="0">
                <a:solidFill>
                  <a:srgbClr val="F7F8FB"/>
                </a:solidFill>
                <a:latin typeface="Calibri"/>
              </a:rPr>
              <a:t>Feature Engineering &amp; Category Sweeps</a:t>
            </a:r>
          </a:p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C7691"/>
                </a:solidFill>
                <a:latin typeface="Calibri"/>
              </a:rPr>
              <a:t>20 Jun – 2 Jul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22+6-dim schema locked in; a promotion gate protects the serving model from regressions.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3383280"/>
            <a:ext cx="2624328" cy="2377440"/>
          </a:xfrm>
          <a:prstGeom prst="roundRect">
            <a:avLst>
              <a:gd name="adj" fmla="val 4615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A8E63C"/>
                </a:solidFill>
                <a:latin typeface="Courier New"/>
              </a:rPr>
              <a:t>R29–R34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00" b="1" i="0">
                <a:solidFill>
                  <a:srgbClr val="F7F8FB"/>
                </a:solidFill>
                <a:latin typeface="Calibri"/>
              </a:rPr>
              <a:t>Heterogeneous Architecture</a:t>
            </a:r>
          </a:p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C7691"/>
                </a:solidFill>
                <a:latin typeface="Calibri"/>
              </a:rPr>
              <a:t>19 Jul – 9 Aug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RGATConv + TypedLinear beats scale alone; 8-class taxonomy migration surfaces real bugs.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0536" y="3383280"/>
            <a:ext cx="2624328" cy="2377440"/>
          </a:xfrm>
          <a:prstGeom prst="roundRect">
            <a:avLst>
              <a:gd name="adj" fmla="val 4615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A8E63C"/>
                </a:solidFill>
                <a:latin typeface="Courier New"/>
              </a:rPr>
              <a:t>R35–R38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00" b="1" i="0">
                <a:solidFill>
                  <a:srgbClr val="F7F8FB"/>
                </a:solidFill>
                <a:latin typeface="Calibri"/>
              </a:rPr>
              <a:t>Precision Engineering Sprint</a:t>
            </a:r>
          </a:p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C7691"/>
                </a:solidFill>
                <a:latin typeface="Calibri"/>
              </a:rPr>
              <a:t>10 – 12 Aug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Fixing genuinely dead features drives bigger gains than any hyperparameter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TRAINING HISTORY — FOUR 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39 Runs, Four 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TRAINING HISTORY — FOUR 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10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5775013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ep chart of Mean AUC-ROC per logged run across four development eras, rising from 0.697 at R12 to 0.9206 at R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35" y="1280160"/>
            <a:ext cx="10675880" cy="2377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tIns="91440" rIns="118872" bIns="365760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 spc="50">
                <a:solidFill>
                  <a:srgbClr val="6C7691"/>
                </a:solidFill>
                <a:latin typeface="Courier New"/>
              </a:rPr>
              <a:t>ERA 1 · 23 MAY → 14 JUN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A8E63C"/>
                </a:solidFill>
                <a:latin typeface="Cambria"/>
              </a:rPr>
              <a:t>Foundation &amp; Data Pipeline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00" b="0" i="0">
                <a:solidFill>
                  <a:srgbClr val="EEF2F9"/>
                </a:solidFill>
                <a:latin typeface="Calibri"/>
              </a:rPr>
              <a:t>13-dim synthetic mix → real geometry only (R6) → 16-dim SDF features → 5-fold CV (R12).</a:t>
            </a:r>
          </a:p>
          <a:p>
            <a:pPr algn="l">
              <a:lnSpc>
                <a:spcPct val="103000"/>
              </a:lnSpc>
            </a:pPr>
            <a:r>
              <a:rPr sz="1000" b="0" i="1">
                <a:solidFill>
                  <a:srgbClr val="A6B1C7"/>
                </a:solidFill>
                <a:latin typeface="Calibri"/>
              </a:rPr>
              <a:t>300 synthetic graphs had inflated R3; removing them gave the first honest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522976"/>
            <a:ext cx="2386584" cy="237744"/>
          </a:xfrm>
          <a:prstGeom prst="roundRect">
            <a:avLst>
              <a:gd name="adj" fmla="val 50000"/>
            </a:avLst>
          </a:prstGeom>
          <a:solidFill>
            <a:srgbClr val="2E3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522976"/>
            <a:ext cx="238658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A8E63C"/>
                </a:solidFill>
                <a:latin typeface="Courier New"/>
              </a:rPr>
              <a:t>R12 · first CV 0.697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7112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tIns="91440" rIns="118872" bIns="365760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 spc="50">
                <a:solidFill>
                  <a:srgbClr val="6C7691"/>
                </a:solidFill>
                <a:latin typeface="Courier New"/>
              </a:rPr>
              <a:t>ERA 2 · 20 JUN → 2 JUL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A8E63C"/>
                </a:solidFill>
                <a:latin typeface="Cambria"/>
              </a:rPr>
              <a:t>Feature Engineering &amp; Category Sweeps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00" b="0" i="0">
                <a:solidFill>
                  <a:srgbClr val="EEF2F9"/>
                </a:solidFill>
                <a:latin typeface="Calibri"/>
              </a:rPr>
              <a:t>22+6-dim schema (R18), promotion gate (R19), category ablations to R28.</a:t>
            </a:r>
          </a:p>
          <a:p>
            <a:pPr algn="l">
              <a:lnSpc>
                <a:spcPct val="103000"/>
              </a:lnSpc>
            </a:pPr>
            <a:r>
              <a:rPr sz="1000" b="0" i="1">
                <a:solidFill>
                  <a:srgbClr val="A6B1C7"/>
                </a:solidFill>
                <a:latin typeface="Calibri"/>
              </a:rPr>
              <a:t>AUC swung 0.43–0.73 across category mixes, so only better models may reach serving.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5984" y="5522976"/>
            <a:ext cx="2386584" cy="237744"/>
          </a:xfrm>
          <a:prstGeom prst="roundRect">
            <a:avLst>
              <a:gd name="adj" fmla="val 50000"/>
            </a:avLst>
          </a:prstGeom>
          <a:solidFill>
            <a:srgbClr val="2E3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5984" y="5522976"/>
            <a:ext cx="238658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A8E63C"/>
                </a:solidFill>
                <a:latin typeface="Courier New"/>
              </a:rPr>
              <a:t>R19 · promotion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8425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tIns="91440" rIns="118872" bIns="365760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 spc="50">
                <a:solidFill>
                  <a:srgbClr val="6C7691"/>
                </a:solidFill>
                <a:latin typeface="Courier New"/>
              </a:rPr>
              <a:t>ERA 3 · 19 JUL → 9 AUG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A8E63C"/>
                </a:solidFill>
                <a:latin typeface="Cambria"/>
              </a:rPr>
              <a:t>Heterogeneous Architecture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00" b="0" i="0">
                <a:solidFill>
                  <a:srgbClr val="EEF2F9"/>
                </a:solidFill>
                <a:latin typeface="Calibri"/>
              </a:rPr>
              <a:t>RGATConv + TypedLinear (R30, 602K → 2.44M params); 8-class taxonomy (R33); classifier fix (R34).</a:t>
            </a:r>
          </a:p>
          <a:p>
            <a:pPr algn="l">
              <a:lnSpc>
                <a:spcPct val="103000"/>
              </a:lnSpc>
            </a:pPr>
            <a:r>
              <a:rPr sz="1000" b="0" i="1">
                <a:solidFill>
                  <a:srgbClr val="A6B1C7"/>
                </a:solidFill>
                <a:latin typeface="Calibri"/>
              </a:rPr>
              <a:t>R31 (+236 graphs) and R32 (+73) underperformed R30 — the encoder, not corpus size, was the lever.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7297" y="5522976"/>
            <a:ext cx="2386584" cy="237744"/>
          </a:xfrm>
          <a:prstGeom prst="roundRect">
            <a:avLst>
              <a:gd name="adj" fmla="val 50000"/>
            </a:avLst>
          </a:prstGeom>
          <a:solidFill>
            <a:srgbClr val="2E3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297" y="5522976"/>
            <a:ext cx="238658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A8E63C"/>
                </a:solidFill>
                <a:latin typeface="Courier New"/>
              </a:rPr>
              <a:t>R30 ★ · AUC 0.599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9738" y="37033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222F32"/>
          </a:solidFill>
          <a:ln w="9525">
            <a:solidFill>
              <a:srgbClr val="4F6C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tIns="91440" rIns="118872" bIns="365760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 spc="50">
                <a:solidFill>
                  <a:srgbClr val="6C7691"/>
                </a:solidFill>
                <a:latin typeface="Courier New"/>
              </a:rPr>
              <a:t>ERA 4 · 10 AUG → 2 SEP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A8E63C"/>
                </a:solidFill>
                <a:latin typeface="Cambria"/>
              </a:rPr>
              <a:t>Precision Engineering Sprint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00" b="0" i="0">
                <a:solidFill>
                  <a:srgbClr val="EEF2F9"/>
                </a:solidFill>
                <a:latin typeface="Calibri"/>
              </a:rPr>
              <a:t>R35 finds hole-count and joint-type were always 0.0; R36 adds spatial signal; R37 fixes sampling and the gate; R39 retrains on 749 models.</a:t>
            </a:r>
          </a:p>
          <a:p>
            <a:pPr algn="l">
              <a:lnSpc>
                <a:spcPct val="103000"/>
              </a:lnSpc>
            </a:pPr>
            <a:r>
              <a:rPr sz="1000" b="0" i="1">
                <a:solidFill>
                  <a:srgbClr val="A6B1C7"/>
                </a:solidFill>
                <a:latin typeface="Calibri"/>
              </a:rPr>
              <a:t>Repairing broken inputs beat tuning: R36 alone added +0.072 AUC.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8610" y="5522976"/>
            <a:ext cx="2386584" cy="237744"/>
          </a:xfrm>
          <a:prstGeom prst="roundRect">
            <a:avLst>
              <a:gd name="adj" fmla="val 50000"/>
            </a:avLst>
          </a:prstGeom>
          <a:solidFill>
            <a:srgbClr val="2E3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8610" y="5522976"/>
            <a:ext cx="238658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A8E63C"/>
                </a:solidFill>
                <a:latin typeface="Courier New"/>
              </a:rPr>
              <a:t>0.539 → 0.9206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943600"/>
            <a:ext cx="10817352" cy="475488"/>
          </a:xfrm>
          <a:prstGeom prst="roundRect">
            <a:avLst>
              <a:gd name="adj" fmla="val 19230"/>
            </a:avLst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" rIns="182880" bIns="27432">
            <a:noAutofit/>
          </a:bodyPr>
          <a:lstStyle/>
          <a:p>
            <a:pPr algn="l"/>
            <a:r>
              <a:rPr sz="1150" b="1" i="0">
                <a:solidFill>
                  <a:srgbClr val="A8E63C"/>
                </a:solidFill>
                <a:latin typeface="Calibri"/>
              </a:rPr>
              <a:t>The pattern: </a:t>
            </a:r>
            <a:r>
              <a:rPr sz="1150" b="0" i="0">
                <a:solidFill>
                  <a:srgbClr val="EEF2F9"/>
                </a:solidFill>
                <a:latin typeface="Calibri"/>
              </a:rPr>
              <a:t>fixing genuinely dead features drives bigger gains than any hyperparameter search — the largest jumps came from repairing what the model could see, not from how it was tuned.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TRAINING HISTORY — FULL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F7F8FB"/>
                </a:solidFill>
                <a:latin typeface="Cambria"/>
              </a:rPr>
              <a:t>R1 </a:t>
            </a:r>
            <a:r>
              <a:rPr sz="2600" b="1" i="0">
                <a:solidFill>
                  <a:srgbClr val="F7F8FB"/>
                </a:solidFill>
                <a:latin typeface="Arial"/>
              </a:rPr>
              <a:t>→</a:t>
            </a:r>
            <a:r>
              <a:rPr sz="2600" b="1" i="0">
                <a:solidFill>
                  <a:srgbClr val="F7F8FB"/>
                </a:solidFill>
                <a:latin typeface="Cambria"/>
              </a:rPr>
              <a:t> R38 </a:t>
            </a:r>
            <a:r>
              <a:rPr sz="2600" b="1" i="0">
                <a:solidFill>
                  <a:srgbClr val="F7F8FB"/>
                </a:solidFill>
                <a:latin typeface="Arial"/>
              </a:rPr>
              <a:t>→</a:t>
            </a:r>
            <a:r>
              <a:rPr sz="2600" b="1" i="0">
                <a:solidFill>
                  <a:srgbClr val="F7F8FB"/>
                </a:solidFill>
                <a:latin typeface="Cambria"/>
              </a:rPr>
              <a:t> R39 (Latest)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TRAINING HISTORY — FULL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11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6416681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1081735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A6B1C7"/>
                </a:solidFill>
                <a:latin typeface="Calibri"/>
              </a:rPr>
              <a:t>Every logged run across three phases, plus R39 — the true 5-fold retrain on the corrected 749-model corpus that supersedes the Aug 16–17 Final run (top) · R39’s epoch-by-epoch convergence, all 5 folds (bottom)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817352" cy="2240280"/>
          </a:xfrm>
          <a:prstGeom prst="roundRect">
            <a:avLst>
              <a:gd name="adj" fmla="val 4897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r chart of AUC by run, R1 through R39, plus the 238-model final retrain and the latest 749-model ret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049" y="1856231"/>
            <a:ext cx="6120852" cy="20939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4114800"/>
            <a:ext cx="10817352" cy="2240280"/>
          </a:xfrm>
          <a:prstGeom prst="roundRect">
            <a:avLst>
              <a:gd name="adj" fmla="val 4897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ine chart of the latest retrain's epoch-wise smoothed validation AUC for 5 fol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049" y="4187952"/>
            <a:ext cx="6120852" cy="20939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THE LATEST RUN — SEP 1–2,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True 5-Fold Retrain on the Corrected 749-Model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FINAL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12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7058349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817352" cy="868680"/>
          </a:xfrm>
          <a:prstGeom prst="roundRect">
            <a:avLst>
              <a:gd name="adj" fmla="val 12631"/>
            </a:avLst>
          </a:prstGeom>
          <a:solidFill>
            <a:srgbClr val="19231D"/>
          </a:solidFill>
          <a:ln w="9525">
            <a:solidFill>
              <a:srgbClr val="4C6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" rIns="228600" bIns="54864">
            <a:noAutofit/>
          </a:bodyPr>
          <a:lstStyle/>
          <a:p>
            <a:pPr algn="l">
              <a:lnSpc>
                <a:spcPct val="108000"/>
              </a:lnSpc>
            </a:pPr>
            <a:r>
              <a:rPr sz="1450" b="1" i="1">
                <a:solidFill>
                  <a:srgbClr val="A8E63C"/>
                </a:solidFill>
                <a:latin typeface="Cambria"/>
              </a:rPr>
              <a:t>“True 5-fold cross-validation, 749-model corpus”</a:t>
            </a:r>
            <a:r>
              <a:rPr sz="1300" b="0" i="0">
                <a:solidFill>
                  <a:srgbClr val="EEF2F9"/>
                </a:solidFill>
                <a:latin typeface="Calibri"/>
              </a:rPr>
              <a:t> — new 34-dim node features (through/blind holes, counterbore, indentation, curved-surface) and a corpus fully rebuilt on the 7-category taxonomy; supersedes the Aug 16–17 result below.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68880"/>
            <a:ext cx="3493008" cy="3063240"/>
          </a:xfrm>
          <a:prstGeom prst="roundRect">
            <a:avLst>
              <a:gd name="adj" fmla="val 3582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7972" y="2468880"/>
            <a:ext cx="3493008" cy="3063240"/>
          </a:xfrm>
          <a:prstGeom prst="roundRect">
            <a:avLst>
              <a:gd name="adj" fmla="val 3582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0144" y="2468880"/>
            <a:ext cx="3493008" cy="3063240"/>
          </a:xfrm>
          <a:prstGeom prst="roundRect">
            <a:avLst>
              <a:gd name="adj" fmla="val 3582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96896"/>
            <a:ext cx="31272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i="0" spc="80">
                <a:solidFill>
                  <a:srgbClr val="6C7691"/>
                </a:solidFill>
                <a:latin typeface="Courier New"/>
              </a:rPr>
              <a:t>PHASE 1 — ENCODER / LINKPREDICTOR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A6B1C7"/>
                </a:solidFill>
                <a:latin typeface="Calibri"/>
              </a:rPr>
              <a:t>Mean 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18688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50" b="1" i="0">
                <a:solidFill>
                  <a:srgbClr val="A8E63C"/>
                </a:solidFill>
                <a:latin typeface="Courier New"/>
              </a:rPr>
              <a:t>0.9206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A6B1C7"/>
                </a:solidFill>
                <a:latin typeface="Calibri"/>
              </a:rPr>
              <a:t>±0.0121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77639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C7691"/>
                </a:solidFill>
                <a:latin typeface="Calibri"/>
              </a:rPr>
              <a:t>was 0.8235±0.0219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A8E63C"/>
                </a:solidFill>
                <a:latin typeface="Calibri"/>
              </a:rPr>
              <a:t>+0.097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971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A6B1C7"/>
                </a:solidFill>
                <a:latin typeface="Calibri"/>
              </a:rPr>
              <a:t>Mean 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218688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50" b="1" i="0">
                <a:solidFill>
                  <a:srgbClr val="A8E63C"/>
                </a:solidFill>
                <a:latin typeface="Courier New"/>
              </a:rPr>
              <a:t>0.9020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749039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A6B1C7"/>
                </a:solidFill>
                <a:latin typeface="Calibri"/>
              </a:rPr>
              <a:t>±0.0120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977639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C7691"/>
                </a:solidFill>
                <a:latin typeface="Calibri"/>
              </a:rPr>
              <a:t>was 0.8114±0.0279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206240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A8E63C"/>
                </a:solidFill>
                <a:latin typeface="Calibri"/>
              </a:rPr>
              <a:t>+0.091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1">
                <a:solidFill>
                  <a:srgbClr val="6C7691"/>
                </a:solidFill>
                <a:latin typeface="Calibri"/>
              </a:rPr>
              <a:t>target AUC 0.85 / AP 0.82 · promoted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0852" y="2596896"/>
            <a:ext cx="31272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i="0" spc="80">
                <a:solidFill>
                  <a:srgbClr val="6C7691"/>
                </a:solidFill>
                <a:latin typeface="Courier New"/>
              </a:rPr>
              <a:t>PHASE 2 — NODERANKER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0852" y="2971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A6B1C7"/>
                </a:solidFill>
                <a:latin typeface="Calibri"/>
              </a:rPr>
              <a:t>Hit@1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0852" y="3218688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50" b="1" i="0">
                <a:solidFill>
                  <a:srgbClr val="A8E63C"/>
                </a:solidFill>
                <a:latin typeface="Courier New"/>
              </a:rPr>
              <a:t>0.4093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0852" y="3977639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C7691"/>
                </a:solidFill>
                <a:latin typeface="Calibri"/>
              </a:rPr>
              <a:t>baseline 0.3442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0852" y="4251960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A8E63C"/>
                </a:solidFill>
                <a:latin typeface="Courier New"/>
              </a:rPr>
              <a:t>MRR 0.6102 · Hit@5 0.9101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0852" y="4846320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6C7691"/>
                </a:solidFill>
                <a:latin typeface="Calibri"/>
              </a:rPr>
              <a:t>749-model corpus, true 5-fold CV · genuine beat, not a tie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596896"/>
            <a:ext cx="31272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 i="0" spc="80">
                <a:solidFill>
                  <a:srgbClr val="6C7691"/>
                </a:solidFill>
                <a:latin typeface="Courier New"/>
              </a:rPr>
              <a:t>PHASE 3 — SHAPE-GEN VAE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3" y="2971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A6B1C7"/>
                </a:solidFill>
                <a:latin typeface="Calibri"/>
              </a:rPr>
              <a:t>Test IoU / Chamfer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3218688"/>
            <a:ext cx="312724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A8E63C"/>
                </a:solidFill>
                <a:latin typeface="Courier New"/>
              </a:rPr>
              <a:t>0.6459 / 0.0377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3" y="3977639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C7691"/>
                </a:solidFill>
                <a:latin typeface="Calibri"/>
              </a:rPr>
              <a:t>was 0.6277 / 0.0356 (238-model)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3" y="4206240"/>
            <a:ext cx="3218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A8E63C"/>
                </a:solidFill>
                <a:latin typeface="Calibri"/>
              </a:rPr>
              <a:t>+0.018 IoU · +0.002 chamfer (holds level)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4846320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6C7691"/>
                </a:solidFill>
                <a:latin typeface="Calibri"/>
              </a:rPr>
              <a:t>749-model corpus · both axes still clear their targets by a wide margin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669280"/>
            <a:ext cx="10817352" cy="658368"/>
          </a:xfrm>
          <a:prstGeom prst="roundRect">
            <a:avLst>
              <a:gd name="adj" fmla="val 16666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Corpus expanded 238 → 749 models · Part bank rebuilt: 11,954 parts · NodeRanker retrained 30 epochs, Shape-Gen VAE retrained 60 epochs, both from the frozen Phase 1 encoder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Deliverables vs.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13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7700018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63040"/>
          <a:ext cx="10817352" cy="4434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2697480"/>
                <a:gridCol w="2651760"/>
                <a:gridCol w="3429000"/>
                <a:gridCol w="112471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A8E63C"/>
                          </a:solidFill>
                          <a:latin typeface="Courier New"/>
                        </a:rPr>
                        <a:t>PHASE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93356"/>
                      </a:solidFill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A8E63C"/>
                          </a:solidFill>
                          <a:latin typeface="Courier New"/>
                        </a:rPr>
                        <a:t>DELIVERABLE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93356"/>
                      </a:solidFill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A8E63C"/>
                          </a:solidFill>
                          <a:latin typeface="Courier New"/>
                        </a:rPr>
                        <a:t>TARGET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93356"/>
                      </a:solidFill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A8E63C"/>
                          </a:solidFill>
                          <a:latin typeface="Courier New"/>
                        </a:rPr>
                        <a:t>ACHIEVED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93356"/>
                      </a:solidFill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A8E63C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93356"/>
                      </a:solidFill>
                    </a:lnB>
                    <a:solidFill>
                      <a:srgbClr val="1B2440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EEF2F9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A6B1C7"/>
                          </a:solidFill>
                          <a:latin typeface="Calibri"/>
                        </a:rPr>
                        <a:t>Missing-component detection (link prediction)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A6B1C7"/>
                          </a:solidFill>
                          <a:latin typeface="Courier New"/>
                        </a:rPr>
                        <a:t>AUC ≥ 0.85 · AP ≥ 0.82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EEF2F9"/>
                          </a:solidFill>
                          <a:latin typeface="Calibri"/>
                        </a:rPr>
                        <a:t>Mean AUC 0.9206 · Mean AP 0.9020 (749-model corpus, true 5-fold CV)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A8E63C"/>
                          </a:solidFill>
                          <a:latin typeface="Calibri"/>
                        </a:rPr>
                        <a:t>Target cleared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EEF2F9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A6B1C7"/>
                          </a:solidFill>
                          <a:latin typeface="Calibri"/>
                        </a:rPr>
                        <a:t>Next-component ranking (NodeRanker)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A6B1C7"/>
                          </a:solidFill>
                          <a:latin typeface="Courier New"/>
                        </a:rPr>
                        <a:t>Hit@5 ≥ 0.70 · MRR ≥ 0.60 (revised down from 0.64)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EEF2F9"/>
                          </a:solidFill>
                          <a:latin typeface="Calibri"/>
                        </a:rPr>
                        <a:t>Hit@5 0.9101 · MRR 0.6102 · Hit@1 0.4093 &gt; baseline 0.3442 (749-model corpus, true 5-fold CV)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A8E63C"/>
                          </a:solidFill>
                          <a:latin typeface="Calibri"/>
                        </a:rPr>
                        <a:t>Target cleared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EEF2F9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A6B1C7"/>
                          </a:solidFill>
                          <a:latin typeface="Calibri"/>
                        </a:rPr>
                        <a:t>Missing-shape generation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A6B1C7"/>
                          </a:solidFill>
                          <a:latin typeface="Courier New"/>
                        </a:rPr>
                        <a:t>IoU ≥ 0.35 · Chamfer ≤ 0.08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EEF2F9"/>
                          </a:solidFill>
                          <a:latin typeface="Calibri"/>
                        </a:rPr>
                        <a:t>IoU 0.6459 · Chamfer 0.0377 (749-model corpus)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A8E63C"/>
                          </a:solidFill>
                          <a:latin typeface="Calibri"/>
                        </a:rPr>
                        <a:t>Target cleared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EEF2F9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A6B1C7"/>
                          </a:solidFill>
                          <a:latin typeface="Calibri"/>
                        </a:rPr>
                        <a:t>Live demo, thesis, open-source repo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A6B1C7"/>
                          </a:solidFill>
                          <a:latin typeface="Courier New"/>
                        </a:rPr>
                        <a:t>STEP upload → 3D view → prediction → explanation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EEF2F9"/>
                          </a:solidFill>
                          <a:latin typeface="Calibri"/>
                        </a:rPr>
                        <a:t>Demo live, MIT-licensed, run end-to-end today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A8E63C"/>
                          </a:solidFill>
                          <a:latin typeface="Calibri"/>
                        </a:rPr>
                        <a:t>Delivered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745"/>
                      </a:solidFill>
                    </a:lnB>
                    <a:solidFill>
                      <a:srgbClr val="141B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ENGINEERING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Challenges Overcome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ENGINEERING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14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8341686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285232" cy="1463040"/>
          </a:xfrm>
          <a:prstGeom prst="roundRect">
            <a:avLst>
              <a:gd name="adj" fmla="val 750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548640" cy="548640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50" b="0" i="0">
                <a:solidFill>
                  <a:srgbClr val="A8E63C"/>
                </a:solidFill>
                <a:latin typeface="Calibri"/>
              </a:rP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41605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7F8FB"/>
                </a:solidFill>
                <a:latin typeface="Calibri"/>
              </a:rPr>
              <a:t>MPS Memory Leaks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Apple-Silicon GPU cache grew unchecked, RSS ran to 19–51GB and thrashed swap. Fixed with periodic gc.collect() / torch.mps.empty_cache().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85232" cy="1463040"/>
          </a:xfrm>
          <a:prstGeom prst="roundRect">
            <a:avLst>
              <a:gd name="adj" fmla="val 750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91640"/>
            <a:ext cx="548640" cy="548640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50" b="0" i="0">
                <a:solidFill>
                  <a:srgbClr val="A8E63C"/>
                </a:solidFill>
                <a:latin typeface="Calibri"/>
              </a:rPr>
              <a:t>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600200"/>
            <a:ext cx="41605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7F8FB"/>
                </a:solidFill>
                <a:latin typeface="Calibri"/>
              </a:rPr>
              <a:t>Silent Swap-Pressure Kills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Training processes died silently mid-fold under memory pressure. Built auto-resume watchdog scripts that detect the crash and relaunch from the right fold.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90672"/>
            <a:ext cx="5285232" cy="1463040"/>
          </a:xfrm>
          <a:prstGeom prst="roundRect">
            <a:avLst>
              <a:gd name="adj" fmla="val 750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319272"/>
            <a:ext cx="548640" cy="548640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5276" y="3470148"/>
            <a:ext cx="246888" cy="246888"/>
          </a:xfrm>
          <a:prstGeom prst="ellipse">
            <a:avLst/>
          </a:prstGeom>
          <a:noFill/>
          <a:ln w="20320">
            <a:solidFill>
              <a:srgbClr val="A8E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1188720" y="3511296"/>
            <a:ext cx="0" cy="82295"/>
          </a:xfrm>
          <a:prstGeom prst="line">
            <a:avLst/>
          </a:prstGeom>
          <a:ln w="19050">
            <a:solidFill>
              <a:srgbClr val="A8E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88720" y="3593591"/>
            <a:ext cx="64008" cy="27432"/>
          </a:xfrm>
          <a:prstGeom prst="line">
            <a:avLst/>
          </a:prstGeom>
          <a:ln w="19050">
            <a:solidFill>
              <a:srgbClr val="A8E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" y="3438144"/>
            <a:ext cx="73152" cy="0"/>
          </a:xfrm>
          <a:prstGeom prst="line">
            <a:avLst/>
          </a:prstGeom>
          <a:ln w="19050">
            <a:solidFill>
              <a:srgbClr val="A8E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45920" y="3227832"/>
            <a:ext cx="41605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7F8FB"/>
                </a:solidFill>
                <a:latin typeface="Calibri"/>
              </a:rPr>
              <a:t>STEP Parse Timeouts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SIGKILL doesn’t guarantee instant death for a stuck OpenCASCADE call on macOS. Bounded polling loops + a single retry at 2× budget.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090672"/>
            <a:ext cx="5285232" cy="1463040"/>
          </a:xfrm>
          <a:prstGeom prst="roundRect">
            <a:avLst>
              <a:gd name="adj" fmla="val 750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3319272"/>
            <a:ext cx="548640" cy="548640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92424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50" b="0" i="0">
                <a:solidFill>
                  <a:srgbClr val="A8E63C"/>
                </a:solidFill>
                <a:latin typeface="Calibri"/>
              </a:rPr>
              <a:t>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227832"/>
            <a:ext cx="41605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7F8FB"/>
                </a:solidFill>
                <a:latin typeface="Calibri"/>
              </a:rPr>
              <a:t>Promotion-Gate Bug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A lexicographic tuple comparison silently ignored AP whenever AUC tied. Fixed to require both metrics improve before a model reaches production.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18304"/>
            <a:ext cx="5285232" cy="1463040"/>
          </a:xfrm>
          <a:prstGeom prst="roundRect">
            <a:avLst>
              <a:gd name="adj" fmla="val 750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946904"/>
            <a:ext cx="548640" cy="548640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20056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50" b="0" i="0">
                <a:solidFill>
                  <a:srgbClr val="A8E63C"/>
                </a:solidFill>
                <a:latin typeface="Calibri"/>
              </a:rPr>
              <a:t>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855464"/>
            <a:ext cx="41605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7F8FB"/>
                </a:solidFill>
                <a:latin typeface="Calibri"/>
              </a:rPr>
              <a:t>Fastener Orientation Bug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Bolts aligned their short axis onto a joint instead of the long shaft axis. Fixed by using the middle extent to tell rods from disks.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718304"/>
            <a:ext cx="5285232" cy="1463040"/>
          </a:xfrm>
          <a:prstGeom prst="roundRect">
            <a:avLst>
              <a:gd name="adj" fmla="val 7500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46520" y="4946904"/>
            <a:ext cx="548640" cy="548640"/>
          </a:xfrm>
          <a:prstGeom prst="ellipse">
            <a:avLst/>
          </a:prstGeom>
          <a:solidFill>
            <a:srgbClr val="1E2A4E"/>
          </a:solidFill>
          <a:ln w="9525">
            <a:solidFill>
              <a:srgbClr val="253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020056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50" b="0" i="0">
                <a:solidFill>
                  <a:srgbClr val="A8E63C"/>
                </a:solidFill>
                <a:latin typeface="Calibr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855464"/>
            <a:ext cx="41605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7F8FB"/>
                </a:solidFill>
                <a:latin typeface="Calibri"/>
              </a:rPr>
              <a:t>Per-Hole Detection Redesign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6B1C7"/>
                </a:solidFill>
                <a:latin typeface="Calibri"/>
              </a:rPr>
              <a:t>A whole-body region guess collapsed 12 real bolt holes into 1 ghost part. Replaced with per-hole cylindrical-face detection — 12/12 now correctly filled.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DATA — CORPUS HISTORY, R1 → R39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Finding the Right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15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8983354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70432"/>
            <a:ext cx="1081735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A6B1C7"/>
                </a:solidFill>
                <a:latin typeface="Calibri"/>
              </a:rPr>
              <a:t>About 20 corpus versions in 39 runs — grown, filtered, re-categorised and curated until it was right. It was the most expensive step of the project, and produced the largest measured gain.</a:t>
            </a:r>
          </a:p>
        </p:txBody>
      </p:sp>
      <p:pic>
        <p:nvPicPr>
          <p:cNvPr id="9" name="Picture 8" descr="Log-scale step chart of training-corpus size at each logged change, R6 to R39, ending at 648 usable graphs from 749 mode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20" y="1737360"/>
            <a:ext cx="10728711" cy="27889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36092" y="4576572"/>
            <a:ext cx="100584" cy="100584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262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6C7691"/>
                </a:solidFill>
                <a:latin typeface="Courier New"/>
              </a:rPr>
              <a:t>corpus grew</a:t>
            </a:r>
          </a:p>
        </p:txBody>
      </p:sp>
      <p:sp>
        <p:nvSpPr>
          <p:cNvPr id="12" name="Oval 11"/>
          <p:cNvSpPr/>
          <p:nvPr/>
        </p:nvSpPr>
        <p:spPr>
          <a:xfrm>
            <a:off x="2290572" y="4576572"/>
            <a:ext cx="100584" cy="100584"/>
          </a:xfrm>
          <a:prstGeom prst="ellipse">
            <a:avLst/>
          </a:prstGeom>
          <a:solidFill>
            <a:srgbClr val="F0B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452628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6C7691"/>
                </a:solidFill>
                <a:latin typeface="Courier New"/>
              </a:rPr>
              <a:t>filtered / curated down</a:t>
            </a:r>
          </a:p>
        </p:txBody>
      </p:sp>
      <p:sp>
        <p:nvSpPr>
          <p:cNvPr id="14" name="Oval 13"/>
          <p:cNvSpPr/>
          <p:nvPr/>
        </p:nvSpPr>
        <p:spPr>
          <a:xfrm>
            <a:off x="4668012" y="4576572"/>
            <a:ext cx="100584" cy="100584"/>
          </a:xfrm>
          <a:prstGeom prst="ellipse">
            <a:avLst/>
          </a:prstGeom>
          <a:solidFill>
            <a:srgbClr val="A8E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1" y="45262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6C7691"/>
                </a:solidFill>
                <a:latin typeface="Courier New"/>
              </a:rPr>
              <a:t>final corpus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46320"/>
            <a:ext cx="4343400" cy="1536192"/>
          </a:xfrm>
          <a:prstGeom prst="roundRect">
            <a:avLst>
              <a:gd name="adj" fmla="val 7142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 spc="80">
                <a:solidFill>
                  <a:srgbClr val="6C7691"/>
                </a:solidFill>
                <a:latin typeface="Courier New"/>
              </a:rPr>
              <a:t>WHAT THE ORIGINAL SCRAPE TAUGHT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1208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A8E63C"/>
                </a:solidFill>
                <a:latin typeface="Courier New"/>
              </a:rPr>
              <a:t>2,271 → 749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6B1C7"/>
                </a:solidFill>
                <a:latin typeface="Calibri"/>
              </a:rPr>
              <a:t>Fusion360 scrape vs today’s hand-curated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1" y="521208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A8E63C"/>
                </a:solidFill>
                <a:latin typeface="Courier New"/>
              </a:rPr>
              <a:t>144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6B1C7"/>
                </a:solidFill>
                <a:latin typeface="Calibri"/>
              </a:rPr>
              <a:t>duplicate folders across categories (6.3%): a train/test leakage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79008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A8E63C"/>
                </a:solidFill>
                <a:latin typeface="Courier New"/>
              </a:rPr>
              <a:t>641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6B1C7"/>
                </a:solidFill>
                <a:latin typeface="Calibri"/>
              </a:rPr>
              <a:t>zero-contact assemblies (28.2%): no edges, unusable for link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1" y="5779008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A8E63C"/>
                </a:solidFill>
                <a:latin typeface="Courier New"/>
              </a:rPr>
              <a:t>80.2%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6B1C7"/>
                </a:solidFill>
                <a:latin typeface="Calibri"/>
              </a:rPr>
              <a:t>of the scrape was one tag (Mech. Eng.): severe imbalance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4846320"/>
            <a:ext cx="6336792" cy="1536192"/>
          </a:xfrm>
          <a:prstGeom prst="roundRect">
            <a:avLst>
              <a:gd name="adj" fmla="val 7142"/>
            </a:avLst>
          </a:prstGeom>
          <a:solidFill>
            <a:srgbClr val="212D31"/>
          </a:solidFill>
          <a:ln w="9525">
            <a:solidFill>
              <a:srgbClr val="4F6C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4937759"/>
            <a:ext cx="5971031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 spc="80">
                <a:solidFill>
                  <a:srgbClr val="6C7691"/>
                </a:solidFill>
                <a:latin typeface="Courier New"/>
              </a:rPr>
              <a:t>WHERE WE LANDED: 7 MACHINE-PART CATEGORIES × 107 MODELS</a:t>
            </a:r>
          </a:p>
        </p:txBody>
      </p:sp>
      <p:pic>
        <p:nvPicPr>
          <p:cNvPr id="24" name="Picture 23" descr="Bench V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212080"/>
            <a:ext cx="658368" cy="493776"/>
          </a:xfrm>
          <a:prstGeom prst="rect">
            <a:avLst/>
          </a:prstGeom>
          <a:ln w="19050">
            <a:solidFill>
              <a:srgbClr val="F7F8FB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5303520" y="573328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EEF2F9"/>
                </a:solidFill>
                <a:latin typeface="Calibri"/>
              </a:rPr>
              <a:t>Bench 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8887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1" i="0">
                <a:solidFill>
                  <a:srgbClr val="A8E63C"/>
                </a:solidFill>
                <a:latin typeface="Courier New"/>
              </a:rPr>
              <a:t>107</a:t>
            </a:r>
          </a:p>
        </p:txBody>
      </p:sp>
      <p:pic>
        <p:nvPicPr>
          <p:cNvPr id="27" name="Picture 26" descr="C-Clam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684" y="5212080"/>
            <a:ext cx="658368" cy="493776"/>
          </a:xfrm>
          <a:prstGeom prst="rect">
            <a:avLst/>
          </a:prstGeom>
          <a:ln w="19050">
            <a:solidFill>
              <a:srgbClr val="F7F8FB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188964" y="573328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EEF2F9"/>
                </a:solidFill>
                <a:latin typeface="Calibri"/>
              </a:rPr>
              <a:t>C-Clamps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4684" y="58887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1" i="0">
                <a:solidFill>
                  <a:srgbClr val="A8E63C"/>
                </a:solidFill>
                <a:latin typeface="Courier New"/>
              </a:rPr>
              <a:t>107</a:t>
            </a:r>
          </a:p>
        </p:txBody>
      </p:sp>
      <p:pic>
        <p:nvPicPr>
          <p:cNvPr id="30" name="Picture 29" descr="Pipe Vi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0128" y="5212080"/>
            <a:ext cx="658368" cy="493776"/>
          </a:xfrm>
          <a:prstGeom prst="rect">
            <a:avLst/>
          </a:prstGeom>
          <a:ln w="19050">
            <a:solidFill>
              <a:srgbClr val="F7F8FB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7074408" y="573328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EEF2F9"/>
                </a:solidFill>
                <a:latin typeface="Calibri"/>
              </a:rPr>
              <a:t>Pipe 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20128" y="58887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1" i="0">
                <a:solidFill>
                  <a:srgbClr val="A8E63C"/>
                </a:solidFill>
                <a:latin typeface="Courier New"/>
              </a:rPr>
              <a:t>107</a:t>
            </a:r>
          </a:p>
        </p:txBody>
      </p:sp>
      <p:pic>
        <p:nvPicPr>
          <p:cNvPr id="33" name="Picture 32" descr="Gate Valv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5571" y="5212080"/>
            <a:ext cx="658368" cy="493776"/>
          </a:xfrm>
          <a:prstGeom prst="rect">
            <a:avLst/>
          </a:prstGeom>
          <a:ln w="19050">
            <a:solidFill>
              <a:srgbClr val="F7F8FB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7959851" y="573328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EEF2F9"/>
                </a:solidFill>
                <a:latin typeface="Calibri"/>
              </a:rPr>
              <a:t>Gate Valve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5571" y="58887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1" i="0">
                <a:solidFill>
                  <a:srgbClr val="A8E63C"/>
                </a:solidFill>
                <a:latin typeface="Courier New"/>
              </a:rPr>
              <a:t>107</a:t>
            </a:r>
          </a:p>
        </p:txBody>
      </p:sp>
      <p:pic>
        <p:nvPicPr>
          <p:cNvPr id="36" name="Picture 35" descr="Press Too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1016" y="5212080"/>
            <a:ext cx="658368" cy="493776"/>
          </a:xfrm>
          <a:prstGeom prst="rect">
            <a:avLst/>
          </a:prstGeom>
          <a:ln w="19050">
            <a:solidFill>
              <a:srgbClr val="F7F8FB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8845295" y="573328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EEF2F9"/>
                </a:solidFill>
                <a:latin typeface="Calibri"/>
              </a:rPr>
              <a:t>Press Tool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1016" y="58887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1" i="0">
                <a:solidFill>
                  <a:srgbClr val="A8E63C"/>
                </a:solidFill>
                <a:latin typeface="Courier New"/>
              </a:rPr>
              <a:t>107</a:t>
            </a:r>
          </a:p>
        </p:txBody>
      </p:sp>
      <p:pic>
        <p:nvPicPr>
          <p:cNvPr id="39" name="Picture 38" descr="Tool Pos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6460" y="5212080"/>
            <a:ext cx="658368" cy="493776"/>
          </a:xfrm>
          <a:prstGeom prst="rect">
            <a:avLst/>
          </a:prstGeom>
          <a:ln w="19050">
            <a:solidFill>
              <a:srgbClr val="F7F8FB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9730740" y="573328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EEF2F9"/>
                </a:solidFill>
                <a:latin typeface="Calibri"/>
              </a:rPr>
              <a:t>Tool 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6460" y="58887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1" i="0">
                <a:solidFill>
                  <a:srgbClr val="A8E63C"/>
                </a:solidFill>
                <a:latin typeface="Courier New"/>
              </a:rPr>
              <a:t>107</a:t>
            </a:r>
          </a:p>
        </p:txBody>
      </p:sp>
      <p:pic>
        <p:nvPicPr>
          <p:cNvPr id="42" name="Picture 41" descr="Crane Hoo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5212080"/>
            <a:ext cx="658368" cy="493776"/>
          </a:xfrm>
          <a:prstGeom prst="rect">
            <a:avLst/>
          </a:prstGeom>
          <a:ln w="19050">
            <a:solidFill>
              <a:srgbClr val="F7F8FB"/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10616184" y="573328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EEF2F9"/>
                </a:solidFill>
                <a:latin typeface="Calibri"/>
              </a:rPr>
              <a:t>Crane Hook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1904" y="58887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1" i="0">
                <a:solidFill>
                  <a:srgbClr val="A8E63C"/>
                </a:solidFill>
                <a:latin typeface="Courier New"/>
              </a:rPr>
              <a:t>107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6108192"/>
            <a:ext cx="5971031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A8E63C"/>
                </a:solidFill>
                <a:latin typeface="Courier New"/>
              </a:rPr>
              <a:t>648</a:t>
            </a:r>
            <a:r>
              <a:rPr sz="1000" b="0" i="0">
                <a:solidFill>
                  <a:srgbClr val="A6B1C7"/>
                </a:solidFill>
                <a:latin typeface="Calibri"/>
              </a:rPr>
              <a:t> usable graphs · </a:t>
            </a:r>
            <a:r>
              <a:rPr sz="1000" b="1" i="0">
                <a:solidFill>
                  <a:srgbClr val="A8E63C"/>
                </a:solidFill>
                <a:latin typeface="Courier New"/>
              </a:rPr>
              <a:t>25,155</a:t>
            </a:r>
            <a:r>
              <a:rPr sz="1000" b="0" i="0">
                <a:solidFill>
                  <a:srgbClr val="A6B1C7"/>
                </a:solidFill>
                <a:latin typeface="Calibri"/>
              </a:rPr>
              <a:t> classified bodies · one category per model, no cross-category duplicates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Source Corpus — Exploratory Analysis (749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16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9625022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50" b="0" i="1">
                <a:solidFill>
                  <a:srgbClr val="A6B1C7"/>
                </a:solidFill>
                <a:latin typeface="Calibri"/>
              </a:rPr>
              <a:t>749 raw STEP models (7 categories × 107, balanced) → 648 usable graphs, 25,155 classified bodies — computed directly from the processed training dataset, the exact data AssemblyGNN trained on for the Sep 1–2 (R39) run</a:t>
            </a:r>
          </a:p>
        </p:txBody>
      </p:sp>
      <p:pic>
        <p:nvPicPr>
          <p:cNvPr id="9" name="Picture 8" descr="749-model corpus EDA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030" y="1920240"/>
            <a:ext cx="6701458" cy="3977639"/>
          </a:xfrm>
          <a:prstGeom prst="rect">
            <a:avLst/>
          </a:prstGeom>
          <a:ln w="63500">
            <a:solidFill>
              <a:srgbClr val="F7F8F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50" b="0" i="1">
                <a:solidFill>
                  <a:srgbClr val="6C7691"/>
                </a:solidFill>
                <a:latin typeface="Calibri"/>
              </a:rPr>
              <a:t>Full breakdown — graph-size distributions, hole-geometry prevalence by component type, feature correlations, and two flagged data-quality findings — in the companion </a:t>
            </a:r>
            <a:r>
              <a:rPr sz="950" b="0" i="0" u="sng">
                <a:solidFill>
                  <a:srgbClr val="5B8DEF"/>
                </a:solidFill>
                <a:latin typeface="Courier Ne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749-Model Corpus EDA</a:t>
            </a:r>
            <a:r>
              <a:rPr sz="950" b="0" i="1">
                <a:solidFill>
                  <a:srgbClr val="6C7691"/>
                </a:solidFill>
                <a:latin typeface="Calibri"/>
              </a:rPr>
              <a:t> report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What This Project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17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0266690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263420"/>
          </a:solidFill>
          <a:ln w="9525">
            <a:solidFill>
              <a:srgbClr val="59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A8E63C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0876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50" b="0" i="0">
                <a:solidFill>
                  <a:srgbClr val="EEF2F9"/>
                </a:solidFill>
                <a:latin typeface="Calibri"/>
              </a:rPr>
              <a:t>Full 3-phase pipeline — detect, rank, generate — working end-to-end on real CAD geometry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231135"/>
            <a:ext cx="457200" cy="457200"/>
          </a:xfrm>
          <a:prstGeom prst="ellipse">
            <a:avLst/>
          </a:prstGeom>
          <a:solidFill>
            <a:srgbClr val="263420"/>
          </a:solidFill>
          <a:ln w="9525">
            <a:solidFill>
              <a:srgbClr val="59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7685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A8E63C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85415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50" b="0" i="0">
                <a:solidFill>
                  <a:srgbClr val="EEF2F9"/>
                </a:solidFill>
                <a:latin typeface="Calibri"/>
              </a:rPr>
              <a:t>39+ tracked training runs, with systematic ablations and honest reporting of regressions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907791"/>
            <a:ext cx="457200" cy="457200"/>
          </a:xfrm>
          <a:prstGeom prst="ellipse">
            <a:avLst/>
          </a:prstGeom>
          <a:solidFill>
            <a:srgbClr val="263420"/>
          </a:solidFill>
          <a:ln w="9525">
            <a:solidFill>
              <a:srgbClr val="59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5351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A8E63C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62072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50" b="0" i="0">
                <a:solidFill>
                  <a:srgbClr val="EEF2F9"/>
                </a:solidFill>
                <a:latin typeface="Calibri"/>
              </a:rPr>
              <a:t>A novel Octree open-surface detector and a hybrid retrieval + VAE shape generator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584448"/>
            <a:ext cx="457200" cy="457200"/>
          </a:xfrm>
          <a:prstGeom prst="ellipse">
            <a:avLst/>
          </a:prstGeom>
          <a:solidFill>
            <a:srgbClr val="263420"/>
          </a:solidFill>
          <a:ln w="9525">
            <a:solidFill>
              <a:srgbClr val="59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3016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A8E63C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538727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50" b="0" i="0">
                <a:solidFill>
                  <a:srgbClr val="EEF2F9"/>
                </a:solidFill>
                <a:latin typeface="Calibri"/>
              </a:rPr>
              <a:t>A live Gemini-powered explanation agent (AIDA) reasoning in engineering language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261103"/>
            <a:ext cx="457200" cy="457200"/>
          </a:xfrm>
          <a:prstGeom prst="ellipse">
            <a:avLst/>
          </a:prstGeom>
          <a:solidFill>
            <a:srgbClr val="263420"/>
          </a:solidFill>
          <a:ln w="9525">
            <a:solidFill>
              <a:srgbClr val="59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06823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A8E63C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15383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50" b="0" i="0">
                <a:solidFill>
                  <a:srgbClr val="EEF2F9"/>
                </a:solidFill>
                <a:latin typeface="Calibri"/>
              </a:rPr>
              <a:t>Phase 3 targets comfortably exceeded — IoU 0.65 vs. a 0.35 target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937759"/>
            <a:ext cx="457200" cy="457200"/>
          </a:xfrm>
          <a:prstGeom prst="ellipse">
            <a:avLst/>
          </a:prstGeom>
          <a:solidFill>
            <a:srgbClr val="263420"/>
          </a:solidFill>
          <a:ln w="9525">
            <a:solidFill>
              <a:srgbClr val="59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3479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A8E63C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89204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50" b="0" i="0">
                <a:solidFill>
                  <a:srgbClr val="EEF2F9"/>
                </a:solidFill>
                <a:latin typeface="Calibri"/>
              </a:rPr>
              <a:t>Post-hoc GNNExplainer interpretability layer, wired live into the Streamlit UI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614416"/>
            <a:ext cx="457200" cy="457200"/>
          </a:xfrm>
          <a:prstGeom prst="ellipse">
            <a:avLst/>
          </a:prstGeom>
          <a:solidFill>
            <a:srgbClr val="263420"/>
          </a:solidFill>
          <a:ln w="9525">
            <a:solidFill>
              <a:srgbClr val="59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6013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A8E63C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68696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50" b="0" i="0">
                <a:solidFill>
                  <a:srgbClr val="EEF2F9"/>
                </a:solidFill>
                <a:latin typeface="Calibri"/>
              </a:rPr>
              <a:t>Interactive Streamlit demo, fully open-source (MIT), zero proprietary CAD-API dependency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200">
                <a:solidFill>
                  <a:srgbClr val="A8E63C"/>
                </a:solidFill>
                <a:latin typeface="Courier New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18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0908358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285232" cy="4297680"/>
          </a:xfrm>
          <a:prstGeom prst="roundRect">
            <a:avLst>
              <a:gd name="adj" fmla="val 255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37160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F0B94E"/>
                </a:solidFill>
                <a:latin typeface="Cambria"/>
              </a:rPr>
              <a:t>Limitations</a:t>
            </a:r>
          </a:p>
          <a:p>
            <a:pPr algn="l" marL="146304" indent="-146304">
              <a:lnSpc>
                <a:spcPct val="110000"/>
              </a:lnSpc>
              <a:spcAft>
                <a:spcPts val="800"/>
              </a:spcAft>
              <a:buClr>
                <a:srgbClr val="A8E63C"/>
              </a:buClr>
              <a:buFont typeface="Arial"/>
              <a:buChar char="▪"/>
            </a:pPr>
            <a:r>
              <a:rPr sz="1350" b="0" i="0">
                <a:solidFill>
                  <a:srgbClr val="EEF2F9"/>
                </a:solidFill>
                <a:latin typeface="Calibri"/>
              </a:rPr>
              <a:t>NodeRanker still over-predicts the ‘body’ class (64.7% predicted vs. 41.3% true) — Hit@1 beats baseline but isn’t yet a solved ranking problem</a:t>
            </a:r>
          </a:p>
          <a:p>
            <a:pPr algn="l" marL="146304" indent="-146304">
              <a:lnSpc>
                <a:spcPct val="110000"/>
              </a:lnSpc>
              <a:spcAft>
                <a:spcPts val="800"/>
              </a:spcAft>
              <a:buClr>
                <a:srgbClr val="A8E63C"/>
              </a:buClr>
              <a:buFont typeface="Arial"/>
              <a:buChar char="▪"/>
            </a:pPr>
            <a:r>
              <a:rPr sz="1350" b="0" i="0">
                <a:solidFill>
                  <a:srgbClr val="EEF2F9"/>
                </a:solidFill>
                <a:latin typeface="Calibri"/>
              </a:rPr>
              <a:t>~39.5% of bodies are flagged ambiguous by the classifier’s voting rules — reported honestly, not hidden</a:t>
            </a:r>
          </a:p>
          <a:p>
            <a:pPr algn="l" marL="146304" indent="-146304">
              <a:lnSpc>
                <a:spcPct val="110000"/>
              </a:lnSpc>
              <a:spcAft>
                <a:spcPts val="800"/>
              </a:spcAft>
              <a:buClr>
                <a:srgbClr val="A8E63C"/>
              </a:buClr>
              <a:buFont typeface="Arial"/>
              <a:buChar char="▪"/>
            </a:pPr>
            <a:r>
              <a:rPr sz="1350" b="0" i="0">
                <a:solidFill>
                  <a:srgbClr val="EEF2F9"/>
                </a:solidFill>
                <a:latin typeface="Calibri"/>
              </a:rPr>
              <a:t>Phase 3 shape generation is currently scoped to fasteners (bolt/washer/nut) only</a:t>
            </a:r>
          </a:p>
          <a:p>
            <a:pPr algn="l" marL="146304" indent="-146304">
              <a:lnSpc>
                <a:spcPct val="110000"/>
              </a:lnSpc>
              <a:spcAft>
                <a:spcPts val="800"/>
              </a:spcAft>
              <a:buClr>
                <a:srgbClr val="A8E63C"/>
              </a:buClr>
              <a:buFont typeface="Arial"/>
              <a:buChar char="▪"/>
            </a:pPr>
            <a:r>
              <a:rPr sz="1250" b="0" i="0">
                <a:solidFill>
                  <a:srgbClr val="EEF2F9"/>
                </a:solidFill>
                <a:latin typeface="Courier New"/>
              </a:rPr>
              <a:t>sdf_mean</a:t>
            </a:r>
            <a:r>
              <a:rPr sz="1350" b="0" i="0">
                <a:solidFill>
                  <a:srgbClr val="EEF2F9"/>
                </a:solidFill>
                <a:latin typeface="Calibri"/>
              </a:rPr>
              <a:t> is a dead feature on the 749-model corpus — exactly 0.0 for 99.95% of bodies (25,142/25,155), found during EDA, not caught by training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85232" cy="4297680"/>
          </a:xfrm>
          <a:prstGeom prst="roundRect">
            <a:avLst>
              <a:gd name="adj" fmla="val 2553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28600" rIns="274320" bIns="137160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A8E63C"/>
                </a:solidFill>
                <a:latin typeface="Cambria"/>
              </a:rPr>
              <a:t>Future Work</a:t>
            </a:r>
          </a:p>
          <a:p>
            <a:pPr algn="l" marL="146304" indent="-146304">
              <a:lnSpc>
                <a:spcPct val="110000"/>
              </a:lnSpc>
              <a:spcAft>
                <a:spcPts val="800"/>
              </a:spcAft>
              <a:buClr>
                <a:srgbClr val="A8E63C"/>
              </a:buClr>
              <a:buFont typeface="Arial"/>
              <a:buChar char="▪"/>
            </a:pPr>
            <a:r>
              <a:rPr sz="1350" b="0" i="0">
                <a:solidFill>
                  <a:srgbClr val="EEF2F9"/>
                </a:solidFill>
                <a:latin typeface="Calibri"/>
              </a:rPr>
              <a:t>Corpus grown 238→749 models — re-run the learning-curve check on the new corpus to confirm whether it has finally plateaued</a:t>
            </a:r>
          </a:p>
          <a:p>
            <a:pPr algn="l" marL="146304" indent="-146304">
              <a:lnSpc>
                <a:spcPct val="110000"/>
              </a:lnSpc>
              <a:spcAft>
                <a:spcPts val="800"/>
              </a:spcAft>
              <a:buClr>
                <a:srgbClr val="A8E63C"/>
              </a:buClr>
              <a:buFont typeface="Arial"/>
              <a:buChar char="▪"/>
            </a:pPr>
            <a:r>
              <a:rPr sz="1350" b="0" i="0">
                <a:solidFill>
                  <a:srgbClr val="EEF2F9"/>
                </a:solidFill>
                <a:latin typeface="Calibri"/>
              </a:rPr>
              <a:t>Resolve NodeRanker’s majority-class collapse with class-balanced sampling or loss reweighting</a:t>
            </a:r>
          </a:p>
          <a:p>
            <a:pPr algn="l" marL="146304" indent="-146304">
              <a:lnSpc>
                <a:spcPct val="110000"/>
              </a:lnSpc>
              <a:spcAft>
                <a:spcPts val="800"/>
              </a:spcAft>
              <a:buClr>
                <a:srgbClr val="A8E63C"/>
              </a:buClr>
              <a:buFont typeface="Arial"/>
              <a:buChar char="▪"/>
            </a:pPr>
            <a:r>
              <a:rPr sz="1350" b="0" i="0">
                <a:solidFill>
                  <a:srgbClr val="EEF2F9"/>
                </a:solidFill>
                <a:latin typeface="Calibri"/>
              </a:rPr>
              <a:t>Broaden Phase 3 shape generation beyond fasteners to plates and shafts</a:t>
            </a:r>
          </a:p>
          <a:p>
            <a:pPr algn="l" marL="146304" indent="-146304">
              <a:lnSpc>
                <a:spcPct val="110000"/>
              </a:lnSpc>
              <a:spcAft>
                <a:spcPts val="800"/>
              </a:spcAft>
              <a:buClr>
                <a:srgbClr val="A8E63C"/>
              </a:buClr>
              <a:buFont typeface="Arial"/>
              <a:buChar char="▪"/>
            </a:pPr>
            <a:r>
              <a:rPr sz="1350" b="0" i="0">
                <a:solidFill>
                  <a:srgbClr val="EEF2F9"/>
                </a:solidFill>
                <a:latin typeface="Calibri"/>
              </a:rPr>
              <a:t>Fix the dead SDF ray-cast; spot-check why 72%/84% of bolts/washers flag </a:t>
            </a:r>
            <a:r>
              <a:rPr sz="1250" b="0" i="0">
                <a:solidFill>
                  <a:srgbClr val="EEF2F9"/>
                </a:solidFill>
                <a:latin typeface="Courier New"/>
              </a:rPr>
              <a:t>has_holes</a:t>
            </a:r>
            <a:r>
              <a:rPr sz="1350" b="0" i="0">
                <a:solidFill>
                  <a:srgbClr val="EEF2F9"/>
                </a:solidFill>
                <a:latin typeface="Calibri"/>
              </a:rPr>
              <a:t> against real STEP geometry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7F8FB"/>
                </a:solidFill>
                <a:latin typeface="Cambria"/>
              </a:rPr>
              <a:t>The App in 10 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19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1550027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u="sng" spc="200">
                <a:solidFill>
                  <a:srgbClr val="9CC4FF"/>
                </a:solidFill>
                <a:effectLst>
                  <a:glow rad="114300">
                    <a:srgbClr val="4F8CFF">
                      <a:alpha val="60000"/>
                    </a:srgbClr>
                  </a:glow>
                </a:effectLst>
                <a:latin typeface="Courier Ne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 ↗</a:t>
            </a:r>
            <a:r>
              <a:rPr sz="1000" b="1" i="0" spc="200">
                <a:solidFill>
                  <a:srgbClr val="A8E63C"/>
                </a:solidFill>
                <a:latin typeface="Courier New"/>
              </a:rPr>
              <a:t>  —  PARTIAL_TOOL_POST.STEP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52728"/>
            <a:ext cx="219456" cy="219456"/>
          </a:xfrm>
          <a:prstGeom prst="roundRect">
            <a:avLst>
              <a:gd name="adj" fmla="val 16666"/>
            </a:avLst>
          </a:prstGeom>
          <a:solidFill>
            <a:srgbClr val="A8E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5272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22529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7F8FB"/>
                </a:solidFill>
                <a:latin typeface="Cambria"/>
              </a:rPr>
              <a:t>Know the workspace</a:t>
            </a:r>
            <a:r>
              <a:rPr sz="950" b="0" i="1">
                <a:solidFill>
                  <a:srgbClr val="A6B1C7"/>
                </a:solidFill>
                <a:latin typeface="Calibri"/>
              </a:rPr>
              <a:t>   sidebar, viewer and model controls</a:t>
            </a:r>
          </a:p>
        </p:txBody>
      </p:sp>
      <p:pic>
        <p:nvPicPr>
          <p:cNvPr id="11" name="Picture 10" descr="Full window: sidebar, Input / Results panels and the AIDA pan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72768"/>
            <a:ext cx="3618939" cy="1572768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12" name="Oval 11"/>
          <p:cNvSpPr/>
          <p:nvPr/>
        </p:nvSpPr>
        <p:spPr>
          <a:xfrm>
            <a:off x="731520" y="1618488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1848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1</a:t>
            </a:r>
          </a:p>
        </p:txBody>
      </p:sp>
      <p:pic>
        <p:nvPicPr>
          <p:cNvPr id="14" name="Picture 13" descr="Viewer settings: colour, opacity, background, camer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8915" y="1572768"/>
            <a:ext cx="2286804" cy="1572768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15" name="Oval 14"/>
          <p:cNvSpPr/>
          <p:nvPr/>
        </p:nvSpPr>
        <p:spPr>
          <a:xfrm>
            <a:off x="4614635" y="1618488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635" y="161848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2</a:t>
            </a:r>
          </a:p>
        </p:txBody>
      </p:sp>
      <p:pic>
        <p:nvPicPr>
          <p:cNvPr id="17" name="Picture 16" descr="Model info: serving checkpoint and code vers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896" y="1572768"/>
            <a:ext cx="3243047" cy="1572768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18" name="Oval 17"/>
          <p:cNvSpPr/>
          <p:nvPr/>
        </p:nvSpPr>
        <p:spPr>
          <a:xfrm>
            <a:off x="7165616" y="1618488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65616" y="161848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3</a:t>
            </a:r>
          </a:p>
        </p:txBody>
      </p:sp>
      <p:pic>
        <p:nvPicPr>
          <p:cNvPr id="20" name="Picture 19" descr="Activity log: timestamped pipeline stag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7120" y="1572768"/>
            <a:ext cx="876031" cy="1572768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21" name="Oval 20"/>
          <p:cNvSpPr/>
          <p:nvPr/>
        </p:nvSpPr>
        <p:spPr>
          <a:xfrm>
            <a:off x="10672840" y="1618488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72840" y="161848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00400"/>
            <a:ext cx="634265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1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Full window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sidebar · workspace · AIDA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2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Viewer settings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colour · opacity · camera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9896" y="3200400"/>
            <a:ext cx="438325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3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Model info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checkpoint · code version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4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Activity log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timestamped stages</a:t>
            </a:r>
          </a:p>
        </p:txBody>
      </p:sp>
      <p:pic>
        <p:nvPicPr>
          <p:cNvPr id="25" name="Picture 24" descr="Upload a STEP/STP file (up to 50 MB); Results wai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005072"/>
            <a:ext cx="2228499" cy="1450846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26" name="Oval 25"/>
          <p:cNvSpPr/>
          <p:nvPr/>
        </p:nvSpPr>
        <p:spPr>
          <a:xfrm>
            <a:off x="731520" y="4050791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5079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5</a:t>
            </a:r>
          </a:p>
        </p:txBody>
      </p:sp>
      <p:pic>
        <p:nvPicPr>
          <p:cNvPr id="28" name="Picture 27" descr="Original view: rotate, zoom and toggle each par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1459" y="4005072"/>
            <a:ext cx="1466805" cy="1450846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29" name="Oval 28"/>
          <p:cNvSpPr/>
          <p:nvPr/>
        </p:nvSpPr>
        <p:spPr>
          <a:xfrm>
            <a:off x="3097179" y="4050791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7179" y="405079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6</a:t>
            </a:r>
          </a:p>
        </p:txBody>
      </p:sp>
      <p:pic>
        <p:nvPicPr>
          <p:cNvPr id="31" name="Picture 30" descr="Result view: Suggested Shapes (pink) and Not Assembled parts (orang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1185" y="4005072"/>
            <a:ext cx="1249178" cy="1450846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32" name="Oval 31"/>
          <p:cNvSpPr/>
          <p:nvPr/>
        </p:nvSpPr>
        <p:spPr>
          <a:xfrm>
            <a:off x="5066905" y="4050791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66905" y="405079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7</a:t>
            </a:r>
          </a:p>
        </p:txBody>
      </p:sp>
      <p:pic>
        <p:nvPicPr>
          <p:cNvPr id="34" name="Picture 33" descr="Reconstructed group, coloured by component categor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7523" y="4005072"/>
            <a:ext cx="1272392" cy="1450846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35" name="Oval 34"/>
          <p:cNvSpPr/>
          <p:nvPr/>
        </p:nvSpPr>
        <p:spPr>
          <a:xfrm>
            <a:off x="6453243" y="4050791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3243" y="405079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8</a:t>
            </a:r>
          </a:p>
        </p:txBody>
      </p:sp>
      <p:pic>
        <p:nvPicPr>
          <p:cNvPr id="37" name="Picture 36" descr="Details panel: reconstruction table, .glb export, six result section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2835" y="4005072"/>
            <a:ext cx="1118602" cy="1450846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38" name="Oval 37"/>
          <p:cNvSpPr/>
          <p:nvPr/>
        </p:nvSpPr>
        <p:spPr>
          <a:xfrm>
            <a:off x="8228555" y="4050791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8555" y="405079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9</a:t>
            </a:r>
          </a:p>
        </p:txBody>
      </p:sp>
      <p:pic>
        <p:nvPicPr>
          <p:cNvPr id="40" name="Picture 39" descr="AIDA: engineering-language interpretation of the prediction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38597" y="4005072"/>
            <a:ext cx="2064554" cy="1450846"/>
          </a:xfrm>
          <a:prstGeom prst="rect">
            <a:avLst/>
          </a:prstGeom>
          <a:ln w="31750">
            <a:solidFill>
              <a:srgbClr val="F7F8FB"/>
            </a:solidFill>
          </a:ln>
        </p:spPr>
      </p:pic>
      <p:sp>
        <p:nvSpPr>
          <p:cNvPr id="41" name="Oval 40"/>
          <p:cNvSpPr/>
          <p:nvPr/>
        </p:nvSpPr>
        <p:spPr>
          <a:xfrm>
            <a:off x="9484317" y="4050791"/>
            <a:ext cx="219456" cy="219456"/>
          </a:xfrm>
          <a:prstGeom prst="ellipse">
            <a:avLst/>
          </a:prstGeom>
          <a:solidFill>
            <a:srgbClr val="A8E63C"/>
          </a:solidFill>
          <a:ln w="12700">
            <a:solidFill>
              <a:srgbClr val="0A0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84317" y="405079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3703320"/>
            <a:ext cx="219456" cy="219456"/>
          </a:xfrm>
          <a:prstGeom prst="roundRect">
            <a:avLst>
              <a:gd name="adj" fmla="val 16666"/>
            </a:avLst>
          </a:prstGeom>
          <a:solidFill>
            <a:srgbClr val="A8E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370332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3675887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7F8FB"/>
                </a:solidFill>
                <a:latin typeface="Cambria"/>
              </a:rPr>
              <a:t>Load &amp; inspect</a:t>
            </a:r>
            <a:r>
              <a:rPr sz="950" b="0" i="1">
                <a:solidFill>
                  <a:srgbClr val="A6B1C7"/>
                </a:solidFill>
                <a:latin typeface="Calibri"/>
              </a:rPr>
              <a:t>   check the file first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1185" y="3703320"/>
            <a:ext cx="219456" cy="219456"/>
          </a:xfrm>
          <a:prstGeom prst="roundRect">
            <a:avLst>
              <a:gd name="adj" fmla="val 16666"/>
            </a:avLst>
          </a:prstGeom>
          <a:solidFill>
            <a:srgbClr val="A8E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1185" y="370332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13793" y="3675887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7F8FB"/>
                </a:solidFill>
                <a:latin typeface="Cambria"/>
              </a:rPr>
              <a:t>Predict &amp; rebuild</a:t>
            </a:r>
            <a:r>
              <a:rPr sz="950" b="0" i="1">
                <a:solidFill>
                  <a:srgbClr val="A6B1C7"/>
                </a:solidFill>
                <a:latin typeface="Calibri"/>
              </a:rPr>
              <a:t>   one answer, two views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2835" y="3703320"/>
            <a:ext cx="219456" cy="219456"/>
          </a:xfrm>
          <a:prstGeom prst="roundRect">
            <a:avLst>
              <a:gd name="adj" fmla="val 16666"/>
            </a:avLst>
          </a:prstGeom>
          <a:solidFill>
            <a:srgbClr val="A8E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2835" y="370332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  <a:latin typeface="Courier New"/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5443" y="3675887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F7F8FB"/>
                </a:solidFill>
                <a:latin typeface="Cambria"/>
              </a:rPr>
              <a:t>Read the results</a:t>
            </a:r>
            <a:r>
              <a:rPr sz="950" b="0" i="1">
                <a:solidFill>
                  <a:srgbClr val="A6B1C7"/>
                </a:solidFill>
                <a:latin typeface="Calibri"/>
              </a:rPr>
              <a:t>   numbers, export, explanation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510782"/>
            <a:ext cx="415250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5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Upload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STEP / STP, up to 50 MB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6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Original view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rotate · zoom · toggle parts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1185" y="5510782"/>
            <a:ext cx="297877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7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Suggested shapes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pink + orange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8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Reconstructed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by category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2835" y="5510782"/>
            <a:ext cx="332031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9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Details panel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table · .glb export · 6 sections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A8E63C"/>
                </a:solidFill>
                <a:latin typeface="Courier New"/>
              </a:rPr>
              <a:t>10</a:t>
            </a:r>
            <a:r>
              <a:rPr sz="1000" b="1" i="0">
                <a:solidFill>
                  <a:srgbClr val="EEF2F9"/>
                </a:solidFill>
                <a:latin typeface="Calibri"/>
              </a:rPr>
              <a:t>  AIDA explains</a:t>
            </a:r>
            <a:r>
              <a:rPr sz="950" b="0" i="0">
                <a:solidFill>
                  <a:srgbClr val="6C7691"/>
                </a:solidFill>
                <a:latin typeface="Calibri"/>
              </a:rPr>
              <a:t>  engineering-language report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5925312"/>
            <a:ext cx="10817352" cy="502920"/>
          </a:xfrm>
          <a:prstGeom prst="roundRect">
            <a:avLst>
              <a:gd name="adj" fmla="val 21818"/>
            </a:avLst>
          </a:prstGeom>
          <a:solidFill>
            <a:srgbClr val="212D31"/>
          </a:solidFill>
          <a:ln w="9525">
            <a:solidFill>
              <a:srgbClr val="4C6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971032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 spc="50">
                <a:solidFill>
                  <a:srgbClr val="6C7691"/>
                </a:solidFill>
                <a:latin typeface="Courier New"/>
              </a:rPr>
              <a:t>ONE RUN,</a:t>
            </a:r>
          </a:p>
          <a:p>
            <a:pPr algn="l"/>
            <a:r>
              <a:rPr sz="750" b="0" i="0" spc="50">
                <a:solidFill>
                  <a:srgbClr val="6C7691"/>
                </a:solidFill>
                <a:latin typeface="Courier New"/>
              </a:rPr>
              <a:t>END TO 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594360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A8E63C"/>
                </a:solidFill>
                <a:latin typeface="Courier New"/>
              </a:rPr>
              <a:t>≈24 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79191" y="59436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A6B1C7"/>
                </a:solidFill>
                <a:latin typeface="Calibri"/>
              </a:rPr>
              <a:t>STEP upload to AIDA explanation, typical four-body assembly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80" y="594360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A8E63C"/>
                </a:solidFill>
                <a:latin typeface="Courier New"/>
              </a:rPr>
              <a:t>0.27 mm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59436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A6B1C7"/>
                </a:solidFill>
                <a:latin typeface="Calibri"/>
              </a:rPr>
              <a:t>mean position error of the rebuilt parts vs the original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594360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A8E63C"/>
                </a:solidFill>
                <a:latin typeface="Courier New"/>
              </a:rPr>
              <a:t>0.39 mm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594360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A6B1C7"/>
                </a:solidFill>
                <a:latin typeface="Calibri"/>
              </a:rPr>
              <a:t>mean shape error (tessellation noise floor: 0.2–0.6 mm)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5943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800" b="0" i="1">
                <a:solidFill>
                  <a:srgbClr val="6C7691"/>
                </a:solidFill>
                <a:latin typeface="Calibri"/>
              </a:rPr>
              <a:t>One assembly, tool-post-tuned: a mechanism check, not a general result.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1967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 spc="100">
                <a:solidFill>
                  <a:srgbClr val="6C7691"/>
                </a:solidFill>
                <a:latin typeface="Courier New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65196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00" b="0" i="0" spc="100">
                <a:solidFill>
                  <a:srgbClr val="6C7691"/>
                </a:solidFill>
                <a:latin typeface="Courier New"/>
              </a:rPr>
              <a:t>20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E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gradFill rotWithShape="1">
            <a:gsLst>
              <a:gs pos="0">
                <a:srgbClr val="5B8DEF"/>
              </a:gs>
              <a:gs pos="100000">
                <a:srgbClr val="A8E6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600" b="1" i="0">
                <a:solidFill>
                  <a:srgbClr val="F7F8FB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0" i="1">
                <a:solidFill>
                  <a:srgbClr val="A8E63C"/>
                </a:solidFill>
                <a:latin typeface="Cambria"/>
              </a:rPr>
              <a:t>Questions &amp;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3931920"/>
            <a:ext cx="6976872" cy="1508760"/>
          </a:xfrm>
          <a:prstGeom prst="roundRect">
            <a:avLst>
              <a:gd name="adj" fmla="val 7272"/>
            </a:avLst>
          </a:prstGeom>
          <a:solidFill>
            <a:srgbClr val="141B31"/>
          </a:solidFill>
          <a:ln w="9525">
            <a:solidFill>
              <a:srgbClr val="1E2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 bIns="91440">
            <a:no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7F8FB"/>
                </a:solidFill>
                <a:latin typeface="Calibri"/>
              </a:rPr>
              <a:t>Parthasarathy Perumal · SRN PES2PGE24DS193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A6B1C7"/>
                </a:solidFill>
                <a:latin typeface="Calibri"/>
              </a:rPr>
              <a:t>Guide (Phase 1): Prof. Sagarika Borah · Guide (Phase 2): Prof. Gaurav Siwal</a:t>
            </a:r>
          </a:p>
          <a:p>
            <a:pPr algn="ctr">
              <a:spcAft>
                <a:spcPts val="500"/>
              </a:spcAft>
            </a:pPr>
            <a:r>
              <a:rPr sz="1150" b="0" i="0">
                <a:solidFill>
                  <a:srgbClr val="A6B1C7"/>
                </a:solidFill>
                <a:latin typeface="Calibri"/>
              </a:rPr>
              <a:t>M.Tech Data Science &amp; AI · PES University, Electronic City, Bengaluru</a:t>
            </a:r>
          </a:p>
          <a:p>
            <a:pPr algn="ctr"/>
            <a:r>
              <a:rPr sz="1050" b="0" i="1">
                <a:solidFill>
                  <a:srgbClr val="6C7691"/>
                </a:solidFill>
                <a:latin typeface="Calibri"/>
              </a:rPr>
              <a:t>Repository: MIT-licensed, open-source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3D Assembly Design — M.Tech End-Semester Review</dc:title>
  <dc:subject>PES University, M.Tech Data Science &amp; AI</dc:subject>
  <dc:creator>Parthasarathy Perumal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