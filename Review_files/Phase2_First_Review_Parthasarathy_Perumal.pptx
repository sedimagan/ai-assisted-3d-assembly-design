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21F"/>
        </a:solidFill>
      </p:bgPr>
    </p:bg>
    <p:spTree>
      <p:nvGrpSpPr>
        <p:cNvPr id="1" name=""/>
        <p:cNvGrpSpPr/>
        <p:nvPr/>
      </p:nvGrpSpPr>
      <p:grpSpPr>
        <a:xfrm>
          <a:off x="0" y="0"/>
          <a:ext cx="0" cy="0"/>
          <a:chOff x="0" y="0"/>
          <a:chExt cx="0" cy="0"/>
        </a:xfrm>
      </p:grpSpPr>
      <p:sp>
        <p:nvSpPr>
          <p:cNvPr id="2" name="Text 0"/>
          <p:cNvSpPr/>
          <p:nvPr/>
        </p:nvSpPr>
        <p:spPr>
          <a:xfrm>
            <a:off x="0" y="1965960"/>
            <a:ext cx="12191695" cy="320040"/>
          </a:xfrm>
          <a:prstGeom prst="rect">
            <a:avLst/>
          </a:prstGeom>
          <a:noFill/>
          <a:ln/>
        </p:spPr>
        <p:txBody>
          <a:bodyPr wrap="square" rtlCol="0" anchor="ctr"/>
          <a:lstStyle/>
          <a:p>
            <a:pPr algn="ctr" indent="0" marL="0">
              <a:buNone/>
            </a:pPr>
            <a:r>
              <a:rPr lang="en-US" sz="1300" b="1" spc="200" kern="0" dirty="0">
                <a:solidFill>
                  <a:srgbClr val="5B9BD5"/>
                </a:solidFill>
                <a:latin typeface="Calibri" pitchFamily="34" charset="0"/>
                <a:ea typeface="Calibri" pitchFamily="34" charset="-122"/>
                <a:cs typeface="Calibri" pitchFamily="34" charset="-120"/>
              </a:rPr>
              <a:t>PHASE 2 · NODE RANKER &amp; BEYOND</a:t>
            </a:r>
            <a:endParaRPr lang="en-US" sz="1300" dirty="0"/>
          </a:p>
        </p:txBody>
      </p:sp>
      <p:sp>
        <p:nvSpPr>
          <p:cNvPr id="3" name="Text 1"/>
          <p:cNvSpPr/>
          <p:nvPr/>
        </p:nvSpPr>
        <p:spPr>
          <a:xfrm>
            <a:off x="0" y="2331720"/>
            <a:ext cx="12191695" cy="777240"/>
          </a:xfrm>
          <a:prstGeom prst="rect">
            <a:avLst/>
          </a:prstGeom>
          <a:noFill/>
          <a:ln/>
        </p:spPr>
        <p:txBody>
          <a:bodyPr wrap="square" rtlCol="0" anchor="ctr"/>
          <a:lstStyle/>
          <a:p>
            <a:pPr algn="ctr" indent="0" marL="0">
              <a:buNone/>
            </a:pPr>
            <a:r>
              <a:rPr lang="en-US" sz="4000" b="1" dirty="0">
                <a:solidFill>
                  <a:srgbClr val="E6EDF5"/>
                </a:solidFill>
                <a:latin typeface="Calibri" pitchFamily="34" charset="0"/>
                <a:ea typeface="Calibri" pitchFamily="34" charset="-122"/>
                <a:cs typeface="Calibri" pitchFamily="34" charset="-120"/>
              </a:rPr>
              <a:t>Phase 2 — First Review</a:t>
            </a:r>
            <a:endParaRPr lang="en-US" sz="4000" dirty="0"/>
          </a:p>
        </p:txBody>
      </p:sp>
      <p:sp>
        <p:nvSpPr>
          <p:cNvPr id="4" name="Text 2"/>
          <p:cNvSpPr/>
          <p:nvPr/>
        </p:nvSpPr>
        <p:spPr>
          <a:xfrm>
            <a:off x="0" y="3108960"/>
            <a:ext cx="12191695" cy="411480"/>
          </a:xfrm>
          <a:prstGeom prst="rect">
            <a:avLst/>
          </a:prstGeom>
          <a:noFill/>
          <a:ln/>
        </p:spPr>
        <p:txBody>
          <a:bodyPr wrap="square" rtlCol="0" anchor="ctr"/>
          <a:lstStyle/>
          <a:p>
            <a:pPr algn="ctr" indent="0" marL="0">
              <a:buNone/>
            </a:pPr>
            <a:r>
              <a:rPr lang="en-US" sz="1600" dirty="0">
                <a:solidFill>
                  <a:srgbClr val="8AA0B8"/>
                </a:solidFill>
                <a:latin typeface="Calibri" pitchFamily="34" charset="0"/>
                <a:ea typeface="Calibri" pitchFamily="34" charset="-122"/>
                <a:cs typeface="Calibri" pitchFamily="34" charset="-120"/>
              </a:rPr>
              <a:t>AI-Assisted 3D Assembly Design</a:t>
            </a:r>
            <a:endParaRPr lang="en-US" sz="1600" dirty="0"/>
          </a:p>
        </p:txBody>
      </p:sp>
      <p:sp>
        <p:nvSpPr>
          <p:cNvPr id="5" name="Text 3"/>
          <p:cNvSpPr/>
          <p:nvPr/>
        </p:nvSpPr>
        <p:spPr>
          <a:xfrm>
            <a:off x="0" y="3794760"/>
            <a:ext cx="12191695" cy="1463040"/>
          </a:xfrm>
          <a:prstGeom prst="rect">
            <a:avLst/>
          </a:prstGeom>
          <a:noFill/>
          <a:ln/>
        </p:spPr>
        <p:txBody>
          <a:bodyPr wrap="square" rtlCol="0" anchor="t"/>
          <a:lstStyle/>
          <a:p>
            <a:pPr algn="ctr" indent="0" marL="0">
              <a:buNone/>
            </a:pPr>
            <a:r>
              <a:rPr lang="en-US" sz="1300" b="1" dirty="0">
                <a:solidFill>
                  <a:srgbClr val="E6EDF5"/>
                </a:solidFill>
                <a:latin typeface="Calibri" pitchFamily="34" charset="0"/>
                <a:ea typeface="Calibri" pitchFamily="34" charset="-122"/>
                <a:cs typeface="Calibri" pitchFamily="34" charset="-120"/>
              </a:rPr>
              <a:t>Presented by: </a:t>
            </a:r>
            <a:pPr algn="ctr" indent="0" marL="0">
              <a:spcAft>
                <a:spcPts val="400"/>
              </a:spcAft>
              <a:buNone/>
            </a:pPr>
            <a:r>
              <a:rPr lang="en-US" sz="1300" dirty="0">
                <a:solidFill>
                  <a:srgbClr val="CFD9E6"/>
                </a:solidFill>
                <a:latin typeface="Calibri" pitchFamily="34" charset="0"/>
                <a:ea typeface="Calibri" pitchFamily="34" charset="-122"/>
                <a:cs typeface="Calibri" pitchFamily="34" charset="-120"/>
              </a:rPr>
              <a:t>Parthasarathy Perumal   ·   SRN PES2PGE24DS193</a:t>
            </a:r>
            <a:endParaRPr lang="en-US" sz="1300" dirty="0"/>
          </a:p>
          <a:p>
            <a:pPr algn="ctr" indent="0" marL="0">
              <a:buNone/>
            </a:pPr>
            <a:r>
              <a:rPr lang="en-US" sz="1300" b="1" dirty="0">
                <a:solidFill>
                  <a:srgbClr val="E6EDF5"/>
                </a:solidFill>
                <a:latin typeface="Calibri" pitchFamily="34" charset="0"/>
                <a:ea typeface="Calibri" pitchFamily="34" charset="-122"/>
                <a:cs typeface="Calibri" pitchFamily="34" charset="-120"/>
              </a:rPr>
              <a:t>Guide: </a:t>
            </a:r>
            <a:pPr algn="ctr" indent="0" marL="0">
              <a:spcAft>
                <a:spcPts val="400"/>
              </a:spcAft>
              <a:buNone/>
            </a:pPr>
            <a:r>
              <a:rPr lang="en-US" sz="1300" dirty="0">
                <a:solidFill>
                  <a:srgbClr val="CFD9E6"/>
                </a:solidFill>
                <a:latin typeface="Calibri" pitchFamily="34" charset="0"/>
                <a:ea typeface="Calibri" pitchFamily="34" charset="-122"/>
                <a:cs typeface="Calibri" pitchFamily="34" charset="-120"/>
              </a:rPr>
              <a:t>Prof. Gaurav Siwal (Phase 2)</a:t>
            </a:r>
            <a:endParaRPr lang="en-US" sz="1300" dirty="0"/>
          </a:p>
          <a:p>
            <a:pPr algn="ctr" indent="0" marL="0">
              <a:spcAft>
                <a:spcPts val="1000"/>
              </a:spcAft>
              <a:buNone/>
            </a:pPr>
            <a:r>
              <a:rPr lang="en-US" sz="1300" dirty="0">
                <a:solidFill>
                  <a:srgbClr val="8AA0B8"/>
                </a:solidFill>
                <a:latin typeface="Calibri" pitchFamily="34" charset="0"/>
                <a:ea typeface="Calibri" pitchFamily="34" charset="-122"/>
                <a:cs typeface="Calibri" pitchFamily="34" charset="-120"/>
              </a:rPr>
              <a:t>MTECH — Data Science &amp; AI, PES University Bengaluru</a:t>
            </a:r>
            <a:endParaRPr lang="en-US" sz="1300" dirty="0"/>
          </a:p>
          <a:p>
            <a:pPr algn="ctr" indent="0" marL="0">
              <a:buNone/>
            </a:pPr>
            <a:r>
              <a:rPr lang="en-US" sz="1100" dirty="0">
                <a:solidFill>
                  <a:srgbClr val="8AA0B8"/>
                </a:solidFill>
                <a:latin typeface="Calibri" pitchFamily="34" charset="0"/>
                <a:ea typeface="Calibri" pitchFamily="34" charset="-122"/>
                <a:cs typeface="Calibri" pitchFamily="34" charset="-120"/>
              </a:rPr>
              <a:t>25 July 2026</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121F"/>
        </a:solidFill>
      </p:bgPr>
    </p:bg>
    <p:spTree>
      <p:nvGrpSpPr>
        <p:cNvPr id="1" name=""/>
        <p:cNvGrpSpPr/>
        <p:nvPr/>
      </p:nvGrpSpPr>
      <p:grpSpPr>
        <a:xfrm>
          <a:off x="0" y="0"/>
          <a:ext cx="0" cy="0"/>
          <a:chOff x="0" y="0"/>
          <a:chExt cx="0" cy="0"/>
        </a:xfrm>
      </p:grpSpPr>
      <p:sp>
        <p:nvSpPr>
          <p:cNvPr id="2" name="Text 0"/>
          <p:cNvSpPr/>
          <p:nvPr/>
        </p:nvSpPr>
        <p:spPr>
          <a:xfrm>
            <a:off x="457200" y="292608"/>
            <a:ext cx="11277295" cy="274320"/>
          </a:xfrm>
          <a:prstGeom prst="rect">
            <a:avLst/>
          </a:prstGeom>
          <a:noFill/>
          <a:ln/>
        </p:spPr>
        <p:txBody>
          <a:bodyPr wrap="square" rtlCol="0" anchor="ctr"/>
          <a:lstStyle/>
          <a:p>
            <a:pPr indent="0" marL="0">
              <a:buNone/>
            </a:pPr>
            <a:r>
              <a:rPr lang="en-US" sz="1100" b="1" spc="150" kern="0" dirty="0">
                <a:solidFill>
                  <a:srgbClr val="5B9BD5"/>
                </a:solidFill>
                <a:latin typeface="Calibri" pitchFamily="34" charset="0"/>
                <a:ea typeface="Calibri" pitchFamily="34" charset="-122"/>
                <a:cs typeface="Calibri" pitchFamily="34" charset="-120"/>
              </a:rPr>
              <a:t>AGENDA</a:t>
            </a:r>
            <a:endParaRPr lang="en-US" sz="1100" dirty="0"/>
          </a:p>
        </p:txBody>
      </p:sp>
      <p:sp>
        <p:nvSpPr>
          <p:cNvPr id="3" name="Text 1"/>
          <p:cNvSpPr/>
          <p:nvPr/>
        </p:nvSpPr>
        <p:spPr>
          <a:xfrm>
            <a:off x="457200" y="566928"/>
            <a:ext cx="11277295" cy="502920"/>
          </a:xfrm>
          <a:prstGeom prst="rect">
            <a:avLst/>
          </a:prstGeom>
          <a:noFill/>
          <a:ln/>
        </p:spPr>
        <p:txBody>
          <a:bodyPr wrap="square" rtlCol="0" anchor="t"/>
          <a:lstStyle/>
          <a:p>
            <a:pPr indent="0" marL="0">
              <a:buNone/>
            </a:pPr>
            <a:r>
              <a:rPr lang="en-US" sz="2600" b="1" dirty="0">
                <a:solidFill>
                  <a:srgbClr val="E6EDF5"/>
                </a:solidFill>
                <a:latin typeface="Calibri" pitchFamily="34" charset="0"/>
                <a:ea typeface="Calibri" pitchFamily="34" charset="-122"/>
                <a:cs typeface="Calibri" pitchFamily="34" charset="-120"/>
              </a:rPr>
              <a:t>What we'll cover today</a:t>
            </a:r>
            <a:endParaRPr lang="en-US" sz="2600" dirty="0"/>
          </a:p>
        </p:txBody>
      </p:sp>
      <p:sp>
        <p:nvSpPr>
          <p:cNvPr id="4" name="Shape 2"/>
          <p:cNvSpPr/>
          <p:nvPr/>
        </p:nvSpPr>
        <p:spPr>
          <a:xfrm>
            <a:off x="457200" y="1234440"/>
            <a:ext cx="5440680" cy="4206240"/>
          </a:xfrm>
          <a:prstGeom prst="roundRect">
            <a:avLst>
              <a:gd name="adj" fmla="val 1304"/>
            </a:avLst>
          </a:prstGeom>
          <a:solidFill>
            <a:srgbClr val="142338"/>
          </a:solidFill>
          <a:ln w="12700">
            <a:solidFill>
              <a:srgbClr val="24405F"/>
            </a:solidFill>
            <a:prstDash val="solid"/>
          </a:ln>
        </p:spPr>
      </p:sp>
      <p:sp>
        <p:nvSpPr>
          <p:cNvPr id="5" name="Text 3"/>
          <p:cNvSpPr/>
          <p:nvPr/>
        </p:nvSpPr>
        <p:spPr>
          <a:xfrm>
            <a:off x="621792" y="1399032"/>
            <a:ext cx="5111496" cy="292608"/>
          </a:xfrm>
          <a:prstGeom prst="rect">
            <a:avLst/>
          </a:prstGeom>
          <a:noFill/>
          <a:ln/>
        </p:spPr>
        <p:txBody>
          <a:bodyPr wrap="square" rtlCol="0" anchor="ctr"/>
          <a:lstStyle/>
          <a:p>
            <a:pPr indent="0" marL="0">
              <a:buNone/>
            </a:pPr>
            <a:r>
              <a:rPr lang="en-US" sz="1300" b="1" dirty="0">
                <a:solidFill>
                  <a:srgbClr val="5B9BD5"/>
                </a:solidFill>
                <a:latin typeface="Calibri" pitchFamily="34" charset="0"/>
                <a:ea typeface="Calibri" pitchFamily="34" charset="-122"/>
                <a:cs typeface="Calibri" pitchFamily="34" charset="-120"/>
              </a:rPr>
              <a:t>Foundation</a:t>
            </a:r>
            <a:endParaRPr lang="en-US" sz="1300" dirty="0"/>
          </a:p>
        </p:txBody>
      </p:sp>
      <p:sp>
        <p:nvSpPr>
          <p:cNvPr id="6" name="Text 4"/>
          <p:cNvSpPr/>
          <p:nvPr/>
        </p:nvSpPr>
        <p:spPr>
          <a:xfrm>
            <a:off x="621792" y="1728216"/>
            <a:ext cx="5111496" cy="3547872"/>
          </a:xfrm>
          <a:prstGeom prst="rect">
            <a:avLst/>
          </a:prstGeom>
          <a:noFill/>
          <a:ln/>
        </p:spPr>
        <p:txBody>
          <a:bodyPr wrap="square" rtlCol="0" anchor="t"/>
          <a:lstStyle/>
          <a:p>
            <a:pPr marL="177800" indent="-177800">
              <a:lnSpc>
                <a:spcPct val="115000"/>
              </a:lnSpc>
              <a:spcAft>
                <a:spcPts val="600"/>
              </a:spcAft>
              <a:buSzPct val="100000"/>
              <a:buChar char="•"/>
            </a:pPr>
            <a:r>
              <a:rPr lang="en-US" sz="1200" dirty="0">
                <a:solidFill>
                  <a:srgbClr val="CFD9E6"/>
                </a:solidFill>
                <a:latin typeface="Calibri" pitchFamily="34" charset="0"/>
                <a:ea typeface="Calibri" pitchFamily="34" charset="-122"/>
                <a:cs typeface="Calibri" pitchFamily="34" charset="-120"/>
              </a:rPr>
              <a:t>Phase 1 review summary</a:t>
            </a:r>
            <a:endParaRPr lang="en-US" sz="1200" dirty="0"/>
          </a:p>
          <a:p>
            <a:pPr marL="177800" indent="-177800">
              <a:lnSpc>
                <a:spcPct val="115000"/>
              </a:lnSpc>
              <a:spcAft>
                <a:spcPts val="600"/>
              </a:spcAft>
              <a:buSzPct val="100000"/>
              <a:buChar char="•"/>
            </a:pPr>
            <a:r>
              <a:rPr lang="en-US" sz="1200" dirty="0">
                <a:solidFill>
                  <a:srgbClr val="CFD9E6"/>
                </a:solidFill>
                <a:latin typeface="Calibri" pitchFamily="34" charset="0"/>
                <a:ea typeface="Calibri" pitchFamily="34" charset="-122"/>
                <a:cs typeface="Calibri" pitchFamily="34" charset="-120"/>
              </a:rPr>
              <a:t>Novelty proposal</a:t>
            </a:r>
            <a:endParaRPr lang="en-US" sz="1200" dirty="0"/>
          </a:p>
          <a:p>
            <a:pPr marL="177800" indent="-177800">
              <a:lnSpc>
                <a:spcPct val="115000"/>
              </a:lnSpc>
              <a:spcAft>
                <a:spcPts val="600"/>
              </a:spcAft>
              <a:buSzPct val="100000"/>
              <a:buChar char="•"/>
            </a:pPr>
            <a:r>
              <a:rPr lang="en-US" sz="1200" dirty="0">
                <a:solidFill>
                  <a:srgbClr val="CFD9E6"/>
                </a:solidFill>
                <a:latin typeface="Calibri" pitchFamily="34" charset="0"/>
                <a:ea typeface="Calibri" pitchFamily="34" charset="-122"/>
                <a:cs typeface="Calibri" pitchFamily="34" charset="-120"/>
              </a:rPr>
              <a:t>Title &amp;amp; abstract</a:t>
            </a:r>
            <a:endParaRPr lang="en-US" sz="1200" dirty="0"/>
          </a:p>
        </p:txBody>
      </p:sp>
      <p:sp>
        <p:nvSpPr>
          <p:cNvPr id="7" name="Shape 5"/>
          <p:cNvSpPr/>
          <p:nvPr/>
        </p:nvSpPr>
        <p:spPr>
          <a:xfrm>
            <a:off x="6080760" y="1234440"/>
            <a:ext cx="5696712" cy="4206240"/>
          </a:xfrm>
          <a:prstGeom prst="roundRect">
            <a:avLst>
              <a:gd name="adj" fmla="val 1304"/>
            </a:avLst>
          </a:prstGeom>
          <a:solidFill>
            <a:srgbClr val="142338"/>
          </a:solidFill>
          <a:ln w="12700">
            <a:solidFill>
              <a:srgbClr val="24405F"/>
            </a:solidFill>
            <a:prstDash val="solid"/>
          </a:ln>
        </p:spPr>
      </p:sp>
      <p:sp>
        <p:nvSpPr>
          <p:cNvPr id="8" name="Text 6"/>
          <p:cNvSpPr/>
          <p:nvPr/>
        </p:nvSpPr>
        <p:spPr>
          <a:xfrm>
            <a:off x="6245352" y="1399032"/>
            <a:ext cx="5367528" cy="292608"/>
          </a:xfrm>
          <a:prstGeom prst="rect">
            <a:avLst/>
          </a:prstGeom>
          <a:noFill/>
          <a:ln/>
        </p:spPr>
        <p:txBody>
          <a:bodyPr wrap="square" rtlCol="0" anchor="ctr"/>
          <a:lstStyle/>
          <a:p>
            <a:pPr indent="0" marL="0">
              <a:buNone/>
            </a:pPr>
            <a:r>
              <a:rPr lang="en-US" sz="1300" b="1" dirty="0">
                <a:solidFill>
                  <a:srgbClr val="8B5CF6"/>
                </a:solidFill>
                <a:latin typeface="Calibri" pitchFamily="34" charset="0"/>
                <a:ea typeface="Calibri" pitchFamily="34" charset="-122"/>
                <a:cs typeface="Calibri" pitchFamily="34" charset="-120"/>
              </a:rPr>
              <a:t>Phase 2 &amp;amp; beyond</a:t>
            </a:r>
            <a:endParaRPr lang="en-US" sz="1300" dirty="0"/>
          </a:p>
        </p:txBody>
      </p:sp>
      <p:sp>
        <p:nvSpPr>
          <p:cNvPr id="9" name="Text 7"/>
          <p:cNvSpPr/>
          <p:nvPr/>
        </p:nvSpPr>
        <p:spPr>
          <a:xfrm>
            <a:off x="6245352" y="1728216"/>
            <a:ext cx="5367528" cy="3547872"/>
          </a:xfrm>
          <a:prstGeom prst="rect">
            <a:avLst/>
          </a:prstGeom>
          <a:noFill/>
          <a:ln/>
        </p:spPr>
        <p:txBody>
          <a:bodyPr wrap="square" rtlCol="0" anchor="t"/>
          <a:lstStyle/>
          <a:p>
            <a:pPr marL="177800" indent="-177800">
              <a:lnSpc>
                <a:spcPct val="115000"/>
              </a:lnSpc>
              <a:spcAft>
                <a:spcPts val="600"/>
              </a:spcAft>
              <a:buSzPct val="100000"/>
              <a:buChar char="•"/>
            </a:pPr>
            <a:r>
              <a:rPr lang="en-US" sz="1200" dirty="0">
                <a:solidFill>
                  <a:srgbClr val="CFD9E6"/>
                </a:solidFill>
                <a:latin typeface="Calibri" pitchFamily="34" charset="0"/>
                <a:ea typeface="Calibri" pitchFamily="34" charset="-122"/>
                <a:cs typeface="Calibri" pitchFamily="34" charset="-120"/>
              </a:rPr>
              <a:t>Proposed system (Phase 2) and algorithms/techniques</a:t>
            </a:r>
            <a:endParaRPr lang="en-US" sz="1200" dirty="0"/>
          </a:p>
          <a:p>
            <a:pPr marL="177800" indent="-177800">
              <a:lnSpc>
                <a:spcPct val="115000"/>
              </a:lnSpc>
              <a:spcAft>
                <a:spcPts val="600"/>
              </a:spcAft>
              <a:buSzPct val="100000"/>
              <a:buChar char="•"/>
            </a:pPr>
            <a:r>
              <a:rPr lang="en-US" sz="1200" dirty="0">
                <a:solidFill>
                  <a:srgbClr val="CFD9E6"/>
                </a:solidFill>
                <a:latin typeface="Calibri" pitchFamily="34" charset="0"/>
                <a:ea typeface="Calibri" pitchFamily="34" charset="-122"/>
                <a:cs typeface="Calibri" pitchFamily="34" charset="-120"/>
              </a:rPr>
              <a:t>Training history — R29 / R30 / R31</a:t>
            </a:r>
            <a:endParaRPr lang="en-US" sz="1200" dirty="0"/>
          </a:p>
          <a:p>
            <a:pPr marL="177800" indent="-177800">
              <a:lnSpc>
                <a:spcPct val="115000"/>
              </a:lnSpc>
              <a:spcAft>
                <a:spcPts val="600"/>
              </a:spcAft>
              <a:buSzPct val="100000"/>
              <a:buChar char="•"/>
            </a:pPr>
            <a:r>
              <a:rPr lang="en-US" sz="1200" dirty="0">
                <a:solidFill>
                  <a:srgbClr val="CFD9E6"/>
                </a:solidFill>
                <a:latin typeface="Calibri" pitchFamily="34" charset="0"/>
                <a:ea typeface="Calibri" pitchFamily="34" charset="-122"/>
                <a:cs typeface="Calibri" pitchFamily="34" charset="-120"/>
              </a:rPr>
              <a:t>Guidance follow-up: cloud compute cost research (INR) &amp;amp; scope decision</a:t>
            </a:r>
            <a:endParaRPr lang="en-US" sz="1200" dirty="0"/>
          </a:p>
          <a:p>
            <a:pPr marL="177800" indent="-177800">
              <a:lnSpc>
                <a:spcPct val="115000"/>
              </a:lnSpc>
              <a:spcAft>
                <a:spcPts val="600"/>
              </a:spcAft>
              <a:buSzPct val="100000"/>
              <a:buChar char="•"/>
            </a:pPr>
            <a:r>
              <a:rPr lang="en-US" sz="1200" dirty="0">
                <a:solidFill>
                  <a:srgbClr val="CFD9E6"/>
                </a:solidFill>
                <a:latin typeface="Calibri" pitchFamily="34" charset="0"/>
                <a:ea typeface="Calibri" pitchFamily="34" charset="-122"/>
                <a:cs typeface="Calibri" pitchFamily="34" charset="-120"/>
              </a:rPr>
              <a:t>Guidance follow-up: 3D generative completion (Path A / Path B, Phase 3 scope)</a:t>
            </a:r>
            <a:endParaRPr lang="en-US" sz="1200" dirty="0"/>
          </a:p>
          <a:p>
            <a:pPr marL="177800" indent="-177800">
              <a:lnSpc>
                <a:spcPct val="115000"/>
              </a:lnSpc>
              <a:spcAft>
                <a:spcPts val="600"/>
              </a:spcAft>
              <a:buSzPct val="100000"/>
              <a:buChar char="•"/>
            </a:pPr>
            <a:r>
              <a:rPr lang="en-US" sz="1200" dirty="0">
                <a:solidFill>
                  <a:srgbClr val="CFD9E6"/>
                </a:solidFill>
                <a:latin typeface="Calibri" pitchFamily="34" charset="0"/>
                <a:ea typeface="Calibri" pitchFamily="34" charset="-122"/>
                <a:cs typeface="Calibri" pitchFamily="34" charset="-120"/>
              </a:rPr>
              <a:t>Expected outcomes &amp;amp; references</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121F"/>
        </a:solidFill>
      </p:bgPr>
    </p:bg>
    <p:spTree>
      <p:nvGrpSpPr>
        <p:cNvPr id="1" name=""/>
        <p:cNvGrpSpPr/>
        <p:nvPr/>
      </p:nvGrpSpPr>
      <p:grpSpPr>
        <a:xfrm>
          <a:off x="0" y="0"/>
          <a:ext cx="0" cy="0"/>
          <a:chOff x="0" y="0"/>
          <a:chExt cx="0" cy="0"/>
        </a:xfrm>
      </p:grpSpPr>
      <p:sp>
        <p:nvSpPr>
          <p:cNvPr id="2" name="Text 0"/>
          <p:cNvSpPr/>
          <p:nvPr/>
        </p:nvSpPr>
        <p:spPr>
          <a:xfrm>
            <a:off x="457200" y="292608"/>
            <a:ext cx="11277295" cy="274320"/>
          </a:xfrm>
          <a:prstGeom prst="rect">
            <a:avLst/>
          </a:prstGeom>
          <a:noFill/>
          <a:ln/>
        </p:spPr>
        <p:txBody>
          <a:bodyPr wrap="square" rtlCol="0" anchor="ctr"/>
          <a:lstStyle/>
          <a:p>
            <a:pPr indent="0" marL="0">
              <a:buNone/>
            </a:pPr>
            <a:r>
              <a:rPr lang="en-US" sz="1100" b="1" spc="150" kern="0" dirty="0">
                <a:solidFill>
                  <a:srgbClr val="5B9BD5"/>
                </a:solidFill>
                <a:latin typeface="Calibri" pitchFamily="34" charset="0"/>
                <a:ea typeface="Calibri" pitchFamily="34" charset="-122"/>
                <a:cs typeface="Calibri" pitchFamily="34" charset="-120"/>
              </a:rPr>
              <a:t>1 · RECAP</a:t>
            </a:r>
            <a:endParaRPr lang="en-US" sz="1100" dirty="0"/>
          </a:p>
        </p:txBody>
      </p:sp>
      <p:sp>
        <p:nvSpPr>
          <p:cNvPr id="3" name="Text 1"/>
          <p:cNvSpPr/>
          <p:nvPr/>
        </p:nvSpPr>
        <p:spPr>
          <a:xfrm>
            <a:off x="457200" y="566928"/>
            <a:ext cx="11277295" cy="502920"/>
          </a:xfrm>
          <a:prstGeom prst="rect">
            <a:avLst/>
          </a:prstGeom>
          <a:noFill/>
          <a:ln/>
        </p:spPr>
        <p:txBody>
          <a:bodyPr wrap="square" rtlCol="0" anchor="t"/>
          <a:lstStyle/>
          <a:p>
            <a:pPr indent="0" marL="0">
              <a:buNone/>
            </a:pPr>
            <a:r>
              <a:rPr lang="en-US" sz="2600" b="1" dirty="0">
                <a:solidFill>
                  <a:srgbClr val="E6EDF5"/>
                </a:solidFill>
                <a:latin typeface="Calibri" pitchFamily="34" charset="0"/>
                <a:ea typeface="Calibri" pitchFamily="34" charset="-122"/>
                <a:cs typeface="Calibri" pitchFamily="34" charset="-120"/>
              </a:rPr>
              <a:t>Phase 1 review summary</a:t>
            </a:r>
            <a:pPr indent="0" marL="0">
              <a:buNone/>
            </a:pPr>
            <a:r>
              <a:rPr lang="en-US" sz="1200" b="1" dirty="0">
                <a:solidFill>
                  <a:srgbClr val="4CAF82"/>
                </a:solidFill>
                <a:latin typeface="Calibri" pitchFamily="34" charset="0"/>
                <a:ea typeface="Calibri" pitchFamily="34" charset="-122"/>
                <a:cs typeface="Calibri" pitchFamily="34" charset="-120"/>
              </a:rPr>
              <a:t>  COMPLETE</a:t>
            </a:r>
            <a:endParaRPr lang="en-US" sz="2600" dirty="0"/>
          </a:p>
        </p:txBody>
      </p:sp>
      <p:sp>
        <p:nvSpPr>
          <p:cNvPr id="4" name="Shape 2"/>
          <p:cNvSpPr/>
          <p:nvPr/>
        </p:nvSpPr>
        <p:spPr>
          <a:xfrm>
            <a:off x="457200" y="1234440"/>
            <a:ext cx="5486400" cy="5120640"/>
          </a:xfrm>
          <a:prstGeom prst="roundRect">
            <a:avLst>
              <a:gd name="adj" fmla="val 1071"/>
            </a:avLst>
          </a:prstGeom>
          <a:solidFill>
            <a:srgbClr val="142338"/>
          </a:solidFill>
          <a:ln w="12700">
            <a:solidFill>
              <a:srgbClr val="24405F"/>
            </a:solidFill>
            <a:prstDash val="solid"/>
          </a:ln>
        </p:spPr>
      </p:sp>
      <p:sp>
        <p:nvSpPr>
          <p:cNvPr id="5" name="Text 3"/>
          <p:cNvSpPr/>
          <p:nvPr/>
        </p:nvSpPr>
        <p:spPr>
          <a:xfrm>
            <a:off x="621792" y="1399032"/>
            <a:ext cx="5157216" cy="292608"/>
          </a:xfrm>
          <a:prstGeom prst="rect">
            <a:avLst/>
          </a:prstGeom>
          <a:noFill/>
          <a:ln/>
        </p:spPr>
        <p:txBody>
          <a:bodyPr wrap="square" rtlCol="0" anchor="ctr"/>
          <a:lstStyle/>
          <a:p>
            <a:pPr indent="0" marL="0">
              <a:buNone/>
            </a:pPr>
            <a:r>
              <a:rPr lang="en-US" sz="1300" b="1" dirty="0">
                <a:solidFill>
                  <a:srgbClr val="4CAF82"/>
                </a:solidFill>
                <a:latin typeface="Calibri" pitchFamily="34" charset="0"/>
                <a:ea typeface="Calibri" pitchFamily="34" charset="-122"/>
                <a:cs typeface="Calibri" pitchFamily="34" charset="-120"/>
              </a:rPr>
              <a:t>What was built</a:t>
            </a:r>
            <a:endParaRPr lang="en-US" sz="1300" dirty="0"/>
          </a:p>
        </p:txBody>
      </p:sp>
      <p:sp>
        <p:nvSpPr>
          <p:cNvPr id="6" name="Text 4"/>
          <p:cNvSpPr/>
          <p:nvPr/>
        </p:nvSpPr>
        <p:spPr>
          <a:xfrm>
            <a:off x="621792" y="1728216"/>
            <a:ext cx="5157216" cy="4462272"/>
          </a:xfrm>
          <a:prstGeom prst="rect">
            <a:avLst/>
          </a:prstGeom>
          <a:noFill/>
          <a:ln/>
        </p:spPr>
        <p:txBody>
          <a:bodyPr wrap="square" rtlCol="0" anchor="t"/>
          <a:lstStyle/>
          <a:p>
            <a:pPr marL="177800" indent="-177800">
              <a:lnSpc>
                <a:spcPct val="115000"/>
              </a:lnSpc>
              <a:spcAft>
                <a:spcPts val="600"/>
              </a:spcAft>
              <a:buSzPct val="100000"/>
              <a:buChar char="•"/>
            </a:pPr>
            <a:r>
              <a:rPr lang="en-US" sz="1200" dirty="0">
                <a:solidFill>
                  <a:srgbClr val="CFD9E6"/>
                </a:solidFill>
                <a:latin typeface="Calibri" pitchFamily="34" charset="0"/>
                <a:ea typeface="Calibri" pitchFamily="34" charset="-122"/>
                <a:cs typeface="Calibri" pitchFamily="34" charset="-120"/>
              </a:rPr>
              <a:t>STEP file → gmsh + OpenCASCADE + trimesh/SDF → 22-dim node / 6-dim edge assembly graph</a:t>
            </a:r>
            <a:endParaRPr lang="en-US" sz="1200" dirty="0"/>
          </a:p>
          <a:p>
            <a:pPr marL="177800" indent="-177800">
              <a:lnSpc>
                <a:spcPct val="115000"/>
              </a:lnSpc>
              <a:spcAft>
                <a:spcPts val="600"/>
              </a:spcAft>
              <a:buSzPct val="100000"/>
              <a:buChar char="•"/>
            </a:pPr>
            <a:r>
              <a:rPr lang="en-US" sz="1200" dirty="0">
                <a:solidFill>
                  <a:srgbClr val="CFD9E6"/>
                </a:solidFill>
                <a:latin typeface="Calibri" pitchFamily="34" charset="0"/>
                <a:ea typeface="Calibri" pitchFamily="34" charset="-122"/>
                <a:cs typeface="Calibri" pitchFamily="34" charset="-120"/>
              </a:rPr>
              <a:t>3-layer GAT encoder (</a:t>
            </a:r>
            <a:endParaRPr lang="en-US" sz="1200" dirty="0"/>
          </a:p>
          <a:p>
            <a:pPr indent="0" marL="0">
              <a:lnSpc>
                <a:spcPct val="115000"/>
              </a:lnSpc>
              <a:buNone/>
            </a:pPr>
            <a:r>
              <a:rPr lang="en-US" sz="1200" dirty="0">
                <a:solidFill>
                  <a:srgbClr val="FFD9A0"/>
                </a:solidFill>
                <a:latin typeface="Consolas" pitchFamily="34" charset="0"/>
                <a:ea typeface="Consolas" pitchFamily="34" charset="-122"/>
                <a:cs typeface="Consolas" pitchFamily="34" charset="-120"/>
              </a:rPr>
              <a:t>AssemblyGNN</a:t>
            </a:r>
            <a:pPr indent="0" marL="0">
              <a:lnSpc>
                <a:spcPct val="115000"/>
              </a:lnSpc>
              <a:buNone/>
            </a:pPr>
            <a:r>
              <a:rPr lang="en-US" sz="1200" dirty="0">
                <a:solidFill>
                  <a:srgbClr val="CFD9E6"/>
                </a:solidFill>
                <a:latin typeface="Calibri" pitchFamily="34" charset="0"/>
                <a:ea typeface="Calibri" pitchFamily="34" charset="-122"/>
                <a:cs typeface="Calibri" pitchFamily="34" charset="-120"/>
              </a:rPr>
              <a:t>) + </a:t>
            </a:r>
            <a:pPr indent="0" marL="0">
              <a:lnSpc>
                <a:spcPct val="115000"/>
              </a:lnSpc>
              <a:buNone/>
            </a:pPr>
            <a:r>
              <a:rPr lang="en-US" sz="1200" dirty="0">
                <a:solidFill>
                  <a:srgbClr val="FFD9A0"/>
                </a:solidFill>
                <a:latin typeface="Consolas" pitchFamily="34" charset="0"/>
                <a:ea typeface="Consolas" pitchFamily="34" charset="-122"/>
                <a:cs typeface="Consolas" pitchFamily="34" charset="-120"/>
              </a:rPr>
              <a:t>LinkPredictor</a:t>
            </a:r>
            <a:pPr indent="0" marL="0">
              <a:lnSpc>
                <a:spcPct val="115000"/>
              </a:lnSpc>
              <a:buNone/>
            </a:pPr>
            <a:r>
              <a:rPr lang="en-US" sz="1200" dirty="0">
                <a:solidFill>
                  <a:srgbClr val="CFD9E6"/>
                </a:solidFill>
                <a:latin typeface="Calibri" pitchFamily="34" charset="0"/>
                <a:ea typeface="Calibri" pitchFamily="34" charset="-122"/>
                <a:cs typeface="Calibri" pitchFamily="34" charset="-120"/>
              </a:rPr>
              <a:t> MLP for missing-component (link prediction) detection</a:t>
            </a:r>
            <a:endParaRPr lang="en-US" sz="1200" dirty="0"/>
          </a:p>
          <a:p>
            <a:pPr marL="177800" indent="-177800">
              <a:lnSpc>
                <a:spcPct val="115000"/>
              </a:lnSpc>
              <a:spcAft>
                <a:spcPts val="600"/>
              </a:spcAft>
              <a:buSzPct val="100000"/>
              <a:buChar char="•"/>
            </a:pPr>
            <a:r>
              <a:rPr lang="en-US" sz="1200" dirty="0">
                <a:solidFill>
                  <a:srgbClr val="CFD9E6"/>
                </a:solidFill>
                <a:latin typeface="Calibri" pitchFamily="34" charset="0"/>
                <a:ea typeface="Calibri" pitchFamily="34" charset="-122"/>
                <a:cs typeface="Calibri" pitchFamily="34" charset="-120"/>
              </a:rPr>
              <a:t>5-fold cross-validated training, early stopping, checkpoint promotion gating</a:t>
            </a:r>
            <a:endParaRPr lang="en-US" sz="1200" dirty="0"/>
          </a:p>
          <a:p>
            <a:pPr marL="177800" indent="-177800">
              <a:lnSpc>
                <a:spcPct val="115000"/>
              </a:lnSpc>
              <a:spcAft>
                <a:spcPts val="600"/>
              </a:spcAft>
              <a:buSzPct val="100000"/>
              <a:buChar char="•"/>
            </a:pPr>
            <a:r>
              <a:rPr lang="en-US" sz="1200" b="1" dirty="0">
                <a:solidFill>
                  <a:srgbClr val="E6EDF5"/>
                </a:solidFill>
                <a:latin typeface="Calibri" pitchFamily="34" charset="0"/>
                <a:ea typeface="Calibri" pitchFamily="34" charset="-122"/>
                <a:cs typeface="Calibri" pitchFamily="34" charset="-120"/>
              </a:rPr>
              <a:t>AssemblyTemplateDB</a:t>
            </a:r>
            <a:pPr indent="0" marL="0">
              <a:lnSpc>
                <a:spcPct val="115000"/>
              </a:lnSpc>
              <a:buNone/>
            </a:pPr>
            <a:r>
              <a:rPr lang="en-US" sz="1200" dirty="0">
                <a:solidFill>
                  <a:srgbClr val="CFD9E6"/>
                </a:solidFill>
                <a:latin typeface="Calibri" pitchFamily="34" charset="0"/>
                <a:ea typeface="Calibri" pitchFamily="34" charset="-122"/>
                <a:cs typeface="Calibri" pitchFamily="34" charset="-120"/>
              </a:rPr>
              <a:t> — per-category component-type frequency templates</a:t>
            </a:r>
            <a:endParaRPr lang="en-US" sz="1200" dirty="0"/>
          </a:p>
          <a:p>
            <a:pPr marL="177800" indent="-177800">
              <a:lnSpc>
                <a:spcPct val="115000"/>
              </a:lnSpc>
              <a:spcAft>
                <a:spcPts val="600"/>
              </a:spcAft>
              <a:buSzPct val="100000"/>
              <a:buChar char="•"/>
            </a:pPr>
            <a:r>
              <a:rPr lang="en-US" sz="1200" b="1" dirty="0">
                <a:solidFill>
                  <a:srgbClr val="E6EDF5"/>
                </a:solidFill>
                <a:latin typeface="Calibri" pitchFamily="34" charset="0"/>
                <a:ea typeface="Calibri" pitchFamily="34" charset="-122"/>
                <a:cs typeface="Calibri" pitchFamily="34" charset="-120"/>
              </a:rPr>
              <a:t>Octree open-surface detector</a:t>
            </a:r>
            <a:pPr indent="0" marL="0">
              <a:lnSpc>
                <a:spcPct val="115000"/>
              </a:lnSpc>
              <a:buNone/>
            </a:pPr>
            <a:r>
              <a:rPr lang="en-US" sz="1200" dirty="0">
                <a:solidFill>
                  <a:srgbClr val="CFD9E6"/>
                </a:solidFill>
                <a:latin typeface="Calibri" pitchFamily="34" charset="0"/>
                <a:ea typeface="Calibri" pitchFamily="34" charset="-122"/>
                <a:cs typeface="Calibri" pitchFamily="34" charset="-120"/>
              </a:rPr>
              <a:t> — flags likely locations of missing parts on the 3D model</a:t>
            </a:r>
            <a:endParaRPr lang="en-US" sz="1200" dirty="0"/>
          </a:p>
          <a:p>
            <a:pPr marL="177800" indent="-177800">
              <a:lnSpc>
                <a:spcPct val="115000"/>
              </a:lnSpc>
              <a:spcAft>
                <a:spcPts val="600"/>
              </a:spcAft>
              <a:buSzPct val="100000"/>
              <a:buChar char="•"/>
            </a:pPr>
            <a:r>
              <a:rPr lang="en-US" sz="1200" b="1" dirty="0">
                <a:solidFill>
                  <a:srgbClr val="E6EDF5"/>
                </a:solidFill>
                <a:latin typeface="Calibri" pitchFamily="34" charset="0"/>
                <a:ea typeface="Calibri" pitchFamily="34" charset="-122"/>
                <a:cs typeface="Calibri" pitchFamily="34" charset="-120"/>
              </a:rPr>
              <a:t>AIDA</a:t>
            </a:r>
            <a:pPr indent="0" marL="0">
              <a:lnSpc>
                <a:spcPct val="115000"/>
              </a:lnSpc>
              <a:buNone/>
            </a:pPr>
            <a:r>
              <a:rPr lang="en-US" sz="1200" dirty="0">
                <a:solidFill>
                  <a:srgbClr val="CFD9E6"/>
                </a:solidFill>
                <a:latin typeface="Calibri" pitchFamily="34" charset="0"/>
                <a:ea typeface="Calibri" pitchFamily="34" charset="-122"/>
                <a:cs typeface="Calibri" pitchFamily="34" charset="-120"/>
              </a:rPr>
              <a:t> (Gemini Skills AI) — explains predictions in engineering language</a:t>
            </a:r>
            <a:endParaRPr lang="en-US" sz="1200" dirty="0"/>
          </a:p>
          <a:p>
            <a:pPr marL="177800" indent="-177800">
              <a:lnSpc>
                <a:spcPct val="115000"/>
              </a:lnSpc>
              <a:spcAft>
                <a:spcPts val="600"/>
              </a:spcAft>
              <a:buSzPct val="100000"/>
              <a:buChar char="•"/>
            </a:pPr>
            <a:r>
              <a:rPr lang="en-US" sz="1200" dirty="0">
                <a:solidFill>
                  <a:srgbClr val="CFD9E6"/>
                </a:solidFill>
                <a:latin typeface="Calibri" pitchFamily="34" charset="0"/>
                <a:ea typeface="Calibri" pitchFamily="34" charset="-122"/>
                <a:cs typeface="Calibri" pitchFamily="34" charset="-120"/>
              </a:rPr>
              <a:t>Streamlit dual-panel UI + FastAPI backend, both deployed and running</a:t>
            </a:r>
            <a:endParaRPr lang="en-US" sz="1200" dirty="0"/>
          </a:p>
        </p:txBody>
      </p:sp>
      <p:sp>
        <p:nvSpPr>
          <p:cNvPr id="7" name="Shape 5"/>
          <p:cNvSpPr/>
          <p:nvPr/>
        </p:nvSpPr>
        <p:spPr>
          <a:xfrm>
            <a:off x="6126480" y="1234440"/>
            <a:ext cx="5605272" cy="5120640"/>
          </a:xfrm>
          <a:prstGeom prst="roundRect">
            <a:avLst>
              <a:gd name="adj" fmla="val 1071"/>
            </a:avLst>
          </a:prstGeom>
          <a:solidFill>
            <a:srgbClr val="142338"/>
          </a:solidFill>
          <a:ln w="12700">
            <a:solidFill>
              <a:srgbClr val="24405F"/>
            </a:solidFill>
            <a:prstDash val="solid"/>
          </a:ln>
        </p:spPr>
      </p:sp>
      <p:sp>
        <p:nvSpPr>
          <p:cNvPr id="8" name="Text 6"/>
          <p:cNvSpPr/>
          <p:nvPr/>
        </p:nvSpPr>
        <p:spPr>
          <a:xfrm>
            <a:off x="6291072" y="1399032"/>
            <a:ext cx="5276088" cy="292608"/>
          </a:xfrm>
          <a:prstGeom prst="rect">
            <a:avLst/>
          </a:prstGeom>
          <a:noFill/>
          <a:ln/>
        </p:spPr>
        <p:txBody>
          <a:bodyPr wrap="square" rtlCol="0" anchor="ctr"/>
          <a:lstStyle/>
          <a:p>
            <a:pPr indent="0" marL="0">
              <a:buNone/>
            </a:pPr>
            <a:r>
              <a:rPr lang="en-US" sz="1300" b="1" dirty="0">
                <a:solidFill>
                  <a:srgbClr val="5B9BD5"/>
                </a:solidFill>
                <a:latin typeface="Calibri" pitchFamily="34" charset="0"/>
                <a:ea typeface="Calibri" pitchFamily="34" charset="-122"/>
                <a:cs typeface="Calibri" pitchFamily="34" charset="-120"/>
              </a:rPr>
              <a:t>Where Phase 1 ended</a:t>
            </a:r>
            <a:endParaRPr lang="en-US" sz="13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6291072" y="1783080"/>
          <a:ext cx="5276088" cy="914400"/>
        </p:xfrm>
        <a:graphic>
          <a:graphicData uri="http://schemas.openxmlformats.org/drawingml/2006/table">
            <a:tbl>
              <a:tblPr/>
              <a:tblGrid>
                <a:gridCol w="2638044"/>
                <a:gridCol w="2638044"/>
              </a:tblGrid>
              <a:tr h="502920">
                <a:tc>
                  <a:txBody>
                    <a:bodyPr/>
                    <a:lstStyle/>
                    <a:p>
                      <a:pPr indent="0" marL="0">
                        <a:buNone/>
                      </a:pPr>
                      <a:r>
                        <a:rPr lang="en-US" sz="1000" b="1" dirty="0">
                          <a:solidFill>
                            <a:srgbClr val="8AA0B8"/>
                          </a:solidFill>
                          <a:latin typeface="Calibri" pitchFamily="34" charset="0"/>
                          <a:ea typeface="Calibri" pitchFamily="34" charset="-122"/>
                          <a:cs typeface="Calibri" pitchFamily="34" charset="-120"/>
                        </a:rPr>
                        <a:t>Metric</a:t>
                      </a:r>
                      <a:endParaRPr lang="en-US" sz="1200" dirty="0"/>
                    </a:p>
                  </a:txBody>
                  <a:tcPr marL="91440" marR="91440" marT="45720" marB="45720" anchor="ctr">
                    <a:lnL w="9525" cap="flat" cmpd="sng" algn="ctr">
                      <a:solidFill>
                        <a:srgbClr val="24405F"/>
                      </a:solidFill>
                      <a:prstDash val="solid"/>
                      <a:round/>
                      <a:headEnd type="none" w="med" len="med"/>
                      <a:tailEnd type="none" w="med" len="med"/>
                    </a:lnL>
                    <a:lnR w="9525" cap="flat" cmpd="sng" algn="ctr">
                      <a:solidFill>
                        <a:srgbClr val="24405F"/>
                      </a:solidFill>
                      <a:prstDash val="solid"/>
                      <a:round/>
                      <a:headEnd type="none" w="med" len="med"/>
                      <a:tailEnd type="none" w="med" len="med"/>
                    </a:lnR>
                    <a:lnT w="9525" cap="flat" cmpd="sng" algn="ctr">
                      <a:solidFill>
                        <a:srgbClr val="24405F"/>
                      </a:solidFill>
                      <a:prstDash val="solid"/>
                      <a:round/>
                      <a:headEnd type="none" w="med" len="med"/>
                      <a:tailEnd type="none" w="med" len="med"/>
                    </a:lnT>
                    <a:lnB w="9525" cap="flat" cmpd="sng" algn="ctr">
                      <a:solidFill>
                        <a:srgbClr val="24405F"/>
                      </a:solidFill>
                      <a:prstDash val="solid"/>
                      <a:round/>
                      <a:headEnd type="none" w="med" len="med"/>
                      <a:tailEnd type="none" w="med" len="med"/>
                    </a:lnB>
                    <a:solidFill>
                      <a:srgbClr val="101C30"/>
                    </a:solidFill>
                  </a:tcPr>
                </a:tc>
                <a:tc>
                  <a:txBody>
                    <a:bodyPr/>
                    <a:lstStyle/>
                    <a:p>
                      <a:pPr indent="0" marL="0">
                        <a:buNone/>
                      </a:pPr>
                      <a:r>
                        <a:rPr lang="en-US" sz="1000" b="1" dirty="0">
                          <a:solidFill>
                            <a:srgbClr val="8AA0B8"/>
                          </a:solidFill>
                          <a:latin typeface="Calibri" pitchFamily="34" charset="0"/>
                          <a:ea typeface="Calibri" pitchFamily="34" charset="-122"/>
                          <a:cs typeface="Calibri" pitchFamily="34" charset="-120"/>
                        </a:rPr>
                        <a:t>Value</a:t>
                      </a:r>
                      <a:endParaRPr lang="en-US" sz="1200" dirty="0"/>
                    </a:p>
                  </a:txBody>
                  <a:tcPr marL="91440" marR="91440" marT="45720" marB="45720" anchor="ctr">
                    <a:lnL w="9525" cap="flat" cmpd="sng" algn="ctr">
                      <a:solidFill>
                        <a:srgbClr val="24405F"/>
                      </a:solidFill>
                      <a:prstDash val="solid"/>
                      <a:round/>
                      <a:headEnd type="none" w="med" len="med"/>
                      <a:tailEnd type="none" w="med" len="med"/>
                    </a:lnL>
                    <a:lnR w="9525" cap="flat" cmpd="sng" algn="ctr">
                      <a:solidFill>
                        <a:srgbClr val="24405F"/>
                      </a:solidFill>
                      <a:prstDash val="solid"/>
                      <a:round/>
                      <a:headEnd type="none" w="med" len="med"/>
                      <a:tailEnd type="none" w="med" len="med"/>
                    </a:lnR>
                    <a:lnT w="9525" cap="flat" cmpd="sng" algn="ctr">
                      <a:solidFill>
                        <a:srgbClr val="24405F"/>
                      </a:solidFill>
                      <a:prstDash val="solid"/>
                      <a:round/>
                      <a:headEnd type="none" w="med" len="med"/>
                      <a:tailEnd type="none" w="med" len="med"/>
                    </a:lnT>
                    <a:lnB w="9525" cap="flat" cmpd="sng" algn="ctr">
                      <a:solidFill>
                        <a:srgbClr val="24405F"/>
                      </a:solidFill>
                      <a:prstDash val="solid"/>
                      <a:round/>
                      <a:headEnd type="none" w="med" len="med"/>
                      <a:tailEnd type="none" w="med" len="med"/>
                    </a:lnB>
                    <a:solidFill>
                      <a:srgbClr val="101C30"/>
                    </a:solidFill>
                  </a:tcPr>
                </a:tc>
              </a:tr>
              <a:tr h="502920">
                <a:tc>
                  <a:txBody>
                    <a:bodyPr/>
                    <a:lstStyle/>
                    <a:p>
                      <a:pPr indent="0" marL="0">
                        <a:buNone/>
                      </a:pPr>
                      <a:r>
                        <a:rPr lang="en-US" sz="1100" dirty="0">
                          <a:solidFill>
                            <a:srgbClr val="CFD9E6"/>
                          </a:solidFill>
                          <a:latin typeface="Calibri" pitchFamily="34" charset="0"/>
                          <a:ea typeface="Calibri" pitchFamily="34" charset="-122"/>
                          <a:cs typeface="Calibri" pitchFamily="34" charset="-120"/>
                        </a:rPr>
                        <a:t>Best historical mean AUC-ROC</a:t>
                      </a:r>
                      <a:endParaRPr lang="en-US" sz="1200" dirty="0"/>
                    </a:p>
                  </a:txBody>
                  <a:tcPr marL="91440" marR="91440" marT="45720" marB="45720" anchor="ctr">
                    <a:lnL w="9525" cap="flat" cmpd="sng" algn="ctr">
                      <a:solidFill>
                        <a:srgbClr val="24405F"/>
                      </a:solidFill>
                      <a:prstDash val="solid"/>
                      <a:round/>
                      <a:headEnd type="none" w="med" len="med"/>
                      <a:tailEnd type="none" w="med" len="med"/>
                    </a:lnL>
                    <a:lnR w="9525" cap="flat" cmpd="sng" algn="ctr">
                      <a:solidFill>
                        <a:srgbClr val="24405F"/>
                      </a:solidFill>
                      <a:prstDash val="solid"/>
                      <a:round/>
                      <a:headEnd type="none" w="med" len="med"/>
                      <a:tailEnd type="none" w="med" len="med"/>
                    </a:lnR>
                    <a:lnT w="9525" cap="flat" cmpd="sng" algn="ctr">
                      <a:solidFill>
                        <a:srgbClr val="24405F"/>
                      </a:solidFill>
                      <a:prstDash val="solid"/>
                      <a:round/>
                      <a:headEnd type="none" w="med" len="med"/>
                      <a:tailEnd type="none" w="med" len="med"/>
                    </a:lnT>
                    <a:lnB w="9525" cap="flat" cmpd="sng" algn="ctr">
                      <a:solidFill>
                        <a:srgbClr val="24405F"/>
                      </a:solidFill>
                      <a:prstDash val="solid"/>
                      <a:round/>
                      <a:headEnd type="none" w="med" len="med"/>
                      <a:tailEnd type="none" w="med" len="med"/>
                    </a:lnB>
                    <a:solidFill>
                      <a:srgbClr val="142338"/>
                    </a:solidFill>
                  </a:tcPr>
                </a:tc>
                <a:tc>
                  <a:txBody>
                    <a:bodyPr/>
                    <a:lstStyle/>
                    <a:p>
                      <a:pPr indent="0" marL="0">
                        <a:buNone/>
                      </a:pPr>
                      <a:r>
                        <a:rPr lang="en-US" sz="1100" b="1" dirty="0">
                          <a:solidFill>
                            <a:srgbClr val="5B9BD5"/>
                          </a:solidFill>
                          <a:latin typeface="Calibri" pitchFamily="34" charset="0"/>
                          <a:ea typeface="Calibri" pitchFamily="34" charset="-122"/>
                          <a:cs typeface="Calibri" pitchFamily="34" charset="-120"/>
                        </a:rPr>
                        <a:t>R17 — 0.625 ± 0.017 (1,760 graphs)</a:t>
                      </a:r>
                      <a:endParaRPr lang="en-US" sz="1200" dirty="0"/>
                    </a:p>
                  </a:txBody>
                  <a:tcPr marL="91440" marR="91440" marT="45720" marB="45720" anchor="ctr">
                    <a:lnL w="9525" cap="flat" cmpd="sng" algn="ctr">
                      <a:solidFill>
                        <a:srgbClr val="24405F"/>
                      </a:solidFill>
                      <a:prstDash val="solid"/>
                      <a:round/>
                      <a:headEnd type="none" w="med" len="med"/>
                      <a:tailEnd type="none" w="med" len="med"/>
                    </a:lnL>
                    <a:lnR w="9525" cap="flat" cmpd="sng" algn="ctr">
                      <a:solidFill>
                        <a:srgbClr val="24405F"/>
                      </a:solidFill>
                      <a:prstDash val="solid"/>
                      <a:round/>
                      <a:headEnd type="none" w="med" len="med"/>
                      <a:tailEnd type="none" w="med" len="med"/>
                    </a:lnR>
                    <a:lnT w="9525" cap="flat" cmpd="sng" algn="ctr">
                      <a:solidFill>
                        <a:srgbClr val="24405F"/>
                      </a:solidFill>
                      <a:prstDash val="solid"/>
                      <a:round/>
                      <a:headEnd type="none" w="med" len="med"/>
                      <a:tailEnd type="none" w="med" len="med"/>
                    </a:lnT>
                    <a:lnB w="9525" cap="flat" cmpd="sng" algn="ctr">
                      <a:solidFill>
                        <a:srgbClr val="24405F"/>
                      </a:solidFill>
                      <a:prstDash val="solid"/>
                      <a:round/>
                      <a:headEnd type="none" w="med" len="med"/>
                      <a:tailEnd type="none" w="med" len="med"/>
                    </a:lnB>
                    <a:solidFill>
                      <a:srgbClr val="142338"/>
                    </a:solidFill>
                  </a:tcPr>
                </a:tc>
              </a:tr>
              <a:tr h="502920">
                <a:tc>
                  <a:txBody>
                    <a:bodyPr/>
                    <a:lstStyle/>
                    <a:p>
                      <a:pPr indent="0" marL="0">
                        <a:buNone/>
                      </a:pPr>
                      <a:r>
                        <a:rPr lang="en-US" sz="1100" dirty="0">
                          <a:solidFill>
                            <a:srgbClr val="CFD9E6"/>
                          </a:solidFill>
                          <a:latin typeface="Calibri" pitchFamily="34" charset="0"/>
                          <a:ea typeface="Calibri" pitchFamily="34" charset="-122"/>
                          <a:cs typeface="Calibri" pitchFamily="34" charset="-120"/>
                        </a:rPr>
                        <a:t>Serving model at Phase 1 close</a:t>
                      </a:r>
                      <a:endParaRPr lang="en-US" sz="1200" dirty="0"/>
                    </a:p>
                  </a:txBody>
                  <a:tcPr marL="91440" marR="91440" marT="45720" marB="45720" anchor="ctr">
                    <a:lnL w="9525" cap="flat" cmpd="sng" algn="ctr">
                      <a:solidFill>
                        <a:srgbClr val="24405F"/>
                      </a:solidFill>
                      <a:prstDash val="solid"/>
                      <a:round/>
                      <a:headEnd type="none" w="med" len="med"/>
                      <a:tailEnd type="none" w="med" len="med"/>
                    </a:lnL>
                    <a:lnR w="9525" cap="flat" cmpd="sng" algn="ctr">
                      <a:solidFill>
                        <a:srgbClr val="24405F"/>
                      </a:solidFill>
                      <a:prstDash val="solid"/>
                      <a:round/>
                      <a:headEnd type="none" w="med" len="med"/>
                      <a:tailEnd type="none" w="med" len="med"/>
                    </a:lnR>
                    <a:lnT w="9525" cap="flat" cmpd="sng" algn="ctr">
                      <a:solidFill>
                        <a:srgbClr val="24405F"/>
                      </a:solidFill>
                      <a:prstDash val="solid"/>
                      <a:round/>
                      <a:headEnd type="none" w="med" len="med"/>
                      <a:tailEnd type="none" w="med" len="med"/>
                    </a:lnT>
                    <a:lnB w="9525" cap="flat" cmpd="sng" algn="ctr">
                      <a:solidFill>
                        <a:srgbClr val="24405F"/>
                      </a:solidFill>
                      <a:prstDash val="solid"/>
                      <a:round/>
                      <a:headEnd type="none" w="med" len="med"/>
                      <a:tailEnd type="none" w="med" len="med"/>
                    </a:lnB>
                    <a:solidFill>
                      <a:srgbClr val="142338"/>
                    </a:solidFill>
                  </a:tcPr>
                </a:tc>
                <a:tc>
                  <a:txBody>
                    <a:bodyPr/>
                    <a:lstStyle/>
                    <a:p>
                      <a:pPr indent="0" marL="0">
                        <a:buNone/>
                      </a:pPr>
                      <a:r>
                        <a:rPr lang="en-US" sz="1100" b="1" dirty="0">
                          <a:solidFill>
                            <a:srgbClr val="5B9BD5"/>
                          </a:solidFill>
                          <a:latin typeface="Calibri" pitchFamily="34" charset="0"/>
                          <a:ea typeface="Calibri" pitchFamily="34" charset="-122"/>
                          <a:cs typeface="Calibri" pitchFamily="34" charset="-120"/>
                        </a:rPr>
                        <a:t>R28 — 0.546 ± 0.025 AUC, 0.712 ± 0.014 AP</a:t>
                      </a:r>
                      <a:endParaRPr lang="en-US" sz="1200" dirty="0"/>
                    </a:p>
                  </a:txBody>
                  <a:tcPr marL="91440" marR="91440" marT="45720" marB="45720" anchor="ctr">
                    <a:lnL w="9525" cap="flat" cmpd="sng" algn="ctr">
                      <a:solidFill>
                        <a:srgbClr val="24405F"/>
                      </a:solidFill>
                      <a:prstDash val="solid"/>
                      <a:round/>
                      <a:headEnd type="none" w="med" len="med"/>
                      <a:tailEnd type="none" w="med" len="med"/>
                    </a:lnL>
                    <a:lnR w="9525" cap="flat" cmpd="sng" algn="ctr">
                      <a:solidFill>
                        <a:srgbClr val="24405F"/>
                      </a:solidFill>
                      <a:prstDash val="solid"/>
                      <a:round/>
                      <a:headEnd type="none" w="med" len="med"/>
                      <a:tailEnd type="none" w="med" len="med"/>
                    </a:lnR>
                    <a:lnT w="9525" cap="flat" cmpd="sng" algn="ctr">
                      <a:solidFill>
                        <a:srgbClr val="24405F"/>
                      </a:solidFill>
                      <a:prstDash val="solid"/>
                      <a:round/>
                      <a:headEnd type="none" w="med" len="med"/>
                      <a:tailEnd type="none" w="med" len="med"/>
                    </a:lnT>
                    <a:lnB w="9525" cap="flat" cmpd="sng" algn="ctr">
                      <a:solidFill>
                        <a:srgbClr val="24405F"/>
                      </a:solidFill>
                      <a:prstDash val="solid"/>
                      <a:round/>
                      <a:headEnd type="none" w="med" len="med"/>
                      <a:tailEnd type="none" w="med" len="med"/>
                    </a:lnB>
                    <a:solidFill>
                      <a:srgbClr val="142338"/>
                    </a:solidFill>
                  </a:tcPr>
                </a:tc>
              </a:tr>
              <a:tr h="502920">
                <a:tc>
                  <a:txBody>
                    <a:bodyPr/>
                    <a:lstStyle/>
                    <a:p>
                      <a:pPr indent="0" marL="0">
                        <a:buNone/>
                      </a:pPr>
                      <a:r>
                        <a:rPr lang="en-US" sz="1100" dirty="0">
                          <a:solidFill>
                            <a:srgbClr val="CFD9E6"/>
                          </a:solidFill>
                          <a:latin typeface="Calibri" pitchFamily="34" charset="0"/>
                          <a:ea typeface="Calibri" pitchFamily="34" charset="-122"/>
                          <a:cs typeface="Calibri" pitchFamily="34" charset="-120"/>
                        </a:rPr>
                        <a:t>Targets</a:t>
                      </a:r>
                      <a:endParaRPr lang="en-US" sz="1200" dirty="0"/>
                    </a:p>
                  </a:txBody>
                  <a:tcPr marL="91440" marR="91440" marT="45720" marB="45720" anchor="ctr">
                    <a:lnL w="9525" cap="flat" cmpd="sng" algn="ctr">
                      <a:solidFill>
                        <a:srgbClr val="24405F"/>
                      </a:solidFill>
                      <a:prstDash val="solid"/>
                      <a:round/>
                      <a:headEnd type="none" w="med" len="med"/>
                      <a:tailEnd type="none" w="med" len="med"/>
                    </a:lnL>
                    <a:lnR w="9525" cap="flat" cmpd="sng" algn="ctr">
                      <a:solidFill>
                        <a:srgbClr val="24405F"/>
                      </a:solidFill>
                      <a:prstDash val="solid"/>
                      <a:round/>
                      <a:headEnd type="none" w="med" len="med"/>
                      <a:tailEnd type="none" w="med" len="med"/>
                    </a:lnR>
                    <a:lnT w="9525" cap="flat" cmpd="sng" algn="ctr">
                      <a:solidFill>
                        <a:srgbClr val="24405F"/>
                      </a:solidFill>
                      <a:prstDash val="solid"/>
                      <a:round/>
                      <a:headEnd type="none" w="med" len="med"/>
                      <a:tailEnd type="none" w="med" len="med"/>
                    </a:lnT>
                    <a:lnB w="9525" cap="flat" cmpd="sng" algn="ctr">
                      <a:solidFill>
                        <a:srgbClr val="24405F"/>
                      </a:solidFill>
                      <a:prstDash val="solid"/>
                      <a:round/>
                      <a:headEnd type="none" w="med" len="med"/>
                      <a:tailEnd type="none" w="med" len="med"/>
                    </a:lnB>
                    <a:solidFill>
                      <a:srgbClr val="142338"/>
                    </a:solidFill>
                  </a:tcPr>
                </a:tc>
                <a:tc>
                  <a:txBody>
                    <a:bodyPr/>
                    <a:lstStyle/>
                    <a:p>
                      <a:pPr indent="0" marL="0">
                        <a:buNone/>
                      </a:pPr>
                      <a:r>
                        <a:rPr lang="en-US" sz="1100" b="1" dirty="0">
                          <a:solidFill>
                            <a:srgbClr val="5B9BD5"/>
                          </a:solidFill>
                          <a:latin typeface="Calibri" pitchFamily="34" charset="0"/>
                          <a:ea typeface="Calibri" pitchFamily="34" charset="-122"/>
                          <a:cs typeface="Calibri" pitchFamily="34" charset="-120"/>
                        </a:rPr>
                        <a:t>AUC ≥ 0.85, AP ≥ 0.82 — AP met on several runs, AUC not yet met</a:t>
                      </a:r>
                      <a:endParaRPr lang="en-US" sz="1200" dirty="0"/>
                    </a:p>
                  </a:txBody>
                  <a:tcPr marL="91440" marR="91440" marT="45720" marB="45720" anchor="ctr">
                    <a:lnL w="9525" cap="flat" cmpd="sng" algn="ctr">
                      <a:solidFill>
                        <a:srgbClr val="24405F"/>
                      </a:solidFill>
                      <a:prstDash val="solid"/>
                      <a:round/>
                      <a:headEnd type="none" w="med" len="med"/>
                      <a:tailEnd type="none" w="med" len="med"/>
                    </a:lnL>
                    <a:lnR w="9525" cap="flat" cmpd="sng" algn="ctr">
                      <a:solidFill>
                        <a:srgbClr val="24405F"/>
                      </a:solidFill>
                      <a:prstDash val="solid"/>
                      <a:round/>
                      <a:headEnd type="none" w="med" len="med"/>
                      <a:tailEnd type="none" w="med" len="med"/>
                    </a:lnR>
                    <a:lnT w="9525" cap="flat" cmpd="sng" algn="ctr">
                      <a:solidFill>
                        <a:srgbClr val="24405F"/>
                      </a:solidFill>
                      <a:prstDash val="solid"/>
                      <a:round/>
                      <a:headEnd type="none" w="med" len="med"/>
                      <a:tailEnd type="none" w="med" len="med"/>
                    </a:lnT>
                    <a:lnB w="9525" cap="flat" cmpd="sng" algn="ctr">
                      <a:solidFill>
                        <a:srgbClr val="24405F"/>
                      </a:solidFill>
                      <a:prstDash val="solid"/>
                      <a:round/>
                      <a:headEnd type="none" w="med" len="med"/>
                      <a:tailEnd type="none" w="med" len="med"/>
                    </a:lnB>
                    <a:solidFill>
                      <a:srgbClr val="142338"/>
                    </a:solidFill>
                  </a:tcPr>
                </a:tc>
              </a:tr>
            </a:tbl>
          </a:graphicData>
        </a:graphic>
      </p:graphicFrame>
      <p:sp>
        <p:nvSpPr>
          <p:cNvPr id="10" name="Text 7"/>
          <p:cNvSpPr/>
          <p:nvPr/>
        </p:nvSpPr>
        <p:spPr>
          <a:xfrm>
            <a:off x="6291072" y="3977640"/>
            <a:ext cx="5276088" cy="457200"/>
          </a:xfrm>
          <a:prstGeom prst="rect">
            <a:avLst/>
          </a:prstGeom>
          <a:noFill/>
          <a:ln/>
        </p:spPr>
        <p:txBody>
          <a:bodyPr wrap="square" rtlCol="0" anchor="ctr"/>
          <a:lstStyle/>
          <a:p>
            <a:pPr indent="0" marL="0">
              <a:buNone/>
            </a:pPr>
            <a:r>
              <a:rPr lang="en-US" sz="1100" i="1" dirty="0">
                <a:solidFill>
                  <a:srgbClr val="8AA0B8"/>
                </a:solidFill>
                <a:latin typeface="Calibri" pitchFamily="34" charset="0"/>
                <a:ea typeface="Calibri" pitchFamily="34" charset="-122"/>
                <a:cs typeface="Calibri" pitchFamily="34" charset="-120"/>
              </a:rPr>
              <a:t>This is the honest baseline Phase 2 inherits and builds on top of.</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121F"/>
        </a:solidFill>
      </p:bgPr>
    </p:bg>
    <p:spTree>
      <p:nvGrpSpPr>
        <p:cNvPr id="1" name=""/>
        <p:cNvGrpSpPr/>
        <p:nvPr/>
      </p:nvGrpSpPr>
      <p:grpSpPr>
        <a:xfrm>
          <a:off x="0" y="0"/>
          <a:ext cx="0" cy="0"/>
          <a:chOff x="0" y="0"/>
          <a:chExt cx="0" cy="0"/>
        </a:xfrm>
      </p:grpSpPr>
      <p:sp>
        <p:nvSpPr>
          <p:cNvPr id="2" name="Text 0"/>
          <p:cNvSpPr/>
          <p:nvPr/>
        </p:nvSpPr>
        <p:spPr>
          <a:xfrm>
            <a:off x="457200" y="292608"/>
            <a:ext cx="11277295" cy="274320"/>
          </a:xfrm>
          <a:prstGeom prst="rect">
            <a:avLst/>
          </a:prstGeom>
          <a:noFill/>
          <a:ln/>
        </p:spPr>
        <p:txBody>
          <a:bodyPr wrap="square" rtlCol="0" anchor="ctr"/>
          <a:lstStyle/>
          <a:p>
            <a:pPr indent="0" marL="0">
              <a:buNone/>
            </a:pPr>
            <a:r>
              <a:rPr lang="en-US" sz="1100" b="1" spc="150" kern="0" dirty="0">
                <a:solidFill>
                  <a:srgbClr val="5B9BD5"/>
                </a:solidFill>
                <a:latin typeface="Calibri" pitchFamily="34" charset="0"/>
                <a:ea typeface="Calibri" pitchFamily="34" charset="-122"/>
                <a:cs typeface="Calibri" pitchFamily="34" charset="-120"/>
              </a:rPr>
              <a:t>2 · NOVELTY</a:t>
            </a:r>
            <a:endParaRPr lang="en-US" sz="1100" dirty="0"/>
          </a:p>
        </p:txBody>
      </p:sp>
      <p:sp>
        <p:nvSpPr>
          <p:cNvPr id="3" name="Text 1"/>
          <p:cNvSpPr/>
          <p:nvPr/>
        </p:nvSpPr>
        <p:spPr>
          <a:xfrm>
            <a:off x="457200" y="566928"/>
            <a:ext cx="11277295" cy="502920"/>
          </a:xfrm>
          <a:prstGeom prst="rect">
            <a:avLst/>
          </a:prstGeom>
          <a:noFill/>
          <a:ln/>
        </p:spPr>
        <p:txBody>
          <a:bodyPr wrap="square" rtlCol="0" anchor="t"/>
          <a:lstStyle/>
          <a:p>
            <a:pPr indent="0" marL="0">
              <a:buNone/>
            </a:pPr>
            <a:r>
              <a:rPr lang="en-US" sz="2600" b="1" dirty="0">
                <a:solidFill>
                  <a:srgbClr val="E6EDF5"/>
                </a:solidFill>
                <a:latin typeface="Calibri" pitchFamily="34" charset="0"/>
                <a:ea typeface="Calibri" pitchFamily="34" charset="-122"/>
                <a:cs typeface="Calibri" pitchFamily="34" charset="-120"/>
              </a:rPr>
              <a:t>Novelty proposal</a:t>
            </a:r>
            <a:endParaRPr lang="en-US" sz="2600" dirty="0"/>
          </a:p>
        </p:txBody>
      </p:sp>
      <p:sp>
        <p:nvSpPr>
          <p:cNvPr id="4" name="Shape 2"/>
          <p:cNvSpPr/>
          <p:nvPr/>
        </p:nvSpPr>
        <p:spPr>
          <a:xfrm>
            <a:off x="457200" y="1234440"/>
            <a:ext cx="5486400" cy="5120640"/>
          </a:xfrm>
          <a:prstGeom prst="roundRect">
            <a:avLst>
              <a:gd name="adj" fmla="val 1071"/>
            </a:avLst>
          </a:prstGeom>
          <a:solidFill>
            <a:srgbClr val="142338"/>
          </a:solidFill>
          <a:ln w="12700">
            <a:solidFill>
              <a:srgbClr val="24405F"/>
            </a:solidFill>
            <a:prstDash val="solid"/>
          </a:ln>
        </p:spPr>
      </p:sp>
      <p:sp>
        <p:nvSpPr>
          <p:cNvPr id="5" name="Text 3"/>
          <p:cNvSpPr/>
          <p:nvPr/>
        </p:nvSpPr>
        <p:spPr>
          <a:xfrm>
            <a:off x="621792" y="1399032"/>
            <a:ext cx="5157216" cy="292608"/>
          </a:xfrm>
          <a:prstGeom prst="rect">
            <a:avLst/>
          </a:prstGeom>
          <a:noFill/>
          <a:ln/>
        </p:spPr>
        <p:txBody>
          <a:bodyPr wrap="square" rtlCol="0" anchor="ctr"/>
          <a:lstStyle/>
          <a:p>
            <a:pPr indent="0" marL="0">
              <a:buNone/>
            </a:pPr>
            <a:r>
              <a:rPr lang="en-US" sz="1300" b="1" dirty="0">
                <a:solidFill>
                  <a:srgbClr val="5B9BD5"/>
                </a:solidFill>
                <a:latin typeface="Calibri" pitchFamily="34" charset="0"/>
                <a:ea typeface="Calibri" pitchFamily="34" charset="-122"/>
                <a:cs typeface="Calibri" pitchFamily="34" charset="-120"/>
              </a:rPr>
              <a:t>Phase 1 novelty (established)</a:t>
            </a:r>
            <a:endParaRPr lang="en-US" sz="1300" dirty="0"/>
          </a:p>
        </p:txBody>
      </p:sp>
      <p:sp>
        <p:nvSpPr>
          <p:cNvPr id="6" name="Text 4"/>
          <p:cNvSpPr/>
          <p:nvPr/>
        </p:nvSpPr>
        <p:spPr>
          <a:xfrm>
            <a:off x="621792" y="1728216"/>
            <a:ext cx="5157216" cy="4462272"/>
          </a:xfrm>
          <a:prstGeom prst="rect">
            <a:avLst/>
          </a:prstGeom>
          <a:noFill/>
          <a:ln/>
        </p:spPr>
        <p:txBody>
          <a:bodyPr wrap="square" rtlCol="0" anchor="t"/>
          <a:lstStyle/>
          <a:p>
            <a:pPr marL="177800" indent="-177800">
              <a:lnSpc>
                <a:spcPct val="115000"/>
              </a:lnSpc>
              <a:spcAft>
                <a:spcPts val="600"/>
              </a:spcAft>
              <a:buSzPct val="100000"/>
              <a:buChar char="•"/>
            </a:pPr>
            <a:r>
              <a:rPr lang="en-US" sz="1200" dirty="0">
                <a:solidFill>
                  <a:srgbClr val="CFD9E6"/>
                </a:solidFill>
                <a:latin typeface="Calibri" pitchFamily="34" charset="0"/>
                <a:ea typeface="Calibri" pitchFamily="34" charset="-122"/>
                <a:cs typeface="Calibri" pitchFamily="34" charset="-120"/>
              </a:rPr>
              <a:t>Geometry-driven, affine-invariant node features (elongation, flatness, sphericity, SDF mean/var, SA/V, hole count) — not just bounding-box statistics</a:t>
            </a:r>
            <a:endParaRPr lang="en-US" sz="1200" dirty="0"/>
          </a:p>
          <a:p>
            <a:pPr marL="177800" indent="-177800">
              <a:lnSpc>
                <a:spcPct val="115000"/>
              </a:lnSpc>
              <a:spcAft>
                <a:spcPts val="600"/>
              </a:spcAft>
              <a:buSzPct val="100000"/>
              <a:buChar char="•"/>
            </a:pPr>
            <a:r>
              <a:rPr lang="en-US" sz="1200" dirty="0">
                <a:solidFill>
                  <a:srgbClr val="CFD9E6"/>
                </a:solidFill>
                <a:latin typeface="Calibri" pitchFamily="34" charset="0"/>
                <a:ea typeface="Calibri" pitchFamily="34" charset="-122"/>
                <a:cs typeface="Calibri" pitchFamily="34" charset="-120"/>
              </a:rPr>
              <a:t>Octree-based free-surface clustering to localize </a:t>
            </a:r>
            <a:endParaRPr lang="en-US" sz="1200" dirty="0"/>
          </a:p>
          <a:p>
            <a:pPr indent="0" marL="0">
              <a:lnSpc>
                <a:spcPct val="115000"/>
              </a:lnSpc>
              <a:buNone/>
            </a:pPr>
            <a:r>
              <a:rPr lang="en-US" sz="1200" i="1" dirty="0">
                <a:solidFill>
                  <a:srgbClr val="CFD9E6"/>
                </a:solidFill>
                <a:latin typeface="Calibri" pitchFamily="34" charset="0"/>
                <a:ea typeface="Calibri" pitchFamily="34" charset="-122"/>
                <a:cs typeface="Calibri" pitchFamily="34" charset="-120"/>
              </a:rPr>
              <a:t>where</a:t>
            </a:r>
            <a:pPr indent="0" marL="0">
              <a:lnSpc>
                <a:spcPct val="115000"/>
              </a:lnSpc>
              <a:buNone/>
            </a:pPr>
            <a:r>
              <a:rPr lang="en-US" sz="1200" dirty="0">
                <a:solidFill>
                  <a:srgbClr val="CFD9E6"/>
                </a:solidFill>
                <a:latin typeface="Calibri" pitchFamily="34" charset="0"/>
                <a:ea typeface="Calibri" pitchFamily="34" charset="-122"/>
                <a:cs typeface="Calibri" pitchFamily="34" charset="-120"/>
              </a:rPr>
              <a:t> a component is missing, not just </a:t>
            </a:r>
            <a:pPr indent="0" marL="0">
              <a:lnSpc>
                <a:spcPct val="115000"/>
              </a:lnSpc>
              <a:buNone/>
            </a:pPr>
            <a:r>
              <a:rPr lang="en-US" sz="1200" i="1" dirty="0">
                <a:solidFill>
                  <a:srgbClr val="CFD9E6"/>
                </a:solidFill>
                <a:latin typeface="Calibri" pitchFamily="34" charset="0"/>
                <a:ea typeface="Calibri" pitchFamily="34" charset="-122"/>
                <a:cs typeface="Calibri" pitchFamily="34" charset="-120"/>
              </a:rPr>
              <a:t>that</a:t>
            </a:r>
            <a:pPr indent="0" marL="0">
              <a:lnSpc>
                <a:spcPct val="115000"/>
              </a:lnSpc>
              <a:buNone/>
            </a:pPr>
            <a:r>
              <a:rPr lang="en-US" sz="1200" dirty="0">
                <a:solidFill>
                  <a:srgbClr val="CFD9E6"/>
                </a:solidFill>
                <a:latin typeface="Calibri" pitchFamily="34" charset="0"/>
                <a:ea typeface="Calibri" pitchFamily="34" charset="-122"/>
                <a:cs typeface="Calibri" pitchFamily="34" charset="-120"/>
              </a:rPr>
              <a:t> one is missing</a:t>
            </a:r>
            <a:endParaRPr lang="en-US" sz="1200" dirty="0"/>
          </a:p>
          <a:p>
            <a:pPr marL="177800" indent="-177800">
              <a:lnSpc>
                <a:spcPct val="115000"/>
              </a:lnSpc>
              <a:spcAft>
                <a:spcPts val="600"/>
              </a:spcAft>
              <a:buSzPct val="100000"/>
              <a:buChar char="•"/>
            </a:pPr>
            <a:r>
              <a:rPr lang="en-US" sz="1200" dirty="0">
                <a:solidFill>
                  <a:srgbClr val="CFD9E6"/>
                </a:solidFill>
                <a:latin typeface="Calibri" pitchFamily="34" charset="0"/>
                <a:ea typeface="Calibri" pitchFamily="34" charset="-122"/>
                <a:cs typeface="Calibri" pitchFamily="34" charset="-120"/>
              </a:rPr>
              <a:t>Natural-language explanation layer (AIDA) grounded in GNN output, not a generic LLM wrapper</a:t>
            </a:r>
            <a:endParaRPr lang="en-US" sz="1200" dirty="0"/>
          </a:p>
        </p:txBody>
      </p:sp>
      <p:sp>
        <p:nvSpPr>
          <p:cNvPr id="7" name="Shape 5"/>
          <p:cNvSpPr/>
          <p:nvPr/>
        </p:nvSpPr>
        <p:spPr>
          <a:xfrm>
            <a:off x="6126480" y="1234440"/>
            <a:ext cx="5605272" cy="5120640"/>
          </a:xfrm>
          <a:prstGeom prst="roundRect">
            <a:avLst>
              <a:gd name="adj" fmla="val 1071"/>
            </a:avLst>
          </a:prstGeom>
          <a:solidFill>
            <a:srgbClr val="142338"/>
          </a:solidFill>
          <a:ln w="12700">
            <a:solidFill>
              <a:srgbClr val="24405F"/>
            </a:solidFill>
            <a:prstDash val="solid"/>
          </a:ln>
        </p:spPr>
      </p:sp>
      <p:sp>
        <p:nvSpPr>
          <p:cNvPr id="8" name="Text 6"/>
          <p:cNvSpPr/>
          <p:nvPr/>
        </p:nvSpPr>
        <p:spPr>
          <a:xfrm>
            <a:off x="6291072" y="1399032"/>
            <a:ext cx="5276088" cy="292608"/>
          </a:xfrm>
          <a:prstGeom prst="rect">
            <a:avLst/>
          </a:prstGeom>
          <a:noFill/>
          <a:ln/>
        </p:spPr>
        <p:txBody>
          <a:bodyPr wrap="square" rtlCol="0" anchor="ctr"/>
          <a:lstStyle/>
          <a:p>
            <a:pPr indent="0" marL="0">
              <a:buNone/>
            </a:pPr>
            <a:r>
              <a:rPr lang="en-US" sz="1300" b="1" dirty="0">
                <a:solidFill>
                  <a:srgbClr val="8B5CF6"/>
                </a:solidFill>
                <a:latin typeface="Calibri" pitchFamily="34" charset="0"/>
                <a:ea typeface="Calibri" pitchFamily="34" charset="-122"/>
                <a:cs typeface="Calibri" pitchFamily="34" charset="-120"/>
              </a:rPr>
              <a:t>Phase 2 novelty (this review)</a:t>
            </a:r>
            <a:endParaRPr lang="en-US" sz="1300" dirty="0"/>
          </a:p>
        </p:txBody>
      </p:sp>
      <p:sp>
        <p:nvSpPr>
          <p:cNvPr id="9" name="Text 7"/>
          <p:cNvSpPr/>
          <p:nvPr/>
        </p:nvSpPr>
        <p:spPr>
          <a:xfrm>
            <a:off x="6291072" y="1728216"/>
            <a:ext cx="5276088" cy="4462272"/>
          </a:xfrm>
          <a:prstGeom prst="rect">
            <a:avLst/>
          </a:prstGeom>
          <a:noFill/>
          <a:ln/>
        </p:spPr>
        <p:txBody>
          <a:bodyPr wrap="square" rtlCol="0" anchor="t"/>
          <a:lstStyle/>
          <a:p>
            <a:pPr marL="177800" indent="-177800">
              <a:lnSpc>
                <a:spcPct val="115000"/>
              </a:lnSpc>
              <a:spcAft>
                <a:spcPts val="600"/>
              </a:spcAft>
              <a:buSzPct val="100000"/>
              <a:buChar char="•"/>
            </a:pPr>
            <a:r>
              <a:rPr lang="en-US" sz="1200" b="1" dirty="0">
                <a:solidFill>
                  <a:srgbClr val="E6EDF5"/>
                </a:solidFill>
                <a:latin typeface="Calibri" pitchFamily="34" charset="0"/>
                <a:ea typeface="Calibri" pitchFamily="34" charset="-122"/>
                <a:cs typeface="Calibri" pitchFamily="34" charset="-120"/>
              </a:rPr>
              <a:t>Heterogeneous relational encoder</a:t>
            </a:r>
            <a:endParaRPr lang="en-US" sz="1200" dirty="0"/>
          </a:p>
          <a:p>
            <a:pPr indent="0" marL="0">
              <a:lnSpc>
                <a:spcPct val="115000"/>
              </a:lnSpc>
              <a:buNone/>
            </a:pPr>
            <a:r>
              <a:rPr lang="en-US" sz="1200" dirty="0">
                <a:solidFill>
                  <a:srgbClr val="CFD9E6"/>
                </a:solidFill>
                <a:latin typeface="Calibri" pitchFamily="34" charset="0"/>
                <a:ea typeface="Calibri" pitchFamily="34" charset="-122"/>
                <a:cs typeface="Calibri" pitchFamily="34" charset="-120"/>
              </a:rPr>
              <a:t> (</a:t>
            </a:r>
            <a:pPr indent="0" marL="0">
              <a:lnSpc>
                <a:spcPct val="115000"/>
              </a:lnSpc>
              <a:buNone/>
            </a:pPr>
            <a:r>
              <a:rPr lang="en-US" sz="1200" dirty="0">
                <a:solidFill>
                  <a:srgbClr val="FFD9A0"/>
                </a:solidFill>
                <a:latin typeface="Consolas" pitchFamily="34" charset="0"/>
                <a:ea typeface="Consolas" pitchFamily="34" charset="-122"/>
                <a:cs typeface="Consolas" pitchFamily="34" charset="-120"/>
              </a:rPr>
              <a:t>RGATConv</a:t>
            </a:r>
            <a:pPr indent="0" marL="0">
              <a:lnSpc>
                <a:spcPct val="115000"/>
              </a:lnSpc>
              <a:buNone/>
            </a:pPr>
            <a:r>
              <a:rPr lang="en-US" sz="1200" dirty="0">
                <a:solidFill>
                  <a:srgbClr val="CFD9E6"/>
                </a:solidFill>
                <a:latin typeface="Calibri" pitchFamily="34" charset="0"/>
                <a:ea typeface="Calibri" pitchFamily="34" charset="-122"/>
                <a:cs typeface="Calibri" pitchFamily="34" charset="-120"/>
              </a:rPr>
              <a:t> + </a:t>
            </a:r>
            <a:pPr indent="0" marL="0">
              <a:lnSpc>
                <a:spcPct val="115000"/>
              </a:lnSpc>
              <a:buNone/>
            </a:pPr>
            <a:r>
              <a:rPr lang="en-US" sz="1200" dirty="0">
                <a:solidFill>
                  <a:srgbClr val="FFD9A0"/>
                </a:solidFill>
                <a:latin typeface="Consolas" pitchFamily="34" charset="0"/>
                <a:ea typeface="Consolas" pitchFamily="34" charset="-122"/>
                <a:cs typeface="Consolas" pitchFamily="34" charset="-120"/>
              </a:rPr>
              <a:t>TypedLinear</a:t>
            </a:r>
            <a:pPr indent="0" marL="0">
              <a:lnSpc>
                <a:spcPct val="115000"/>
              </a:lnSpc>
              <a:buNone/>
            </a:pPr>
            <a:r>
              <a:rPr lang="en-US" sz="1200" dirty="0">
                <a:solidFill>
                  <a:srgbClr val="CFD9E6"/>
                </a:solidFill>
                <a:latin typeface="Calibri" pitchFamily="34" charset="0"/>
                <a:ea typeface="Calibri" pitchFamily="34" charset="-122"/>
                <a:cs typeface="Calibri" pitchFamily="34" charset="-120"/>
              </a:rPr>
              <a:t>) — separate parameter sets per component type and per joint/mate relation, derived from existing feature schema with zero data-pipeline migration</a:t>
            </a:r>
            <a:endParaRPr lang="en-US" sz="1200" dirty="0"/>
          </a:p>
          <a:p>
            <a:pPr marL="177800" indent="-177800">
              <a:lnSpc>
                <a:spcPct val="115000"/>
              </a:lnSpc>
              <a:spcAft>
                <a:spcPts val="600"/>
              </a:spcAft>
              <a:buSzPct val="100000"/>
              <a:buChar char="•"/>
            </a:pPr>
            <a:r>
              <a:rPr lang="en-US" sz="1200" b="1" dirty="0">
                <a:solidFill>
                  <a:srgbClr val="E6EDF5"/>
                </a:solidFill>
                <a:latin typeface="Calibri" pitchFamily="34" charset="0"/>
                <a:ea typeface="Calibri" pitchFamily="34" charset="-122"/>
                <a:cs typeface="Calibri" pitchFamily="34" charset="-120"/>
              </a:rPr>
              <a:t>Node Ranker</a:t>
            </a:r>
            <a:pPr indent="0" marL="0">
              <a:lnSpc>
                <a:spcPct val="115000"/>
              </a:lnSpc>
              <a:buNone/>
            </a:pPr>
            <a:r>
              <a:rPr lang="en-US" sz="1200" dirty="0">
                <a:solidFill>
                  <a:srgbClr val="CFD9E6"/>
                </a:solidFill>
                <a:latin typeface="Calibri" pitchFamily="34" charset="0"/>
                <a:ea typeface="Calibri" pitchFamily="34" charset="-122"/>
                <a:cs typeface="Calibri" pitchFamily="34" charset="-120"/>
              </a:rPr>
              <a:t> — reframes “what's missing” as “what type of component is most likely next,” via a frozen-encoder + BPR-ranked prototype head — cheap to train, decoupled from Phase 1 retraining cost</a:t>
            </a:r>
            <a:endParaRPr lang="en-US" sz="1200" dirty="0"/>
          </a:p>
          <a:p>
            <a:pPr marL="177800" indent="-177800">
              <a:lnSpc>
                <a:spcPct val="115000"/>
              </a:lnSpc>
              <a:spcAft>
                <a:spcPts val="600"/>
              </a:spcAft>
              <a:buSzPct val="100000"/>
              <a:buChar char="•"/>
            </a:pPr>
            <a:r>
              <a:rPr lang="en-US" sz="1200" dirty="0">
                <a:solidFill>
                  <a:srgbClr val="CFD9E6"/>
                </a:solidFill>
                <a:latin typeface="Calibri" pitchFamily="34" charset="0"/>
                <a:ea typeface="Calibri" pitchFamily="34" charset="-122"/>
                <a:cs typeface="Calibri" pitchFamily="34" charset="-120"/>
              </a:rPr>
              <a:t>Proposed extension (Prof. Gaurav Siwal): move from </a:t>
            </a:r>
            <a:pPr indent="0" marL="0">
              <a:lnSpc>
                <a:spcPct val="115000"/>
              </a:lnSpc>
              <a:buNone/>
            </a:pPr>
            <a:r>
              <a:rPr lang="en-US" sz="1200" i="1" dirty="0">
                <a:solidFill>
                  <a:srgbClr val="CFD9E6"/>
                </a:solidFill>
                <a:latin typeface="Calibri" pitchFamily="34" charset="0"/>
                <a:ea typeface="Calibri" pitchFamily="34" charset="-122"/>
                <a:cs typeface="Calibri" pitchFamily="34" charset="-120"/>
              </a:rPr>
              <a:t>predicting</a:t>
            </a:r>
            <a:pPr indent="0" marL="0">
              <a:lnSpc>
                <a:spcPct val="115000"/>
              </a:lnSpc>
              <a:buNone/>
            </a:pPr>
            <a:r>
              <a:rPr lang="en-US" sz="1200" dirty="0">
                <a:solidFill>
                  <a:srgbClr val="CFD9E6"/>
                </a:solidFill>
                <a:latin typeface="Calibri" pitchFamily="34" charset="0"/>
                <a:ea typeface="Calibri" pitchFamily="34" charset="-122"/>
                <a:cs typeface="Calibri" pitchFamily="34" charset="-120"/>
              </a:rPr>
              <a:t> a missing component's type/location to actually </a:t>
            </a:r>
            <a:pPr indent="0" marL="0">
              <a:lnSpc>
                <a:spcPct val="115000"/>
              </a:lnSpc>
              <a:buNone/>
            </a:pPr>
            <a:r>
              <a:rPr lang="en-US" sz="1200" i="1" dirty="0">
                <a:solidFill>
                  <a:srgbClr val="CFD9E6"/>
                </a:solidFill>
                <a:latin typeface="Calibri" pitchFamily="34" charset="0"/>
                <a:ea typeface="Calibri" pitchFamily="34" charset="-122"/>
                <a:cs typeface="Calibri" pitchFamily="34" charset="-120"/>
              </a:rPr>
              <a:t>synthesizing</a:t>
            </a:r>
            <a:pPr indent="0" marL="0">
              <a:lnSpc>
                <a:spcPct val="115000"/>
              </a:lnSpc>
              <a:buNone/>
            </a:pPr>
            <a:r>
              <a:rPr lang="en-US" sz="1200" dirty="0">
                <a:solidFill>
                  <a:srgbClr val="CFD9E6"/>
                </a:solidFill>
                <a:latin typeface="Calibri" pitchFamily="34" charset="0"/>
                <a:ea typeface="Calibri" pitchFamily="34" charset="-122"/>
                <a:cs typeface="Calibri" pitchFamily="34" charset="-120"/>
              </a:rPr>
              <a:t> its 3D geometry — discussed later as Phase 3 scope</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121F"/>
        </a:solidFill>
      </p:bgPr>
    </p:bg>
    <p:spTree>
      <p:nvGrpSpPr>
        <p:cNvPr id="1" name=""/>
        <p:cNvGrpSpPr/>
        <p:nvPr/>
      </p:nvGrpSpPr>
      <p:grpSpPr>
        <a:xfrm>
          <a:off x="0" y="0"/>
          <a:ext cx="0" cy="0"/>
          <a:chOff x="0" y="0"/>
          <a:chExt cx="0" cy="0"/>
        </a:xfrm>
      </p:grpSpPr>
      <p:sp>
        <p:nvSpPr>
          <p:cNvPr id="2" name="Text 0"/>
          <p:cNvSpPr/>
          <p:nvPr/>
        </p:nvSpPr>
        <p:spPr>
          <a:xfrm>
            <a:off x="457200" y="292608"/>
            <a:ext cx="11277295" cy="274320"/>
          </a:xfrm>
          <a:prstGeom prst="rect">
            <a:avLst/>
          </a:prstGeom>
          <a:noFill/>
          <a:ln/>
        </p:spPr>
        <p:txBody>
          <a:bodyPr wrap="square" rtlCol="0" anchor="ctr"/>
          <a:lstStyle/>
          <a:p>
            <a:pPr indent="0" marL="0">
              <a:buNone/>
            </a:pPr>
            <a:r>
              <a:rPr lang="en-US" sz="1100" b="1" spc="150" kern="0" dirty="0">
                <a:solidFill>
                  <a:srgbClr val="5B9BD5"/>
                </a:solidFill>
                <a:latin typeface="Calibri" pitchFamily="34" charset="0"/>
                <a:ea typeface="Calibri" pitchFamily="34" charset="-122"/>
                <a:cs typeface="Calibri" pitchFamily="34" charset="-120"/>
              </a:rPr>
              <a:t>3 · TITLE &amp; ABSTRACT</a:t>
            </a:r>
            <a:endParaRPr lang="en-US" sz="1100" dirty="0"/>
          </a:p>
        </p:txBody>
      </p:sp>
      <p:sp>
        <p:nvSpPr>
          <p:cNvPr id="3" name="Text 1"/>
          <p:cNvSpPr/>
          <p:nvPr/>
        </p:nvSpPr>
        <p:spPr>
          <a:xfrm>
            <a:off x="457200" y="566928"/>
            <a:ext cx="11277295" cy="502920"/>
          </a:xfrm>
          <a:prstGeom prst="rect">
            <a:avLst/>
          </a:prstGeom>
          <a:noFill/>
          <a:ln/>
        </p:spPr>
        <p:txBody>
          <a:bodyPr wrap="square" rtlCol="0" anchor="t"/>
          <a:lstStyle/>
          <a:p>
            <a:pPr indent="0" marL="0">
              <a:buNone/>
            </a:pPr>
            <a:r>
              <a:rPr lang="en-US" sz="2600" b="1" dirty="0">
                <a:solidFill>
                  <a:srgbClr val="E6EDF5"/>
                </a:solidFill>
                <a:latin typeface="Calibri" pitchFamily="34" charset="0"/>
                <a:ea typeface="Calibri" pitchFamily="34" charset="-122"/>
                <a:cs typeface="Calibri" pitchFamily="34" charset="-120"/>
              </a:rPr>
              <a:t>Title &amp;amp; abstract</a:t>
            </a:r>
            <a:endParaRPr lang="en-US" sz="2600" dirty="0"/>
          </a:p>
        </p:txBody>
      </p:sp>
      <p:sp>
        <p:nvSpPr>
          <p:cNvPr id="4" name="Text 2"/>
          <p:cNvSpPr/>
          <p:nvPr/>
        </p:nvSpPr>
        <p:spPr>
          <a:xfrm>
            <a:off x="457200" y="1115568"/>
            <a:ext cx="11277295" cy="502920"/>
          </a:xfrm>
          <a:prstGeom prst="rect">
            <a:avLst/>
          </a:prstGeom>
          <a:noFill/>
          <a:ln/>
        </p:spPr>
        <p:txBody>
          <a:bodyPr wrap="square" rtlCol="0" anchor="t"/>
          <a:lstStyle/>
          <a:p>
            <a:pPr indent="0" marL="0">
              <a:buNone/>
            </a:pPr>
            <a:r>
              <a:rPr lang="en-US" sz="1400" b="1" dirty="0">
                <a:solidFill>
                  <a:srgbClr val="E6EDF5"/>
                </a:solidFill>
                <a:latin typeface="Calibri" pitchFamily="34" charset="0"/>
                <a:ea typeface="Calibri" pitchFamily="34" charset="-122"/>
                <a:cs typeface="Calibri" pitchFamily="34" charset="-120"/>
              </a:rPr>
              <a:t>AI-Assisted 3D Assembly Design: Graph Neural Networks for Missing-Component Detection and Next-Component Ranking in CAD Assemblies</a:t>
            </a:r>
            <a:endParaRPr lang="en-US" sz="1400" dirty="0"/>
          </a:p>
        </p:txBody>
      </p:sp>
      <p:sp>
        <p:nvSpPr>
          <p:cNvPr id="5" name="Shape 3"/>
          <p:cNvSpPr/>
          <p:nvPr/>
        </p:nvSpPr>
        <p:spPr>
          <a:xfrm>
            <a:off x="457200" y="1737360"/>
            <a:ext cx="6492240" cy="4617720"/>
          </a:xfrm>
          <a:prstGeom prst="roundRect">
            <a:avLst>
              <a:gd name="adj" fmla="val 990"/>
            </a:avLst>
          </a:prstGeom>
          <a:solidFill>
            <a:srgbClr val="142338"/>
          </a:solidFill>
          <a:ln w="15875">
            <a:solidFill>
              <a:srgbClr val="5B9BD5"/>
            </a:solidFill>
            <a:prstDash val="solid"/>
          </a:ln>
        </p:spPr>
      </p:sp>
      <p:sp>
        <p:nvSpPr>
          <p:cNvPr id="6" name="Text 4"/>
          <p:cNvSpPr/>
          <p:nvPr/>
        </p:nvSpPr>
        <p:spPr>
          <a:xfrm>
            <a:off x="713232" y="1874520"/>
            <a:ext cx="5989320" cy="4343400"/>
          </a:xfrm>
          <a:prstGeom prst="rect">
            <a:avLst/>
          </a:prstGeom>
          <a:noFill/>
          <a:ln/>
        </p:spPr>
        <p:txBody>
          <a:bodyPr wrap="square" rtlCol="0" anchor="t"/>
          <a:lstStyle/>
          <a:p>
            <a:pPr indent="0" marL="0">
              <a:lnSpc>
                <a:spcPct val="130000"/>
              </a:lnSpc>
              <a:buNone/>
            </a:pPr>
            <a:r>
              <a:rPr lang="en-US" sz="1250" dirty="0">
                <a:solidFill>
                  <a:srgbClr val="DBE4EE"/>
                </a:solidFill>
                <a:latin typeface="Calibri" pitchFamily="34" charset="0"/>
                <a:ea typeface="Calibri" pitchFamily="34" charset="-122"/>
                <a:cs typeface="Calibri" pitchFamily="34" charset="-120"/>
              </a:rPr>
              <a:t>This project models CAD assemblies as graphs — components as nodes, mates/joints as edges — and applies Graph Attention Networks to reason about assembly structure. Phase 1 addressed missing-component detection via link prediction over STEP-derived geometry features, supported by a template-based frequency prior and an Octree-based open-surface localizer, and delivered through a Gemini-backed explanation agent and a Streamlit/FastAPI application. Phase 2 extends the encoder to a heterogeneous, relation-aware architecture (RGATConv + TypedLinear) that gives each component type and joint type its own parameters, and introduces a Node Ranker head that answers a forward-looking question — given a partial assembly, which component type is most likely to complete it next — evaluated via Hit@K, MRR, and NDCG@K. The work is evaluated on real-world STEP assemblies spanning multiple mechanical-engineering categories, with an explicit, honestly-reported target of AUC ≥ 0.85 for link prediction that remains an open research problem addressed through architecture and data-scale experiments (R29–R31) discussed in this review.</a:t>
            </a:r>
            <a:endParaRPr lang="en-US" sz="1250" dirty="0"/>
          </a:p>
        </p:txBody>
      </p:sp>
      <p:pic>
        <p:nvPicPr>
          <p:cNvPr id="7" name="Image 0" descr="/Users/mbp/Documents/MTECH/Sem4/Individual_project/AI_Assisted_3D_Assembly_Design/AI-Assisted-3D-Assembly-Design/docs/wheel missing.png">    </p:cNvPr>
          <p:cNvPicPr>
            <a:picLocks noChangeAspect="1"/>
          </p:cNvPicPr>
          <p:nvPr/>
        </p:nvPicPr>
        <p:blipFill>
          <a:blip r:embed="rId1"/>
          <a:srcRect l="0" r="0" t="0" b="0"/>
          <a:stretch/>
        </p:blipFill>
        <p:spPr>
          <a:xfrm>
            <a:off x="7132320" y="1737360"/>
            <a:ext cx="4599432" cy="4206240"/>
          </a:xfrm>
          <a:prstGeom prst="rect">
            <a:avLst/>
          </a:prstGeom>
        </p:spPr>
      </p:pic>
      <p:sp>
        <p:nvSpPr>
          <p:cNvPr id="8" name="Text 5"/>
          <p:cNvSpPr/>
          <p:nvPr/>
        </p:nvSpPr>
        <p:spPr>
          <a:xfrm>
            <a:off x="7132320" y="5989320"/>
            <a:ext cx="4599432" cy="365760"/>
          </a:xfrm>
          <a:prstGeom prst="rect">
            <a:avLst/>
          </a:prstGeom>
          <a:noFill/>
          <a:ln/>
        </p:spPr>
        <p:txBody>
          <a:bodyPr wrap="square" rtlCol="0" anchor="ctr"/>
          <a:lstStyle/>
          <a:p>
            <a:pPr algn="ctr" indent="0" marL="0">
              <a:buNone/>
            </a:pPr>
            <a:r>
              <a:rPr lang="en-US" sz="950" i="1" dirty="0">
                <a:solidFill>
                  <a:srgbClr val="8AA0B8"/>
                </a:solidFill>
                <a:latin typeface="Calibri" pitchFamily="34" charset="0"/>
                <a:ea typeface="Calibri" pitchFamily="34" charset="-122"/>
                <a:cs typeface="Calibri" pitchFamily="34" charset="-120"/>
              </a:rPr>
              <a:t>The problem this abstract describes, in practice — a GNN-flagged missing wheel component on a bicycle assembly</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121F"/>
        </a:solidFill>
      </p:bgPr>
    </p:bg>
    <p:spTree>
      <p:nvGrpSpPr>
        <p:cNvPr id="1" name=""/>
        <p:cNvGrpSpPr/>
        <p:nvPr/>
      </p:nvGrpSpPr>
      <p:grpSpPr>
        <a:xfrm>
          <a:off x="0" y="0"/>
          <a:ext cx="0" cy="0"/>
          <a:chOff x="0" y="0"/>
          <a:chExt cx="0" cy="0"/>
        </a:xfrm>
      </p:grpSpPr>
      <p:sp>
        <p:nvSpPr>
          <p:cNvPr id="2" name="Text 0"/>
          <p:cNvSpPr/>
          <p:nvPr/>
        </p:nvSpPr>
        <p:spPr>
          <a:xfrm>
            <a:off x="457200" y="292608"/>
            <a:ext cx="11277295" cy="274320"/>
          </a:xfrm>
          <a:prstGeom prst="rect">
            <a:avLst/>
          </a:prstGeom>
          <a:noFill/>
          <a:ln/>
        </p:spPr>
        <p:txBody>
          <a:bodyPr wrap="square" rtlCol="0" anchor="ctr"/>
          <a:lstStyle/>
          <a:p>
            <a:pPr indent="0" marL="0">
              <a:buNone/>
            </a:pPr>
            <a:r>
              <a:rPr lang="en-US" sz="1100" b="1" spc="150" kern="0" dirty="0">
                <a:solidFill>
                  <a:srgbClr val="5B9BD5"/>
                </a:solidFill>
                <a:latin typeface="Calibri" pitchFamily="34" charset="0"/>
                <a:ea typeface="Calibri" pitchFamily="34" charset="-122"/>
                <a:cs typeface="Calibri" pitchFamily="34" charset="-120"/>
              </a:rPr>
              <a:t>4 · PROPOSED SYSTEM</a:t>
            </a:r>
            <a:endParaRPr lang="en-US" sz="1100" dirty="0"/>
          </a:p>
        </p:txBody>
      </p:sp>
      <p:sp>
        <p:nvSpPr>
          <p:cNvPr id="3" name="Text 1"/>
          <p:cNvSpPr/>
          <p:nvPr/>
        </p:nvSpPr>
        <p:spPr>
          <a:xfrm>
            <a:off x="457200" y="566928"/>
            <a:ext cx="11277295" cy="502920"/>
          </a:xfrm>
          <a:prstGeom prst="rect">
            <a:avLst/>
          </a:prstGeom>
          <a:noFill/>
          <a:ln/>
        </p:spPr>
        <p:txBody>
          <a:bodyPr wrap="square" rtlCol="0" anchor="t"/>
          <a:lstStyle/>
          <a:p>
            <a:pPr indent="0" marL="0">
              <a:buNone/>
            </a:pPr>
            <a:r>
              <a:rPr lang="en-US" sz="2600" b="1" dirty="0">
                <a:solidFill>
                  <a:srgbClr val="E6EDF5"/>
                </a:solidFill>
                <a:latin typeface="Calibri" pitchFamily="34" charset="0"/>
                <a:ea typeface="Calibri" pitchFamily="34" charset="-122"/>
                <a:cs typeface="Calibri" pitchFamily="34" charset="-120"/>
              </a:rPr>
              <a:t>Proposed system — Phase 2</a:t>
            </a:r>
            <a:endParaRPr lang="en-US" sz="2600" dirty="0"/>
          </a:p>
        </p:txBody>
      </p:sp>
      <p:sp>
        <p:nvSpPr>
          <p:cNvPr id="4" name="Shape 2"/>
          <p:cNvSpPr/>
          <p:nvPr/>
        </p:nvSpPr>
        <p:spPr>
          <a:xfrm>
            <a:off x="457200" y="1371600"/>
            <a:ext cx="1554480" cy="685800"/>
          </a:xfrm>
          <a:prstGeom prst="roundRect">
            <a:avLst>
              <a:gd name="adj" fmla="val 6667"/>
            </a:avLst>
          </a:prstGeom>
          <a:solidFill>
            <a:srgbClr val="142338"/>
          </a:solidFill>
          <a:ln w="12700">
            <a:solidFill>
              <a:srgbClr val="24405F"/>
            </a:solidFill>
            <a:prstDash val="solid"/>
          </a:ln>
        </p:spPr>
      </p:sp>
      <p:sp>
        <p:nvSpPr>
          <p:cNvPr id="5" name="Text 3"/>
          <p:cNvSpPr/>
          <p:nvPr/>
        </p:nvSpPr>
        <p:spPr>
          <a:xfrm>
            <a:off x="502920" y="1371600"/>
            <a:ext cx="1463040" cy="685800"/>
          </a:xfrm>
          <a:prstGeom prst="rect">
            <a:avLst/>
          </a:prstGeom>
          <a:noFill/>
          <a:ln/>
        </p:spPr>
        <p:txBody>
          <a:bodyPr wrap="square" rtlCol="0" anchor="ctr"/>
          <a:lstStyle/>
          <a:p>
            <a:pPr algn="ctr" indent="0" marL="0">
              <a:buNone/>
            </a:pPr>
            <a:r>
              <a:rPr lang="en-US" sz="1050" dirty="0">
                <a:solidFill>
                  <a:srgbClr val="E6EDF5"/>
                </a:solidFill>
                <a:latin typeface="Calibri" pitchFamily="34" charset="0"/>
                <a:ea typeface="Calibri" pitchFamily="34" charset="-122"/>
                <a:cs typeface="Calibri" pitchFamily="34" charset="-120"/>
              </a:rPr>
              <a:t>STEP assembly</a:t>
            </a:r>
            <a:endParaRPr lang="en-US" sz="1050" dirty="0"/>
          </a:p>
        </p:txBody>
      </p:sp>
      <p:sp>
        <p:nvSpPr>
          <p:cNvPr id="6" name="Text 4"/>
          <p:cNvSpPr/>
          <p:nvPr/>
        </p:nvSpPr>
        <p:spPr>
          <a:xfrm>
            <a:off x="2011680" y="1371600"/>
            <a:ext cx="320040" cy="685800"/>
          </a:xfrm>
          <a:prstGeom prst="rect">
            <a:avLst/>
          </a:prstGeom>
          <a:noFill/>
          <a:ln/>
        </p:spPr>
        <p:txBody>
          <a:bodyPr wrap="square" rtlCol="0" anchor="ctr"/>
          <a:lstStyle/>
          <a:p>
            <a:pPr algn="ctr" indent="0" marL="0">
              <a:buNone/>
            </a:pPr>
            <a:r>
              <a:rPr lang="en-US" sz="1600" dirty="0">
                <a:solidFill>
                  <a:srgbClr val="8AA0B8"/>
                </a:solidFill>
                <a:latin typeface="Calibri" pitchFamily="34" charset="0"/>
                <a:ea typeface="Calibri" pitchFamily="34" charset="-122"/>
                <a:cs typeface="Calibri" pitchFamily="34" charset="-120"/>
              </a:rPr>
              <a:t>→</a:t>
            </a:r>
            <a:endParaRPr lang="en-US" sz="1600" dirty="0"/>
          </a:p>
        </p:txBody>
      </p:sp>
      <p:sp>
        <p:nvSpPr>
          <p:cNvPr id="7" name="Shape 5"/>
          <p:cNvSpPr/>
          <p:nvPr/>
        </p:nvSpPr>
        <p:spPr>
          <a:xfrm>
            <a:off x="2377440" y="1371600"/>
            <a:ext cx="2468880" cy="685800"/>
          </a:xfrm>
          <a:prstGeom prst="roundRect">
            <a:avLst>
              <a:gd name="adj" fmla="val 6667"/>
            </a:avLst>
          </a:prstGeom>
          <a:solidFill>
            <a:srgbClr val="142338"/>
          </a:solidFill>
          <a:ln w="12700">
            <a:solidFill>
              <a:srgbClr val="24405F"/>
            </a:solidFill>
            <a:prstDash val="solid"/>
          </a:ln>
        </p:spPr>
      </p:sp>
      <p:sp>
        <p:nvSpPr>
          <p:cNvPr id="8" name="Text 6"/>
          <p:cNvSpPr/>
          <p:nvPr/>
        </p:nvSpPr>
        <p:spPr>
          <a:xfrm>
            <a:off x="2423160" y="1371600"/>
            <a:ext cx="2377440" cy="685800"/>
          </a:xfrm>
          <a:prstGeom prst="rect">
            <a:avLst/>
          </a:prstGeom>
          <a:noFill/>
          <a:ln/>
        </p:spPr>
        <p:txBody>
          <a:bodyPr wrap="square" rtlCol="0" anchor="ctr"/>
          <a:lstStyle/>
          <a:p>
            <a:pPr algn="ctr" indent="0" marL="0">
              <a:buNone/>
            </a:pPr>
            <a:r>
              <a:rPr lang="en-US" sz="1050" dirty="0">
                <a:solidFill>
                  <a:srgbClr val="E6EDF5"/>
                </a:solidFill>
                <a:latin typeface="Calibri" pitchFamily="34" charset="0"/>
                <a:ea typeface="Calibri" pitchFamily="34" charset="-122"/>
                <a:cs typeface="Calibri" pitchFamily="34" charset="-120"/>
              </a:rPr>
              <a:t>22-dim node / 6-dim edge graph</a:t>
            </a:r>
            <a:endParaRPr lang="en-US" sz="1050" dirty="0"/>
          </a:p>
          <a:p>
            <a:pPr algn="ctr" indent="0" marL="0">
              <a:buNone/>
            </a:pPr>
            <a:r>
              <a:rPr lang="en-US" sz="900" dirty="0">
                <a:solidFill>
                  <a:srgbClr val="8AA0B8"/>
                </a:solidFill>
                <a:latin typeface="Calibri" pitchFamily="34" charset="0"/>
                <a:ea typeface="Calibri" pitchFamily="34" charset="-122"/>
                <a:cs typeface="Calibri" pitchFamily="34" charset="-120"/>
              </a:rPr>
              <a:t>(dataset.py, unchanged)</a:t>
            </a:r>
            <a:endParaRPr lang="en-US" sz="1050" dirty="0"/>
          </a:p>
        </p:txBody>
      </p:sp>
      <p:sp>
        <p:nvSpPr>
          <p:cNvPr id="9" name="Text 7"/>
          <p:cNvSpPr/>
          <p:nvPr/>
        </p:nvSpPr>
        <p:spPr>
          <a:xfrm>
            <a:off x="4846320" y="1371600"/>
            <a:ext cx="320040" cy="685800"/>
          </a:xfrm>
          <a:prstGeom prst="rect">
            <a:avLst/>
          </a:prstGeom>
          <a:noFill/>
          <a:ln/>
        </p:spPr>
        <p:txBody>
          <a:bodyPr wrap="square" rtlCol="0" anchor="ctr"/>
          <a:lstStyle/>
          <a:p>
            <a:pPr algn="ctr" indent="0" marL="0">
              <a:buNone/>
            </a:pPr>
            <a:r>
              <a:rPr lang="en-US" sz="1600" dirty="0">
                <a:solidFill>
                  <a:srgbClr val="8AA0B8"/>
                </a:solidFill>
                <a:latin typeface="Calibri" pitchFamily="34" charset="0"/>
                <a:ea typeface="Calibri" pitchFamily="34" charset="-122"/>
                <a:cs typeface="Calibri" pitchFamily="34" charset="-120"/>
              </a:rPr>
              <a:t>→</a:t>
            </a:r>
            <a:endParaRPr lang="en-US" sz="1600" dirty="0"/>
          </a:p>
        </p:txBody>
      </p:sp>
      <p:sp>
        <p:nvSpPr>
          <p:cNvPr id="10" name="Shape 8"/>
          <p:cNvSpPr/>
          <p:nvPr/>
        </p:nvSpPr>
        <p:spPr>
          <a:xfrm>
            <a:off x="5212080" y="1371600"/>
            <a:ext cx="2651760" cy="685800"/>
          </a:xfrm>
          <a:prstGeom prst="roundRect">
            <a:avLst>
              <a:gd name="adj" fmla="val 6667"/>
            </a:avLst>
          </a:prstGeom>
          <a:solidFill>
            <a:srgbClr val="1E1638"/>
          </a:solidFill>
          <a:ln w="12700">
            <a:solidFill>
              <a:srgbClr val="8B5CF6"/>
            </a:solidFill>
            <a:prstDash val="solid"/>
          </a:ln>
        </p:spPr>
      </p:sp>
      <p:sp>
        <p:nvSpPr>
          <p:cNvPr id="11" name="Text 9"/>
          <p:cNvSpPr/>
          <p:nvPr/>
        </p:nvSpPr>
        <p:spPr>
          <a:xfrm>
            <a:off x="5257800" y="1371600"/>
            <a:ext cx="2560320" cy="685800"/>
          </a:xfrm>
          <a:prstGeom prst="rect">
            <a:avLst/>
          </a:prstGeom>
          <a:noFill/>
          <a:ln/>
        </p:spPr>
        <p:txBody>
          <a:bodyPr wrap="square" rtlCol="0" anchor="ctr"/>
          <a:lstStyle/>
          <a:p>
            <a:pPr algn="ctr" indent="0" marL="0">
              <a:buNone/>
            </a:pPr>
            <a:r>
              <a:rPr lang="en-US" sz="1050" b="1" dirty="0">
                <a:solidFill>
                  <a:srgbClr val="E6EDF5"/>
                </a:solidFill>
                <a:latin typeface="Calibri" pitchFamily="34" charset="0"/>
                <a:ea typeface="Calibri" pitchFamily="34" charset="-122"/>
                <a:cs typeface="Calibri" pitchFamily="34" charset="-120"/>
              </a:rPr>
              <a:t>Heterogeneous encoder</a:t>
            </a:r>
            <a:endParaRPr lang="en-US" sz="1050" dirty="0"/>
          </a:p>
          <a:p>
            <a:pPr algn="ctr" indent="0" marL="0">
              <a:buNone/>
            </a:pPr>
            <a:r>
              <a:rPr lang="en-US" sz="950" dirty="0">
                <a:solidFill>
                  <a:srgbClr val="8B5CF6"/>
                </a:solidFill>
                <a:latin typeface="Calibri" pitchFamily="34" charset="0"/>
                <a:ea typeface="Calibri" pitchFamily="34" charset="-122"/>
                <a:cs typeface="Calibri" pitchFamily="34" charset="-120"/>
              </a:rPr>
              <a:t>RGATConv + TypedLinear</a:t>
            </a:r>
            <a:endParaRPr lang="en-US" sz="1050" dirty="0"/>
          </a:p>
        </p:txBody>
      </p:sp>
      <p:sp>
        <p:nvSpPr>
          <p:cNvPr id="12" name="Text 10"/>
          <p:cNvSpPr/>
          <p:nvPr/>
        </p:nvSpPr>
        <p:spPr>
          <a:xfrm>
            <a:off x="7863840" y="1371600"/>
            <a:ext cx="320040" cy="685800"/>
          </a:xfrm>
          <a:prstGeom prst="rect">
            <a:avLst/>
          </a:prstGeom>
          <a:noFill/>
          <a:ln/>
        </p:spPr>
        <p:txBody>
          <a:bodyPr wrap="square" rtlCol="0" anchor="ctr"/>
          <a:lstStyle/>
          <a:p>
            <a:pPr algn="ctr" indent="0" marL="0">
              <a:buNone/>
            </a:pPr>
            <a:r>
              <a:rPr lang="en-US" sz="1600" dirty="0">
                <a:solidFill>
                  <a:srgbClr val="8AA0B8"/>
                </a:solidFill>
                <a:latin typeface="Calibri" pitchFamily="34" charset="0"/>
                <a:ea typeface="Calibri" pitchFamily="34" charset="-122"/>
                <a:cs typeface="Calibri" pitchFamily="34" charset="-120"/>
              </a:rPr>
              <a:t>→</a:t>
            </a:r>
            <a:endParaRPr lang="en-US" sz="1600" dirty="0"/>
          </a:p>
        </p:txBody>
      </p:sp>
      <p:sp>
        <p:nvSpPr>
          <p:cNvPr id="13" name="Shape 11"/>
          <p:cNvSpPr/>
          <p:nvPr/>
        </p:nvSpPr>
        <p:spPr>
          <a:xfrm>
            <a:off x="8229600" y="1371600"/>
            <a:ext cx="2651760" cy="685800"/>
          </a:xfrm>
          <a:prstGeom prst="roundRect">
            <a:avLst>
              <a:gd name="adj" fmla="val 6667"/>
            </a:avLst>
          </a:prstGeom>
          <a:solidFill>
            <a:srgbClr val="142338"/>
          </a:solidFill>
          <a:ln w="12700">
            <a:solidFill>
              <a:srgbClr val="24405F"/>
            </a:solidFill>
            <a:prstDash val="solid"/>
          </a:ln>
        </p:spPr>
      </p:sp>
      <p:sp>
        <p:nvSpPr>
          <p:cNvPr id="14" name="Text 12"/>
          <p:cNvSpPr/>
          <p:nvPr/>
        </p:nvSpPr>
        <p:spPr>
          <a:xfrm>
            <a:off x="8275320" y="1371600"/>
            <a:ext cx="2560320" cy="685800"/>
          </a:xfrm>
          <a:prstGeom prst="rect">
            <a:avLst/>
          </a:prstGeom>
          <a:noFill/>
          <a:ln/>
        </p:spPr>
        <p:txBody>
          <a:bodyPr wrap="square" rtlCol="0" anchor="ctr"/>
          <a:lstStyle/>
          <a:p>
            <a:pPr algn="ctr" indent="0" marL="0">
              <a:buNone/>
            </a:pPr>
            <a:r>
              <a:rPr lang="en-US" sz="1050" b="1" dirty="0">
                <a:solidFill>
                  <a:srgbClr val="E6EDF5"/>
                </a:solidFill>
                <a:latin typeface="Calibri" pitchFamily="34" charset="0"/>
                <a:ea typeface="Calibri" pitchFamily="34" charset="-122"/>
                <a:cs typeface="Calibri" pitchFamily="34" charset="-120"/>
              </a:rPr>
              <a:t>LinkPredictor</a:t>
            </a:r>
            <a:endParaRPr lang="en-US" sz="1050" dirty="0"/>
          </a:p>
          <a:p>
            <a:pPr algn="ctr" indent="0" marL="0">
              <a:buNone/>
            </a:pPr>
            <a:r>
              <a:rPr lang="en-US" sz="900" dirty="0">
                <a:solidFill>
                  <a:srgbClr val="8AA0B8"/>
                </a:solidFill>
                <a:latin typeface="Calibri" pitchFamily="34" charset="0"/>
                <a:ea typeface="Calibri" pitchFamily="34" charset="-122"/>
                <a:cs typeface="Calibri" pitchFamily="34" charset="-120"/>
              </a:rPr>
              <a:t>missing-component detection</a:t>
            </a:r>
            <a:endParaRPr lang="en-US" sz="1050" dirty="0"/>
          </a:p>
        </p:txBody>
      </p:sp>
      <p:sp>
        <p:nvSpPr>
          <p:cNvPr id="15" name="Text 13"/>
          <p:cNvSpPr/>
          <p:nvPr/>
        </p:nvSpPr>
        <p:spPr>
          <a:xfrm>
            <a:off x="6263640" y="2103120"/>
            <a:ext cx="548640" cy="274320"/>
          </a:xfrm>
          <a:prstGeom prst="rect">
            <a:avLst/>
          </a:prstGeom>
          <a:noFill/>
          <a:ln/>
        </p:spPr>
        <p:txBody>
          <a:bodyPr wrap="square" rtlCol="0" anchor="ctr"/>
          <a:lstStyle/>
          <a:p>
            <a:pPr algn="ctr" indent="0" marL="0">
              <a:buNone/>
            </a:pPr>
            <a:r>
              <a:rPr lang="en-US" sz="1600" dirty="0">
                <a:solidFill>
                  <a:srgbClr val="8AA0B8"/>
                </a:solidFill>
                <a:latin typeface="Calibri" pitchFamily="34" charset="0"/>
                <a:ea typeface="Calibri" pitchFamily="34" charset="-122"/>
                <a:cs typeface="Calibri" pitchFamily="34" charset="-120"/>
              </a:rPr>
              <a:t>↓</a:t>
            </a:r>
            <a:endParaRPr lang="en-US" sz="1600" dirty="0"/>
          </a:p>
        </p:txBody>
      </p:sp>
      <p:sp>
        <p:nvSpPr>
          <p:cNvPr id="16" name="Shape 14"/>
          <p:cNvSpPr/>
          <p:nvPr/>
        </p:nvSpPr>
        <p:spPr>
          <a:xfrm>
            <a:off x="5212080" y="2560320"/>
            <a:ext cx="2651760" cy="685800"/>
          </a:xfrm>
          <a:prstGeom prst="roundRect">
            <a:avLst>
              <a:gd name="adj" fmla="val 6667"/>
            </a:avLst>
          </a:prstGeom>
          <a:solidFill>
            <a:srgbClr val="1E1638"/>
          </a:solidFill>
          <a:ln w="12700">
            <a:solidFill>
              <a:srgbClr val="8B5CF6"/>
            </a:solidFill>
            <a:prstDash val="solid"/>
          </a:ln>
        </p:spPr>
      </p:sp>
      <p:sp>
        <p:nvSpPr>
          <p:cNvPr id="17" name="Text 15"/>
          <p:cNvSpPr/>
          <p:nvPr/>
        </p:nvSpPr>
        <p:spPr>
          <a:xfrm>
            <a:off x="5257800" y="2560320"/>
            <a:ext cx="2560320" cy="685800"/>
          </a:xfrm>
          <a:prstGeom prst="rect">
            <a:avLst/>
          </a:prstGeom>
          <a:noFill/>
          <a:ln/>
        </p:spPr>
        <p:txBody>
          <a:bodyPr wrap="square" rtlCol="0" anchor="ctr"/>
          <a:lstStyle/>
          <a:p>
            <a:pPr algn="ctr" indent="0" marL="0">
              <a:buNone/>
            </a:pPr>
            <a:r>
              <a:rPr lang="en-US" sz="1050" b="1" dirty="0">
                <a:solidFill>
                  <a:srgbClr val="E6EDF5"/>
                </a:solidFill>
                <a:latin typeface="Calibri" pitchFamily="34" charset="0"/>
                <a:ea typeface="Calibri" pitchFamily="34" charset="-122"/>
                <a:cs typeface="Calibri" pitchFamily="34" charset="-120"/>
              </a:rPr>
              <a:t>Node Ranker</a:t>
            </a:r>
            <a:endParaRPr lang="en-US" sz="1050" dirty="0"/>
          </a:p>
          <a:p>
            <a:pPr algn="ctr" indent="0" marL="0">
              <a:buNone/>
            </a:pPr>
            <a:r>
              <a:rPr lang="en-US" sz="950" dirty="0">
                <a:solidFill>
                  <a:srgbClr val="8B5CF6"/>
                </a:solidFill>
                <a:latin typeface="Calibri" pitchFamily="34" charset="0"/>
                <a:ea typeface="Calibri" pitchFamily="34" charset="-122"/>
                <a:cs typeface="Calibri" pitchFamily="34" charset="-120"/>
              </a:rPr>
              <a:t>cosine sim + BPR</a:t>
            </a:r>
            <a:endParaRPr lang="en-US" sz="1050" dirty="0"/>
          </a:p>
        </p:txBody>
      </p:sp>
      <p:sp>
        <p:nvSpPr>
          <p:cNvPr id="18" name="Text 16"/>
          <p:cNvSpPr/>
          <p:nvPr/>
        </p:nvSpPr>
        <p:spPr>
          <a:xfrm>
            <a:off x="7863840" y="2560320"/>
            <a:ext cx="320040" cy="685800"/>
          </a:xfrm>
          <a:prstGeom prst="rect">
            <a:avLst/>
          </a:prstGeom>
          <a:noFill/>
          <a:ln/>
        </p:spPr>
        <p:txBody>
          <a:bodyPr wrap="square" rtlCol="0" anchor="ctr"/>
          <a:lstStyle/>
          <a:p>
            <a:pPr algn="ctr" indent="0" marL="0">
              <a:buNone/>
            </a:pPr>
            <a:r>
              <a:rPr lang="en-US" sz="1600" dirty="0">
                <a:solidFill>
                  <a:srgbClr val="8AA0B8"/>
                </a:solidFill>
                <a:latin typeface="Calibri" pitchFamily="34" charset="0"/>
                <a:ea typeface="Calibri" pitchFamily="34" charset="-122"/>
                <a:cs typeface="Calibri" pitchFamily="34" charset="-120"/>
              </a:rPr>
              <a:t>→</a:t>
            </a:r>
            <a:endParaRPr lang="en-US" sz="1600" dirty="0"/>
          </a:p>
        </p:txBody>
      </p:sp>
      <p:sp>
        <p:nvSpPr>
          <p:cNvPr id="19" name="Shape 17"/>
          <p:cNvSpPr/>
          <p:nvPr/>
        </p:nvSpPr>
        <p:spPr>
          <a:xfrm>
            <a:off x="8229600" y="2560320"/>
            <a:ext cx="2651760" cy="685800"/>
          </a:xfrm>
          <a:prstGeom prst="roundRect">
            <a:avLst>
              <a:gd name="adj" fmla="val 6667"/>
            </a:avLst>
          </a:prstGeom>
          <a:solidFill>
            <a:srgbClr val="142338"/>
          </a:solidFill>
          <a:ln w="12700">
            <a:solidFill>
              <a:srgbClr val="24405F"/>
            </a:solidFill>
            <a:prstDash val="solid"/>
          </a:ln>
        </p:spPr>
      </p:sp>
      <p:sp>
        <p:nvSpPr>
          <p:cNvPr id="20" name="Text 18"/>
          <p:cNvSpPr/>
          <p:nvPr/>
        </p:nvSpPr>
        <p:spPr>
          <a:xfrm>
            <a:off x="8275320" y="2560320"/>
            <a:ext cx="2560320" cy="685800"/>
          </a:xfrm>
          <a:prstGeom prst="rect">
            <a:avLst/>
          </a:prstGeom>
          <a:noFill/>
          <a:ln/>
        </p:spPr>
        <p:txBody>
          <a:bodyPr wrap="square" rtlCol="0" anchor="ctr"/>
          <a:lstStyle/>
          <a:p>
            <a:pPr algn="ctr" indent="0" marL="0">
              <a:buNone/>
            </a:pPr>
            <a:r>
              <a:rPr lang="en-US" sz="1050" b="1" dirty="0">
                <a:solidFill>
                  <a:srgbClr val="E6EDF5"/>
                </a:solidFill>
                <a:latin typeface="Calibri" pitchFamily="34" charset="0"/>
                <a:ea typeface="Calibri" pitchFamily="34" charset="-122"/>
                <a:cs typeface="Calibri" pitchFamily="34" charset="-120"/>
              </a:rPr>
              <a:t>Ranked next-component type</a:t>
            </a:r>
            <a:endParaRPr lang="en-US" sz="1050" dirty="0"/>
          </a:p>
          <a:p>
            <a:pPr algn="ctr" indent="0" marL="0">
              <a:buNone/>
            </a:pPr>
            <a:r>
              <a:rPr lang="en-US" sz="900" dirty="0">
                <a:solidFill>
                  <a:srgbClr val="8AA0B8"/>
                </a:solidFill>
                <a:latin typeface="Calibri" pitchFamily="34" charset="0"/>
                <a:ea typeface="Calibri" pitchFamily="34" charset="-122"/>
                <a:cs typeface="Calibri" pitchFamily="34" charset="-120"/>
              </a:rPr>
              <a:t>Hit@K / MRR / NDCG@K</a:t>
            </a:r>
            <a:endParaRPr lang="en-US" sz="1050" dirty="0"/>
          </a:p>
        </p:txBody>
      </p:sp>
      <p:sp>
        <p:nvSpPr>
          <p:cNvPr id="21" name="Shape 19"/>
          <p:cNvSpPr/>
          <p:nvPr/>
        </p:nvSpPr>
        <p:spPr>
          <a:xfrm>
            <a:off x="457200" y="3703320"/>
            <a:ext cx="11277295" cy="1600200"/>
          </a:xfrm>
          <a:prstGeom prst="roundRect">
            <a:avLst>
              <a:gd name="adj" fmla="val 3429"/>
            </a:avLst>
          </a:prstGeom>
          <a:solidFill>
            <a:srgbClr val="142338"/>
          </a:solidFill>
          <a:ln w="12700">
            <a:solidFill>
              <a:srgbClr val="24405F"/>
            </a:solidFill>
            <a:prstDash val="solid"/>
          </a:ln>
        </p:spPr>
      </p:sp>
      <p:sp>
        <p:nvSpPr>
          <p:cNvPr id="22" name="Text 20"/>
          <p:cNvSpPr/>
          <p:nvPr/>
        </p:nvSpPr>
        <p:spPr>
          <a:xfrm>
            <a:off x="621792" y="3867912"/>
            <a:ext cx="10948111" cy="292608"/>
          </a:xfrm>
          <a:prstGeom prst="rect">
            <a:avLst/>
          </a:prstGeom>
          <a:noFill/>
          <a:ln/>
        </p:spPr>
        <p:txBody>
          <a:bodyPr wrap="square" rtlCol="0" anchor="ctr"/>
          <a:lstStyle/>
          <a:p>
            <a:pPr indent="0" marL="0">
              <a:buNone/>
            </a:pPr>
            <a:r>
              <a:rPr lang="en-US" sz="1300" b="1" dirty="0">
                <a:solidFill>
                  <a:srgbClr val="5B9BD5"/>
                </a:solidFill>
                <a:latin typeface="Calibri" pitchFamily="34" charset="0"/>
                <a:ea typeface="Calibri" pitchFamily="34" charset="-122"/>
                <a:cs typeface="Calibri" pitchFamily="34" charset="-120"/>
              </a:rPr>
              <a:t>Design principle carried through Phase 2</a:t>
            </a:r>
            <a:endParaRPr lang="en-US" sz="1300" dirty="0"/>
          </a:p>
        </p:txBody>
      </p:sp>
      <p:sp>
        <p:nvSpPr>
          <p:cNvPr id="23" name="Text 21"/>
          <p:cNvSpPr/>
          <p:nvPr/>
        </p:nvSpPr>
        <p:spPr>
          <a:xfrm>
            <a:off x="621792" y="4197096"/>
            <a:ext cx="10948111" cy="941832"/>
          </a:xfrm>
          <a:prstGeom prst="rect">
            <a:avLst/>
          </a:prstGeom>
          <a:noFill/>
          <a:ln/>
        </p:spPr>
        <p:txBody>
          <a:bodyPr wrap="square" rtlCol="0" anchor="t"/>
          <a:lstStyle/>
          <a:p>
            <a:pPr marL="177800" indent="-177800">
              <a:lnSpc>
                <a:spcPct val="115000"/>
              </a:lnSpc>
              <a:spcAft>
                <a:spcPts val="600"/>
              </a:spcAft>
              <a:buSzPct val="100000"/>
              <a:buChar char="•"/>
            </a:pPr>
            <a:r>
              <a:rPr lang="en-US" sz="1200" dirty="0">
                <a:solidFill>
                  <a:srgbClr val="CFD9E6"/>
                </a:solidFill>
                <a:latin typeface="Calibri" pitchFamily="34" charset="0"/>
                <a:ea typeface="Calibri" pitchFamily="34" charset="-122"/>
                <a:cs typeface="Calibri" pitchFamily="34" charset="-120"/>
              </a:rPr>
              <a:t>Node Ranker reuses the Phase 1/2 encoder </a:t>
            </a:r>
            <a:endParaRPr lang="en-US" sz="1200" dirty="0"/>
          </a:p>
          <a:p>
            <a:pPr indent="0" marL="0">
              <a:lnSpc>
                <a:spcPct val="115000"/>
              </a:lnSpc>
              <a:buNone/>
            </a:pPr>
            <a:r>
              <a:rPr lang="en-US" sz="1200" b="1" dirty="0">
                <a:solidFill>
                  <a:srgbClr val="E6EDF5"/>
                </a:solidFill>
                <a:latin typeface="Calibri" pitchFamily="34" charset="0"/>
                <a:ea typeface="Calibri" pitchFamily="34" charset="-122"/>
                <a:cs typeface="Calibri" pitchFamily="34" charset="-120"/>
              </a:rPr>
              <a:t>frozen</a:t>
            </a:r>
            <a:pPr indent="0" marL="0">
              <a:lnSpc>
                <a:spcPct val="115000"/>
              </a:lnSpc>
              <a:buNone/>
            </a:pPr>
            <a:r>
              <a:rPr lang="en-US" sz="1200" dirty="0">
                <a:solidFill>
                  <a:srgbClr val="CFD9E6"/>
                </a:solidFill>
                <a:latin typeface="Calibri" pitchFamily="34" charset="0"/>
                <a:ea typeface="Calibri" pitchFamily="34" charset="-122"/>
                <a:cs typeface="Calibri" pitchFamily="34" charset="-120"/>
              </a:rPr>
              <a:t> — only its own small projection layer is trained, so encoder retraining (R29 → R30 → R31) and ranker retraining stay independent, cheap, and clearly attributable</a:t>
            </a:r>
            <a:endParaRPr lang="en-US" sz="1200" dirty="0"/>
          </a:p>
          <a:p>
            <a:pPr marL="177800" indent="-177800">
              <a:lnSpc>
                <a:spcPct val="115000"/>
              </a:lnSpc>
              <a:spcAft>
                <a:spcPts val="600"/>
              </a:spcAft>
              <a:buSzPct val="100000"/>
              <a:buChar char="•"/>
            </a:pPr>
            <a:r>
              <a:rPr lang="en-US" sz="1200" dirty="0">
                <a:solidFill>
                  <a:srgbClr val="CFD9E6"/>
                </a:solidFill>
                <a:latin typeface="Calibri" pitchFamily="34" charset="0"/>
                <a:ea typeface="Calibri" pitchFamily="34" charset="-122"/>
                <a:cs typeface="Calibri" pitchFamily="34" charset="-120"/>
              </a:rPr>
              <a:t>Both heads write to </a:t>
            </a:r>
            <a:pPr indent="0" marL="0">
              <a:lnSpc>
                <a:spcPct val="115000"/>
              </a:lnSpc>
              <a:buNone/>
            </a:pPr>
            <a:r>
              <a:rPr lang="en-US" sz="1200" b="1" dirty="0">
                <a:solidFill>
                  <a:srgbClr val="E6EDF5"/>
                </a:solidFill>
                <a:latin typeface="Calibri" pitchFamily="34" charset="0"/>
                <a:ea typeface="Calibri" pitchFamily="34" charset="-122"/>
                <a:cs typeface="Calibri" pitchFamily="34" charset="-120"/>
              </a:rPr>
              <a:t>separate checkpoints</a:t>
            </a:r>
            <a:pPr indent="0" marL="0">
              <a:lnSpc>
                <a:spcPct val="115000"/>
              </a:lnSpc>
              <a:buNone/>
            </a:pPr>
            <a:r>
              <a:rPr lang="en-US" sz="1200" dirty="0">
                <a:solidFill>
                  <a:srgbClr val="CFD9E6"/>
                </a:solidFill>
                <a:latin typeface="Calibri" pitchFamily="34" charset="0"/>
                <a:ea typeface="Calibri" pitchFamily="34" charset="-122"/>
                <a:cs typeface="Calibri" pitchFamily="34" charset="-120"/>
              </a:rPr>
              <a:t> (</a:t>
            </a:r>
            <a:pPr indent="0" marL="0">
              <a:lnSpc>
                <a:spcPct val="115000"/>
              </a:lnSpc>
              <a:buNone/>
            </a:pPr>
            <a:r>
              <a:rPr lang="en-US" sz="1200" dirty="0">
                <a:solidFill>
                  <a:srgbClr val="FFD9A0"/>
                </a:solidFill>
                <a:latin typeface="Consolas" pitchFamily="34" charset="0"/>
                <a:ea typeface="Consolas" pitchFamily="34" charset="-122"/>
                <a:cs typeface="Consolas" pitchFamily="34" charset="-120"/>
              </a:rPr>
              <a:t>best_serving.pt</a:t>
            </a:r>
            <a:pPr indent="0" marL="0">
              <a:lnSpc>
                <a:spcPct val="115000"/>
              </a:lnSpc>
              <a:buNone/>
            </a:pPr>
            <a:r>
              <a:rPr lang="en-US" sz="1200" dirty="0">
                <a:solidFill>
                  <a:srgbClr val="CFD9E6"/>
                </a:solidFill>
                <a:latin typeface="Calibri" pitchFamily="34" charset="0"/>
                <a:ea typeface="Calibri" pitchFamily="34" charset="-122"/>
                <a:cs typeface="Calibri" pitchFamily="34" charset="-120"/>
              </a:rPr>
              <a:t> vs </a:t>
            </a:r>
            <a:pPr indent="0" marL="0">
              <a:lnSpc>
                <a:spcPct val="115000"/>
              </a:lnSpc>
              <a:buNone/>
            </a:pPr>
            <a:r>
              <a:rPr lang="en-US" sz="1200" dirty="0">
                <a:solidFill>
                  <a:srgbClr val="FFD9A0"/>
                </a:solidFill>
                <a:latin typeface="Consolas" pitchFamily="34" charset="0"/>
                <a:ea typeface="Consolas" pitchFamily="34" charset="-122"/>
                <a:cs typeface="Consolas" pitchFamily="34" charset="-120"/>
              </a:rPr>
              <a:t>node_ranker.pt</a:t>
            </a:r>
            <a:pPr indent="0" marL="0">
              <a:lnSpc>
                <a:spcPct val="115000"/>
              </a:lnSpc>
              <a:buNone/>
            </a:pPr>
            <a:r>
              <a:rPr lang="en-US" sz="1200" dirty="0">
                <a:solidFill>
                  <a:srgbClr val="CFD9E6"/>
                </a:solidFill>
                <a:latin typeface="Calibri" pitchFamily="34" charset="0"/>
                <a:ea typeface="Calibri" pitchFamily="34" charset="-122"/>
                <a:cs typeface="Calibri" pitchFamily="34" charset="-120"/>
              </a:rPr>
              <a:t>) with an explicit staleness guard tying the ranker to the encoder it was trained against</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121F"/>
        </a:solidFill>
      </p:bgPr>
    </p:bg>
    <p:spTree>
      <p:nvGrpSpPr>
        <p:cNvPr id="1" name=""/>
        <p:cNvGrpSpPr/>
        <p:nvPr/>
      </p:nvGrpSpPr>
      <p:grpSpPr>
        <a:xfrm>
          <a:off x="0" y="0"/>
          <a:ext cx="0" cy="0"/>
          <a:chOff x="0" y="0"/>
          <a:chExt cx="0" cy="0"/>
        </a:xfrm>
      </p:grpSpPr>
      <p:sp>
        <p:nvSpPr>
          <p:cNvPr id="2" name="Text 0"/>
          <p:cNvSpPr/>
          <p:nvPr/>
        </p:nvSpPr>
        <p:spPr>
          <a:xfrm>
            <a:off x="457200" y="292608"/>
            <a:ext cx="11277295" cy="274320"/>
          </a:xfrm>
          <a:prstGeom prst="rect">
            <a:avLst/>
          </a:prstGeom>
          <a:noFill/>
          <a:ln/>
        </p:spPr>
        <p:txBody>
          <a:bodyPr wrap="square" rtlCol="0" anchor="ctr"/>
          <a:lstStyle/>
          <a:p>
            <a:pPr indent="0" marL="0">
              <a:buNone/>
            </a:pPr>
            <a:r>
              <a:rPr lang="en-US" sz="1100" b="1" spc="150" kern="0" dirty="0">
                <a:solidFill>
                  <a:srgbClr val="5B9BD5"/>
                </a:solidFill>
                <a:latin typeface="Calibri" pitchFamily="34" charset="0"/>
                <a:ea typeface="Calibri" pitchFamily="34" charset="-122"/>
                <a:cs typeface="Calibri" pitchFamily="34" charset="-120"/>
              </a:rPr>
              <a:t>5 · ALGORITHM / TECHNIQUES</a:t>
            </a:r>
            <a:endParaRPr lang="en-US" sz="1100" dirty="0"/>
          </a:p>
        </p:txBody>
      </p:sp>
      <p:sp>
        <p:nvSpPr>
          <p:cNvPr id="3" name="Text 1"/>
          <p:cNvSpPr/>
          <p:nvPr/>
        </p:nvSpPr>
        <p:spPr>
          <a:xfrm>
            <a:off x="457200" y="566928"/>
            <a:ext cx="11277295" cy="502920"/>
          </a:xfrm>
          <a:prstGeom prst="rect">
            <a:avLst/>
          </a:prstGeom>
          <a:noFill/>
          <a:ln/>
        </p:spPr>
        <p:txBody>
          <a:bodyPr wrap="square" rtlCol="0" anchor="t"/>
          <a:lstStyle/>
          <a:p>
            <a:pPr indent="0" marL="0">
              <a:buNone/>
            </a:pPr>
            <a:r>
              <a:rPr lang="en-US" sz="2600" b="1" dirty="0">
                <a:solidFill>
                  <a:srgbClr val="E6EDF5"/>
                </a:solidFill>
                <a:latin typeface="Calibri" pitchFamily="34" charset="0"/>
                <a:ea typeface="Calibri" pitchFamily="34" charset="-122"/>
                <a:cs typeface="Calibri" pitchFamily="34" charset="-120"/>
              </a:rPr>
              <a:t>Algorithm &amp;amp; techniques</a:t>
            </a:r>
            <a:endParaRPr lang="en-US" sz="2600" dirty="0"/>
          </a:p>
        </p:txBody>
      </p:sp>
      <p:sp>
        <p:nvSpPr>
          <p:cNvPr id="4" name="Shape 2"/>
          <p:cNvSpPr/>
          <p:nvPr/>
        </p:nvSpPr>
        <p:spPr>
          <a:xfrm>
            <a:off x="457200" y="1234440"/>
            <a:ext cx="3637178" cy="5120640"/>
          </a:xfrm>
          <a:prstGeom prst="roundRect">
            <a:avLst>
              <a:gd name="adj" fmla="val 1508"/>
            </a:avLst>
          </a:prstGeom>
          <a:solidFill>
            <a:srgbClr val="142338"/>
          </a:solidFill>
          <a:ln w="12700">
            <a:solidFill>
              <a:srgbClr val="24405F"/>
            </a:solidFill>
            <a:prstDash val="solid"/>
          </a:ln>
        </p:spPr>
      </p:sp>
      <p:sp>
        <p:nvSpPr>
          <p:cNvPr id="5" name="Text 3"/>
          <p:cNvSpPr/>
          <p:nvPr/>
        </p:nvSpPr>
        <p:spPr>
          <a:xfrm>
            <a:off x="621792" y="1399032"/>
            <a:ext cx="3307994" cy="292608"/>
          </a:xfrm>
          <a:prstGeom prst="rect">
            <a:avLst/>
          </a:prstGeom>
          <a:noFill/>
          <a:ln/>
        </p:spPr>
        <p:txBody>
          <a:bodyPr wrap="square" rtlCol="0" anchor="ctr"/>
          <a:lstStyle/>
          <a:p>
            <a:pPr indent="0" marL="0">
              <a:buNone/>
            </a:pPr>
            <a:r>
              <a:rPr lang="en-US" sz="1300" b="1" dirty="0">
                <a:solidFill>
                  <a:srgbClr val="5B9BD5"/>
                </a:solidFill>
                <a:latin typeface="Calibri" pitchFamily="34" charset="0"/>
                <a:ea typeface="Calibri" pitchFamily="34" charset="-122"/>
                <a:cs typeface="Calibri" pitchFamily="34" charset="-120"/>
              </a:rPr>
              <a:t>Heterogeneous encoder</a:t>
            </a:r>
            <a:endParaRPr lang="en-US" sz="1300" dirty="0"/>
          </a:p>
        </p:txBody>
      </p:sp>
      <p:sp>
        <p:nvSpPr>
          <p:cNvPr id="6" name="Text 4"/>
          <p:cNvSpPr/>
          <p:nvPr/>
        </p:nvSpPr>
        <p:spPr>
          <a:xfrm>
            <a:off x="621792" y="1728216"/>
            <a:ext cx="3307994" cy="4462272"/>
          </a:xfrm>
          <a:prstGeom prst="rect">
            <a:avLst/>
          </a:prstGeom>
          <a:noFill/>
          <a:ln/>
        </p:spPr>
        <p:txBody>
          <a:bodyPr wrap="square" rtlCol="0" anchor="t"/>
          <a:lstStyle/>
          <a:p>
            <a:pPr marL="177800" indent="-177800">
              <a:lnSpc>
                <a:spcPct val="115000"/>
              </a:lnSpc>
              <a:spcAft>
                <a:spcPts val="600"/>
              </a:spcAft>
              <a:buSzPct val="100000"/>
              <a:buChar char="•"/>
            </a:pPr>
            <a:r>
              <a:rPr lang="en-US" sz="1200" dirty="0">
                <a:solidFill>
                  <a:srgbClr val="CFD9E6"/>
                </a:solidFill>
                <a:latin typeface="Calibri" pitchFamily="34" charset="0"/>
                <a:ea typeface="Calibri" pitchFamily="34" charset="-122"/>
                <a:cs typeface="Calibri" pitchFamily="34" charset="-120"/>
              </a:rPr>
              <a:t>Node type = </a:t>
            </a:r>
            <a:endParaRPr lang="en-US" sz="1200" dirty="0"/>
          </a:p>
          <a:p>
            <a:pPr indent="0" marL="0">
              <a:lnSpc>
                <a:spcPct val="115000"/>
              </a:lnSpc>
              <a:buNone/>
            </a:pPr>
            <a:r>
              <a:rPr lang="en-US" sz="1200" dirty="0">
                <a:solidFill>
                  <a:srgbClr val="FFD9A0"/>
                </a:solidFill>
                <a:latin typeface="Consolas" pitchFamily="34" charset="0"/>
                <a:ea typeface="Consolas" pitchFamily="34" charset="-122"/>
                <a:cs typeface="Consolas" pitchFamily="34" charset="-120"/>
              </a:rPr>
              <a:t>argmax</a:t>
            </a:r>
            <a:pPr indent="0" marL="0">
              <a:lnSpc>
                <a:spcPct val="115000"/>
              </a:lnSpc>
              <a:buNone/>
            </a:pPr>
            <a:r>
              <a:rPr lang="en-US" sz="1200" dirty="0">
                <a:solidFill>
                  <a:srgbClr val="CFD9E6"/>
                </a:solidFill>
                <a:latin typeface="Calibri" pitchFamily="34" charset="0"/>
                <a:ea typeface="Calibri" pitchFamily="34" charset="-122"/>
                <a:cs typeface="Calibri" pitchFamily="34" charset="-120"/>
              </a:rPr>
              <a:t> of the existing 8-way component one-hot</a:t>
            </a:r>
            <a:endParaRPr lang="en-US" sz="1200" dirty="0"/>
          </a:p>
          <a:p>
            <a:pPr marL="177800" indent="-177800">
              <a:lnSpc>
                <a:spcPct val="115000"/>
              </a:lnSpc>
              <a:spcAft>
                <a:spcPts val="600"/>
              </a:spcAft>
              <a:buSzPct val="100000"/>
              <a:buChar char="•"/>
            </a:pPr>
            <a:r>
              <a:rPr lang="en-US" sz="1200" dirty="0">
                <a:solidFill>
                  <a:srgbClr val="CFD9E6"/>
                </a:solidFill>
                <a:latin typeface="Calibri" pitchFamily="34" charset="0"/>
                <a:ea typeface="Calibri" pitchFamily="34" charset="-122"/>
                <a:cs typeface="Calibri" pitchFamily="34" charset="-120"/>
              </a:rPr>
              <a:t>Edge type = </a:t>
            </a:r>
            <a:pPr indent="0" marL="0">
              <a:lnSpc>
                <a:spcPct val="115000"/>
              </a:lnSpc>
              <a:buNone/>
            </a:pPr>
            <a:r>
              <a:rPr lang="en-US" sz="1200" dirty="0">
                <a:solidFill>
                  <a:srgbClr val="FFD9A0"/>
                </a:solidFill>
                <a:latin typeface="Consolas" pitchFamily="34" charset="0"/>
                <a:ea typeface="Consolas" pitchFamily="34" charset="-122"/>
                <a:cs typeface="Consolas" pitchFamily="34" charset="-120"/>
              </a:rPr>
              <a:t>argmax</a:t>
            </a:r>
            <a:pPr indent="0" marL="0">
              <a:lnSpc>
                <a:spcPct val="115000"/>
              </a:lnSpc>
              <a:buNone/>
            </a:pPr>
            <a:r>
              <a:rPr lang="en-US" sz="1200" dirty="0">
                <a:solidFill>
                  <a:srgbClr val="CFD9E6"/>
                </a:solidFill>
                <a:latin typeface="Calibri" pitchFamily="34" charset="0"/>
                <a:ea typeface="Calibri" pitchFamily="34" charset="-122"/>
                <a:cs typeface="Calibri" pitchFamily="34" charset="-120"/>
              </a:rPr>
              <a:t> of the existing 4-way joint one-hot (rigid/revolute/slider/cylindrical)</a:t>
            </a:r>
            <a:endParaRPr lang="en-US" sz="1200" dirty="0"/>
          </a:p>
          <a:p>
            <a:pPr marL="177800" indent="-177800">
              <a:lnSpc>
                <a:spcPct val="115000"/>
              </a:lnSpc>
              <a:spcAft>
                <a:spcPts val="600"/>
              </a:spcAft>
              <a:buSzPct val="100000"/>
              <a:buChar char="•"/>
            </a:pPr>
            <a:r>
              <a:rPr lang="en-US" sz="1200" dirty="0">
                <a:solidFill>
                  <a:srgbClr val="FFD9A0"/>
                </a:solidFill>
                <a:latin typeface="Consolas" pitchFamily="34" charset="0"/>
                <a:ea typeface="Consolas" pitchFamily="34" charset="-122"/>
                <a:cs typeface="Consolas" pitchFamily="34" charset="-120"/>
              </a:rPr>
              <a:t>TypedLinear</a:t>
            </a:r>
            <a:pPr indent="0" marL="0">
              <a:lnSpc>
                <a:spcPct val="115000"/>
              </a:lnSpc>
              <a:buNone/>
            </a:pPr>
            <a:r>
              <a:rPr lang="en-US" sz="1200" dirty="0">
                <a:solidFill>
                  <a:srgbClr val="CFD9E6"/>
                </a:solidFill>
                <a:latin typeface="Calibri" pitchFamily="34" charset="0"/>
                <a:ea typeface="Calibri" pitchFamily="34" charset="-122"/>
                <a:cs typeface="Calibri" pitchFamily="34" charset="-120"/>
              </a:rPr>
              <a:t>: per-type input/output projection (8 small Linear layers)</a:t>
            </a:r>
            <a:endParaRPr lang="en-US" sz="1200" dirty="0"/>
          </a:p>
          <a:p>
            <a:pPr marL="177800" indent="-177800">
              <a:lnSpc>
                <a:spcPct val="115000"/>
              </a:lnSpc>
              <a:spcAft>
                <a:spcPts val="600"/>
              </a:spcAft>
              <a:buSzPct val="100000"/>
              <a:buChar char="•"/>
            </a:pPr>
            <a:r>
              <a:rPr lang="en-US" sz="1200" dirty="0">
                <a:solidFill>
                  <a:srgbClr val="FFD9A0"/>
                </a:solidFill>
                <a:latin typeface="Consolas" pitchFamily="34" charset="0"/>
                <a:ea typeface="Consolas" pitchFamily="34" charset="-122"/>
                <a:cs typeface="Consolas" pitchFamily="34" charset="-120"/>
              </a:rPr>
              <a:t>RGATConv</a:t>
            </a:r>
            <a:pPr indent="0" marL="0">
              <a:lnSpc>
                <a:spcPct val="115000"/>
              </a:lnSpc>
              <a:buNone/>
            </a:pPr>
            <a:r>
              <a:rPr lang="en-US" sz="1200" dirty="0">
                <a:solidFill>
                  <a:srgbClr val="CFD9E6"/>
                </a:solidFill>
                <a:latin typeface="Calibri" pitchFamily="34" charset="0"/>
                <a:ea typeface="Calibri" pitchFamily="34" charset="-122"/>
                <a:cs typeface="Calibri" pitchFamily="34" charset="-120"/>
              </a:rPr>
              <a:t> × 3 layers, replacing homogeneous </a:t>
            </a:r>
            <a:pPr indent="0" marL="0">
              <a:lnSpc>
                <a:spcPct val="115000"/>
              </a:lnSpc>
              <a:buNone/>
            </a:pPr>
            <a:r>
              <a:rPr lang="en-US" sz="1200" dirty="0">
                <a:solidFill>
                  <a:srgbClr val="FFD9A0"/>
                </a:solidFill>
                <a:latin typeface="Consolas" pitchFamily="34" charset="0"/>
                <a:ea typeface="Consolas" pitchFamily="34" charset="-122"/>
                <a:cs typeface="Consolas" pitchFamily="34" charset="-120"/>
              </a:rPr>
              <a:t>GATConv</a:t>
            </a:r>
            <a:pPr indent="0" marL="0">
              <a:lnSpc>
                <a:spcPct val="115000"/>
              </a:lnSpc>
              <a:buNone/>
            </a:pPr>
            <a:r>
              <a:rPr lang="en-US" sz="1200" dirty="0">
                <a:solidFill>
                  <a:srgbClr val="CFD9E6"/>
                </a:solidFill>
                <a:latin typeface="Calibri" pitchFamily="34" charset="0"/>
                <a:ea typeface="Calibri" pitchFamily="34" charset="-122"/>
                <a:cs typeface="Calibri" pitchFamily="34" charset="-120"/>
              </a:rPr>
              <a:t> — every layer now relation-aware, not just layer 1</a:t>
            </a:r>
            <a:endParaRPr lang="en-US" sz="1200" dirty="0"/>
          </a:p>
        </p:txBody>
      </p:sp>
      <p:sp>
        <p:nvSpPr>
          <p:cNvPr id="7" name="Shape 5"/>
          <p:cNvSpPr/>
          <p:nvPr/>
        </p:nvSpPr>
        <p:spPr>
          <a:xfrm>
            <a:off x="4277258" y="1234440"/>
            <a:ext cx="3637178" cy="5120640"/>
          </a:xfrm>
          <a:prstGeom prst="roundRect">
            <a:avLst>
              <a:gd name="adj" fmla="val 1508"/>
            </a:avLst>
          </a:prstGeom>
          <a:solidFill>
            <a:srgbClr val="142338"/>
          </a:solidFill>
          <a:ln w="12700">
            <a:solidFill>
              <a:srgbClr val="24405F"/>
            </a:solidFill>
            <a:prstDash val="solid"/>
          </a:ln>
        </p:spPr>
      </p:sp>
      <p:sp>
        <p:nvSpPr>
          <p:cNvPr id="8" name="Text 6"/>
          <p:cNvSpPr/>
          <p:nvPr/>
        </p:nvSpPr>
        <p:spPr>
          <a:xfrm>
            <a:off x="4441850" y="1399032"/>
            <a:ext cx="3307994" cy="292608"/>
          </a:xfrm>
          <a:prstGeom prst="rect">
            <a:avLst/>
          </a:prstGeom>
          <a:noFill/>
          <a:ln/>
        </p:spPr>
        <p:txBody>
          <a:bodyPr wrap="square" rtlCol="0" anchor="ctr"/>
          <a:lstStyle/>
          <a:p>
            <a:pPr indent="0" marL="0">
              <a:buNone/>
            </a:pPr>
            <a:r>
              <a:rPr lang="en-US" sz="1300" b="1" dirty="0">
                <a:solidFill>
                  <a:srgbClr val="5B9BD5"/>
                </a:solidFill>
                <a:latin typeface="Calibri" pitchFamily="34" charset="0"/>
                <a:ea typeface="Calibri" pitchFamily="34" charset="-122"/>
                <a:cs typeface="Calibri" pitchFamily="34" charset="-120"/>
              </a:rPr>
              <a:t>Node Ranker</a:t>
            </a:r>
            <a:endParaRPr lang="en-US" sz="1300" dirty="0"/>
          </a:p>
        </p:txBody>
      </p:sp>
      <p:sp>
        <p:nvSpPr>
          <p:cNvPr id="9" name="Text 7"/>
          <p:cNvSpPr/>
          <p:nvPr/>
        </p:nvSpPr>
        <p:spPr>
          <a:xfrm>
            <a:off x="4441850" y="1728216"/>
            <a:ext cx="3307994" cy="4462272"/>
          </a:xfrm>
          <a:prstGeom prst="rect">
            <a:avLst/>
          </a:prstGeom>
          <a:noFill/>
          <a:ln/>
        </p:spPr>
        <p:txBody>
          <a:bodyPr wrap="square" rtlCol="0" anchor="t"/>
          <a:lstStyle/>
          <a:p>
            <a:pPr marL="177800" indent="-177800">
              <a:lnSpc>
                <a:spcPct val="115000"/>
              </a:lnSpc>
              <a:spcAft>
                <a:spcPts val="600"/>
              </a:spcAft>
              <a:buSzPct val="100000"/>
              <a:buChar char="•"/>
            </a:pPr>
            <a:r>
              <a:rPr lang="en-US" sz="1200" dirty="0">
                <a:solidFill>
                  <a:srgbClr val="CFD9E6"/>
                </a:solidFill>
                <a:latin typeface="Calibri" pitchFamily="34" charset="0"/>
                <a:ea typeface="Calibri" pitchFamily="34" charset="-122"/>
                <a:cs typeface="Calibri" pitchFamily="34" charset="-120"/>
              </a:rPr>
              <a:t>Leave-one-node-out training task: remove a real node, encode the remainder, mean-pool → context vector</a:t>
            </a:r>
            <a:endParaRPr lang="en-US" sz="1200" dirty="0"/>
          </a:p>
          <a:p>
            <a:pPr marL="177800" indent="-177800">
              <a:lnSpc>
                <a:spcPct val="115000"/>
              </a:lnSpc>
              <a:spcAft>
                <a:spcPts val="600"/>
              </a:spcAft>
              <a:buSzPct val="100000"/>
              <a:buChar char="•"/>
            </a:pPr>
            <a:r>
              <a:rPr lang="en-US" sz="1200" dirty="0">
                <a:solidFill>
                  <a:srgbClr val="CFD9E6"/>
                </a:solidFill>
                <a:latin typeface="Calibri" pitchFamily="34" charset="0"/>
                <a:ea typeface="Calibri" pitchFamily="34" charset="-122"/>
                <a:cs typeface="Calibri" pitchFamily="34" charset="-120"/>
              </a:rPr>
              <a:t>Candidates: 8 fixed component-type prototypes (mean raw feature vector per type, embedded frozen)</a:t>
            </a:r>
            <a:endParaRPr lang="en-US" sz="1200" dirty="0"/>
          </a:p>
          <a:p>
            <a:pPr marL="177800" indent="-177800">
              <a:lnSpc>
                <a:spcPct val="115000"/>
              </a:lnSpc>
              <a:spcAft>
                <a:spcPts val="600"/>
              </a:spcAft>
              <a:buSzPct val="100000"/>
              <a:buChar char="•"/>
            </a:pPr>
            <a:r>
              <a:rPr lang="en-US" sz="1200" dirty="0">
                <a:solidFill>
                  <a:srgbClr val="CFD9E6"/>
                </a:solidFill>
                <a:latin typeface="Calibri" pitchFamily="34" charset="0"/>
                <a:ea typeface="Calibri" pitchFamily="34" charset="-122"/>
                <a:cs typeface="Calibri" pitchFamily="34" charset="-120"/>
              </a:rPr>
              <a:t>Loss: BPR (Bayesian Personalized Ranking) — true type ranked above the other 7</a:t>
            </a:r>
            <a:endParaRPr lang="en-US" sz="1200" dirty="0"/>
          </a:p>
          <a:p>
            <a:pPr marL="177800" indent="-177800">
              <a:lnSpc>
                <a:spcPct val="115000"/>
              </a:lnSpc>
              <a:spcAft>
                <a:spcPts val="600"/>
              </a:spcAft>
              <a:buSzPct val="100000"/>
              <a:buChar char="•"/>
            </a:pPr>
            <a:r>
              <a:rPr lang="en-US" sz="1200" dirty="0">
                <a:solidFill>
                  <a:srgbClr val="CFD9E6"/>
                </a:solidFill>
                <a:latin typeface="Calibri" pitchFamily="34" charset="0"/>
                <a:ea typeface="Calibri" pitchFamily="34" charset="-122"/>
                <a:cs typeface="Calibri" pitchFamily="34" charset="-120"/>
              </a:rPr>
              <a:t>Metrics: Hit@K, MRR, NDCG@K</a:t>
            </a:r>
            <a:endParaRPr lang="en-US" sz="1200" dirty="0"/>
          </a:p>
        </p:txBody>
      </p:sp>
      <p:sp>
        <p:nvSpPr>
          <p:cNvPr id="10" name="Shape 8"/>
          <p:cNvSpPr/>
          <p:nvPr/>
        </p:nvSpPr>
        <p:spPr>
          <a:xfrm>
            <a:off x="8097317" y="1234440"/>
            <a:ext cx="3637178" cy="5120640"/>
          </a:xfrm>
          <a:prstGeom prst="roundRect">
            <a:avLst>
              <a:gd name="adj" fmla="val 1508"/>
            </a:avLst>
          </a:prstGeom>
          <a:solidFill>
            <a:srgbClr val="142338"/>
          </a:solidFill>
          <a:ln w="12700">
            <a:solidFill>
              <a:srgbClr val="24405F"/>
            </a:solidFill>
            <a:prstDash val="solid"/>
          </a:ln>
        </p:spPr>
      </p:sp>
      <p:sp>
        <p:nvSpPr>
          <p:cNvPr id="11" name="Text 9"/>
          <p:cNvSpPr/>
          <p:nvPr/>
        </p:nvSpPr>
        <p:spPr>
          <a:xfrm>
            <a:off x="8261909" y="1399032"/>
            <a:ext cx="3307994" cy="292608"/>
          </a:xfrm>
          <a:prstGeom prst="rect">
            <a:avLst/>
          </a:prstGeom>
          <a:noFill/>
          <a:ln/>
        </p:spPr>
        <p:txBody>
          <a:bodyPr wrap="square" rtlCol="0" anchor="ctr"/>
          <a:lstStyle/>
          <a:p>
            <a:pPr indent="0" marL="0">
              <a:buNone/>
            </a:pPr>
            <a:r>
              <a:rPr lang="en-US" sz="1300" b="1" dirty="0">
                <a:solidFill>
                  <a:srgbClr val="5B9BD5"/>
                </a:solidFill>
                <a:latin typeface="Calibri" pitchFamily="34" charset="0"/>
                <a:ea typeface="Calibri" pitchFamily="34" charset="-122"/>
                <a:cs typeface="Calibri" pitchFamily="34" charset="-120"/>
              </a:rPr>
              <a:t>Training infra</a:t>
            </a:r>
            <a:endParaRPr lang="en-US" sz="1300" dirty="0"/>
          </a:p>
        </p:txBody>
      </p:sp>
      <p:sp>
        <p:nvSpPr>
          <p:cNvPr id="12" name="Text 10"/>
          <p:cNvSpPr/>
          <p:nvPr/>
        </p:nvSpPr>
        <p:spPr>
          <a:xfrm>
            <a:off x="8261909" y="1728216"/>
            <a:ext cx="3307994" cy="4462272"/>
          </a:xfrm>
          <a:prstGeom prst="rect">
            <a:avLst/>
          </a:prstGeom>
          <a:noFill/>
          <a:ln/>
        </p:spPr>
        <p:txBody>
          <a:bodyPr wrap="square" rtlCol="0" anchor="t"/>
          <a:lstStyle/>
          <a:p>
            <a:pPr marL="177800" indent="-177800">
              <a:lnSpc>
                <a:spcPct val="115000"/>
              </a:lnSpc>
              <a:spcAft>
                <a:spcPts val="600"/>
              </a:spcAft>
              <a:buSzPct val="100000"/>
              <a:buChar char="•"/>
            </a:pPr>
            <a:r>
              <a:rPr lang="en-US" sz="1200" dirty="0">
                <a:solidFill>
                  <a:srgbClr val="CFD9E6"/>
                </a:solidFill>
                <a:latin typeface="Calibri" pitchFamily="34" charset="0"/>
                <a:ea typeface="Calibri" pitchFamily="34" charset="-122"/>
                <a:cs typeface="Calibri" pitchFamily="34" charset="-120"/>
              </a:rPr>
              <a:t>5-fold CV, early stopping (patience 20), </a:t>
            </a:r>
            <a:endParaRPr lang="en-US" sz="1200" dirty="0"/>
          </a:p>
          <a:p>
            <a:pPr indent="0" marL="0">
              <a:lnSpc>
                <a:spcPct val="115000"/>
              </a:lnSpc>
              <a:buNone/>
            </a:pPr>
            <a:r>
              <a:rPr lang="en-US" sz="1200" dirty="0">
                <a:solidFill>
                  <a:srgbClr val="FFD9A0"/>
                </a:solidFill>
                <a:latin typeface="Consolas" pitchFamily="34" charset="0"/>
                <a:ea typeface="Consolas" pitchFamily="34" charset="-122"/>
                <a:cs typeface="Consolas" pitchFamily="34" charset="-120"/>
              </a:rPr>
              <a:t>ReduceLROnPlateau</a:t>
            </a:r>
            <a:endParaRPr lang="en-US" sz="1200" dirty="0"/>
          </a:p>
          <a:p>
            <a:pPr marL="177800" indent="-177800">
              <a:lnSpc>
                <a:spcPct val="115000"/>
              </a:lnSpc>
              <a:spcAft>
                <a:spcPts val="600"/>
              </a:spcAft>
              <a:buSzPct val="100000"/>
              <a:buChar char="•"/>
            </a:pPr>
            <a:r>
              <a:rPr lang="en-US" sz="1200" dirty="0">
                <a:solidFill>
                  <a:srgbClr val="CFD9E6"/>
                </a:solidFill>
                <a:latin typeface="Calibri" pitchFamily="34" charset="0"/>
                <a:ea typeface="Calibri" pitchFamily="34" charset="-122"/>
                <a:cs typeface="Calibri" pitchFamily="34" charset="-120"/>
              </a:rPr>
              <a:t>Category-weighted loss (</a:t>
            </a:r>
            <a:pPr indent="0" marL="0">
              <a:lnSpc>
                <a:spcPct val="115000"/>
              </a:lnSpc>
              <a:buNone/>
            </a:pPr>
            <a:r>
              <a:rPr lang="en-US" sz="1200" dirty="0">
                <a:solidFill>
                  <a:srgbClr val="FFD9A0"/>
                </a:solidFill>
                <a:latin typeface="Consolas" pitchFamily="34" charset="0"/>
                <a:ea typeface="Consolas" pitchFamily="34" charset="-122"/>
                <a:cs typeface="Consolas" pitchFamily="34" charset="-120"/>
              </a:rPr>
              <a:t>CATEGORY_WEIGHTS</a:t>
            </a:r>
            <a:pPr indent="0" marL="0">
              <a:lnSpc>
                <a:spcPct val="115000"/>
              </a:lnSpc>
              <a:buNone/>
            </a:pPr>
            <a:r>
              <a:rPr lang="en-US" sz="1200" dirty="0">
                <a:solidFill>
                  <a:srgbClr val="CFD9E6"/>
                </a:solidFill>
                <a:latin typeface="Calibri" pitchFamily="34" charset="0"/>
                <a:ea typeface="Calibri" pitchFamily="34" charset="-122"/>
                <a:cs typeface="Calibri" pitchFamily="34" charset="-120"/>
              </a:rPr>
              <a:t>) to offset per-category yield imbalance</a:t>
            </a:r>
            <a:endParaRPr lang="en-US" sz="1200" dirty="0"/>
          </a:p>
          <a:p>
            <a:pPr marL="177800" indent="-177800">
              <a:lnSpc>
                <a:spcPct val="115000"/>
              </a:lnSpc>
              <a:spcAft>
                <a:spcPts val="600"/>
              </a:spcAft>
              <a:buSzPct val="100000"/>
              <a:buChar char="•"/>
            </a:pPr>
            <a:r>
              <a:rPr lang="en-US" sz="1200" dirty="0">
                <a:solidFill>
                  <a:srgbClr val="CFD9E6"/>
                </a:solidFill>
                <a:latin typeface="Calibri" pitchFamily="34" charset="0"/>
                <a:ea typeface="Calibri" pitchFamily="34" charset="-122"/>
                <a:cs typeface="Calibri" pitchFamily="34" charset="-120"/>
              </a:rPr>
              <a:t>Checkpoint promotion gate: new run only replaces </a:t>
            </a:r>
            <a:pPr indent="0" marL="0">
              <a:lnSpc>
                <a:spcPct val="115000"/>
              </a:lnSpc>
              <a:buNone/>
            </a:pPr>
            <a:r>
              <a:rPr lang="en-US" sz="1200" dirty="0">
                <a:solidFill>
                  <a:srgbClr val="FFD9A0"/>
                </a:solidFill>
                <a:latin typeface="Consolas" pitchFamily="34" charset="0"/>
                <a:ea typeface="Consolas" pitchFamily="34" charset="-122"/>
                <a:cs typeface="Consolas" pitchFamily="34" charset="-120"/>
              </a:rPr>
              <a:t>best_serving.pt</a:t>
            </a:r>
            <a:pPr indent="0" marL="0">
              <a:lnSpc>
                <a:spcPct val="115000"/>
              </a:lnSpc>
              <a:buNone/>
            </a:pPr>
            <a:r>
              <a:rPr lang="en-US" sz="1200" dirty="0">
                <a:solidFill>
                  <a:srgbClr val="CFD9E6"/>
                </a:solidFill>
                <a:latin typeface="Calibri" pitchFamily="34" charset="0"/>
                <a:ea typeface="Calibri" pitchFamily="34" charset="-122"/>
                <a:cs typeface="Calibri" pitchFamily="34" charset="-120"/>
              </a:rPr>
              <a:t> if it beats the incumbent on both AUC and AP</a:t>
            </a:r>
            <a:endParaRPr lang="en-US" sz="1200" dirty="0"/>
          </a:p>
          <a:p>
            <a:pPr marL="177800" indent="-177800">
              <a:lnSpc>
                <a:spcPct val="115000"/>
              </a:lnSpc>
              <a:spcAft>
                <a:spcPts val="600"/>
              </a:spcAft>
              <a:buSzPct val="100000"/>
              <a:buChar char="•"/>
            </a:pPr>
            <a:r>
              <a:rPr lang="en-US" sz="1200" dirty="0">
                <a:solidFill>
                  <a:srgbClr val="FFD9A0"/>
                </a:solidFill>
                <a:latin typeface="Consolas" pitchFamily="34" charset="0"/>
                <a:ea typeface="Consolas" pitchFamily="34" charset="-122"/>
                <a:cs typeface="Consolas" pitchFamily="34" charset="-120"/>
              </a:rPr>
              <a:t>train_monitor.sh</a:t>
            </a:r>
            <a:pPr indent="0" marL="0">
              <a:lnSpc>
                <a:spcPct val="115000"/>
              </a:lnSpc>
              <a:buNone/>
            </a:pPr>
            <a:r>
              <a:rPr lang="en-US" sz="1200" dirty="0">
                <a:solidFill>
                  <a:srgbClr val="CFD9E6"/>
                </a:solidFill>
                <a:latin typeface="Calibri" pitchFamily="34" charset="0"/>
                <a:ea typeface="Calibri" pitchFamily="34" charset="-122"/>
                <a:cs typeface="Calibri" pitchFamily="34" charset="-120"/>
              </a:rPr>
              <a:t>: stall-detection + auto-resume watchdog for long unattended runs</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121F"/>
        </a:solidFill>
      </p:bgPr>
    </p:bg>
    <p:spTree>
      <p:nvGrpSpPr>
        <p:cNvPr id="1" name=""/>
        <p:cNvGrpSpPr/>
        <p:nvPr/>
      </p:nvGrpSpPr>
      <p:grpSpPr>
        <a:xfrm>
          <a:off x="0" y="0"/>
          <a:ext cx="0" cy="0"/>
          <a:chOff x="0" y="0"/>
          <a:chExt cx="0" cy="0"/>
        </a:xfrm>
      </p:grpSpPr>
      <p:sp>
        <p:nvSpPr>
          <p:cNvPr id="2" name="Text 0"/>
          <p:cNvSpPr/>
          <p:nvPr/>
        </p:nvSpPr>
        <p:spPr>
          <a:xfrm>
            <a:off x="457200" y="292608"/>
            <a:ext cx="11277295" cy="274320"/>
          </a:xfrm>
          <a:prstGeom prst="rect">
            <a:avLst/>
          </a:prstGeom>
          <a:noFill/>
          <a:ln/>
        </p:spPr>
        <p:txBody>
          <a:bodyPr wrap="square" rtlCol="0" anchor="ctr"/>
          <a:lstStyle/>
          <a:p>
            <a:pPr indent="0" marL="0">
              <a:buNone/>
            </a:pPr>
            <a:r>
              <a:rPr lang="en-US" sz="1100" b="1" spc="150" kern="0" dirty="0">
                <a:solidFill>
                  <a:srgbClr val="5B9BD5"/>
                </a:solidFill>
                <a:latin typeface="Calibri" pitchFamily="34" charset="0"/>
                <a:ea typeface="Calibri" pitchFamily="34" charset="-122"/>
                <a:cs typeface="Calibri" pitchFamily="34" charset="-120"/>
              </a:rPr>
              <a:t>5 · ALGORITHM / TECHNIQUES — TRAINING HISTORY</a:t>
            </a:r>
            <a:endParaRPr lang="en-US" sz="1100" dirty="0"/>
          </a:p>
        </p:txBody>
      </p:sp>
      <p:sp>
        <p:nvSpPr>
          <p:cNvPr id="3" name="Text 1"/>
          <p:cNvSpPr/>
          <p:nvPr/>
        </p:nvSpPr>
        <p:spPr>
          <a:xfrm>
            <a:off x="457200" y="566928"/>
            <a:ext cx="11277295" cy="502920"/>
          </a:xfrm>
          <a:prstGeom prst="rect">
            <a:avLst/>
          </a:prstGeom>
          <a:noFill/>
          <a:ln/>
        </p:spPr>
        <p:txBody>
          <a:bodyPr wrap="square" rtlCol="0" anchor="t"/>
          <a:lstStyle/>
          <a:p>
            <a:pPr indent="0" marL="0">
              <a:buNone/>
            </a:pPr>
            <a:r>
              <a:rPr lang="en-US" sz="2600" b="1" dirty="0">
                <a:solidFill>
                  <a:srgbClr val="E6EDF5"/>
                </a:solidFill>
                <a:latin typeface="Calibri" pitchFamily="34" charset="0"/>
                <a:ea typeface="Calibri" pitchFamily="34" charset="-122"/>
                <a:cs typeface="Calibri" pitchFamily="34" charset="-120"/>
              </a:rPr>
              <a:t>Training history — R29 / R30 / R31</a:t>
            </a:r>
            <a:endParaRPr lang="en-US" sz="2600" dirty="0"/>
          </a:p>
        </p:txBody>
      </p:sp>
      <p:pic>
        <p:nvPicPr>
          <p:cNvPr id="4" name="Image 0" descr="/Users/mbp/Documents/MTECH/Sem4/Individual_project/AI_Assisted_3D_Assembly_Design/AI-Assisted-3D-Assembly-Design/docs/phase2_training_history.png">    </p:cNvPr>
          <p:cNvPicPr>
            <a:picLocks noChangeAspect="1"/>
          </p:cNvPicPr>
          <p:nvPr/>
        </p:nvPicPr>
        <p:blipFill>
          <a:blip r:embed="rId1"/>
          <a:srcRect l="0" r="0" t="0" b="0"/>
          <a:stretch/>
        </p:blipFill>
        <p:spPr>
          <a:xfrm>
            <a:off x="457200" y="1188720"/>
            <a:ext cx="7132320" cy="3648456"/>
          </a:xfrm>
          <a:prstGeom prst="rect">
            <a:avLst/>
          </a:prstGeom>
        </p:spPr>
      </p:pic>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457200" y="4937760"/>
          <a:ext cx="11277295" cy="914400"/>
        </p:xfrm>
        <a:graphic>
          <a:graphicData uri="http://schemas.openxmlformats.org/drawingml/2006/table">
            <a:tbl>
              <a:tblPr/>
              <a:tblGrid>
                <a:gridCol w="822960"/>
                <a:gridCol w="5120640"/>
                <a:gridCol w="1645920"/>
                <a:gridCol w="1645920"/>
                <a:gridCol w="2011680"/>
              </a:tblGrid>
              <a:tr h="365760">
                <a:tc>
                  <a:txBody>
                    <a:bodyPr/>
                    <a:lstStyle/>
                    <a:p>
                      <a:pPr indent="0" marL="0">
                        <a:buNone/>
                      </a:pPr>
                      <a:r>
                        <a:rPr lang="en-US" sz="1000" b="1" dirty="0">
                          <a:solidFill>
                            <a:srgbClr val="8AA0B8"/>
                          </a:solidFill>
                          <a:latin typeface="Calibri" pitchFamily="34" charset="0"/>
                          <a:ea typeface="Calibri" pitchFamily="34" charset="-122"/>
                          <a:cs typeface="Calibri" pitchFamily="34" charset="-120"/>
                        </a:rPr>
                        <a:t>Run</a:t>
                      </a:r>
                      <a:endParaRPr lang="en-US" sz="1200" dirty="0"/>
                    </a:p>
                  </a:txBody>
                  <a:tcPr marL="91440" marR="91440" marT="45720" marB="45720" anchor="ctr">
                    <a:lnL w="9525" cap="flat" cmpd="sng" algn="ctr">
                      <a:solidFill>
                        <a:srgbClr val="24405F"/>
                      </a:solidFill>
                      <a:prstDash val="solid"/>
                      <a:round/>
                      <a:headEnd type="none" w="med" len="med"/>
                      <a:tailEnd type="none" w="med" len="med"/>
                    </a:lnL>
                    <a:lnR w="9525" cap="flat" cmpd="sng" algn="ctr">
                      <a:solidFill>
                        <a:srgbClr val="24405F"/>
                      </a:solidFill>
                      <a:prstDash val="solid"/>
                      <a:round/>
                      <a:headEnd type="none" w="med" len="med"/>
                      <a:tailEnd type="none" w="med" len="med"/>
                    </a:lnR>
                    <a:lnT w="9525" cap="flat" cmpd="sng" algn="ctr">
                      <a:solidFill>
                        <a:srgbClr val="24405F"/>
                      </a:solidFill>
                      <a:prstDash val="solid"/>
                      <a:round/>
                      <a:headEnd type="none" w="med" len="med"/>
                      <a:tailEnd type="none" w="med" len="med"/>
                    </a:lnT>
                    <a:lnB w="9525" cap="flat" cmpd="sng" algn="ctr">
                      <a:solidFill>
                        <a:srgbClr val="24405F"/>
                      </a:solidFill>
                      <a:prstDash val="solid"/>
                      <a:round/>
                      <a:headEnd type="none" w="med" len="med"/>
                      <a:tailEnd type="none" w="med" len="med"/>
                    </a:lnB>
                    <a:solidFill>
                      <a:srgbClr val="101C30"/>
                    </a:solidFill>
                  </a:tcPr>
                </a:tc>
                <a:tc>
                  <a:txBody>
                    <a:bodyPr/>
                    <a:lstStyle/>
                    <a:p>
                      <a:pPr indent="0" marL="0">
                        <a:buNone/>
                      </a:pPr>
                      <a:r>
                        <a:rPr lang="en-US" sz="1000" b="1" dirty="0">
                          <a:solidFill>
                            <a:srgbClr val="8AA0B8"/>
                          </a:solidFill>
                          <a:latin typeface="Calibri" pitchFamily="34" charset="0"/>
                          <a:ea typeface="Calibri" pitchFamily="34" charset="-122"/>
                          <a:cs typeface="Calibri" pitchFamily="34" charset="-120"/>
                        </a:rPr>
                        <a:t>Change</a:t>
                      </a:r>
                      <a:endParaRPr lang="en-US" sz="1200" dirty="0"/>
                    </a:p>
                  </a:txBody>
                  <a:tcPr marL="91440" marR="91440" marT="45720" marB="45720" anchor="ctr">
                    <a:lnL w="9525" cap="flat" cmpd="sng" algn="ctr">
                      <a:solidFill>
                        <a:srgbClr val="24405F"/>
                      </a:solidFill>
                      <a:prstDash val="solid"/>
                      <a:round/>
                      <a:headEnd type="none" w="med" len="med"/>
                      <a:tailEnd type="none" w="med" len="med"/>
                    </a:lnL>
                    <a:lnR w="9525" cap="flat" cmpd="sng" algn="ctr">
                      <a:solidFill>
                        <a:srgbClr val="24405F"/>
                      </a:solidFill>
                      <a:prstDash val="solid"/>
                      <a:round/>
                      <a:headEnd type="none" w="med" len="med"/>
                      <a:tailEnd type="none" w="med" len="med"/>
                    </a:lnR>
                    <a:lnT w="9525" cap="flat" cmpd="sng" algn="ctr">
                      <a:solidFill>
                        <a:srgbClr val="24405F"/>
                      </a:solidFill>
                      <a:prstDash val="solid"/>
                      <a:round/>
                      <a:headEnd type="none" w="med" len="med"/>
                      <a:tailEnd type="none" w="med" len="med"/>
                    </a:lnT>
                    <a:lnB w="9525" cap="flat" cmpd="sng" algn="ctr">
                      <a:solidFill>
                        <a:srgbClr val="24405F"/>
                      </a:solidFill>
                      <a:prstDash val="solid"/>
                      <a:round/>
                      <a:headEnd type="none" w="med" len="med"/>
                      <a:tailEnd type="none" w="med" len="med"/>
                    </a:lnB>
                    <a:solidFill>
                      <a:srgbClr val="101C30"/>
                    </a:solidFill>
                  </a:tcPr>
                </a:tc>
                <a:tc>
                  <a:txBody>
                    <a:bodyPr/>
                    <a:lstStyle/>
                    <a:p>
                      <a:pPr indent="0" marL="0">
                        <a:buNone/>
                      </a:pPr>
                      <a:r>
                        <a:rPr lang="en-US" sz="1000" b="1" dirty="0">
                          <a:solidFill>
                            <a:srgbClr val="8AA0B8"/>
                          </a:solidFill>
                          <a:latin typeface="Calibri" pitchFamily="34" charset="0"/>
                          <a:ea typeface="Calibri" pitchFamily="34" charset="-122"/>
                          <a:cs typeface="Calibri" pitchFamily="34" charset="-120"/>
                        </a:rPr>
                        <a:t>Mean AUC</a:t>
                      </a:r>
                      <a:endParaRPr lang="en-US" sz="1200" dirty="0"/>
                    </a:p>
                  </a:txBody>
                  <a:tcPr marL="91440" marR="91440" marT="45720" marB="45720" anchor="ctr">
                    <a:lnL w="9525" cap="flat" cmpd="sng" algn="ctr">
                      <a:solidFill>
                        <a:srgbClr val="24405F"/>
                      </a:solidFill>
                      <a:prstDash val="solid"/>
                      <a:round/>
                      <a:headEnd type="none" w="med" len="med"/>
                      <a:tailEnd type="none" w="med" len="med"/>
                    </a:lnL>
                    <a:lnR w="9525" cap="flat" cmpd="sng" algn="ctr">
                      <a:solidFill>
                        <a:srgbClr val="24405F"/>
                      </a:solidFill>
                      <a:prstDash val="solid"/>
                      <a:round/>
                      <a:headEnd type="none" w="med" len="med"/>
                      <a:tailEnd type="none" w="med" len="med"/>
                    </a:lnR>
                    <a:lnT w="9525" cap="flat" cmpd="sng" algn="ctr">
                      <a:solidFill>
                        <a:srgbClr val="24405F"/>
                      </a:solidFill>
                      <a:prstDash val="solid"/>
                      <a:round/>
                      <a:headEnd type="none" w="med" len="med"/>
                      <a:tailEnd type="none" w="med" len="med"/>
                    </a:lnT>
                    <a:lnB w="9525" cap="flat" cmpd="sng" algn="ctr">
                      <a:solidFill>
                        <a:srgbClr val="24405F"/>
                      </a:solidFill>
                      <a:prstDash val="solid"/>
                      <a:round/>
                      <a:headEnd type="none" w="med" len="med"/>
                      <a:tailEnd type="none" w="med" len="med"/>
                    </a:lnB>
                    <a:solidFill>
                      <a:srgbClr val="101C30"/>
                    </a:solidFill>
                  </a:tcPr>
                </a:tc>
                <a:tc>
                  <a:txBody>
                    <a:bodyPr/>
                    <a:lstStyle/>
                    <a:p>
                      <a:pPr indent="0" marL="0">
                        <a:buNone/>
                      </a:pPr>
                      <a:r>
                        <a:rPr lang="en-US" sz="1000" b="1" dirty="0">
                          <a:solidFill>
                            <a:srgbClr val="8AA0B8"/>
                          </a:solidFill>
                          <a:latin typeface="Calibri" pitchFamily="34" charset="0"/>
                          <a:ea typeface="Calibri" pitchFamily="34" charset="-122"/>
                          <a:cs typeface="Calibri" pitchFamily="34" charset="-120"/>
                        </a:rPr>
                        <a:t>Mean AP</a:t>
                      </a:r>
                      <a:endParaRPr lang="en-US" sz="1200" dirty="0"/>
                    </a:p>
                  </a:txBody>
                  <a:tcPr marL="91440" marR="91440" marT="45720" marB="45720" anchor="ctr">
                    <a:lnL w="9525" cap="flat" cmpd="sng" algn="ctr">
                      <a:solidFill>
                        <a:srgbClr val="24405F"/>
                      </a:solidFill>
                      <a:prstDash val="solid"/>
                      <a:round/>
                      <a:headEnd type="none" w="med" len="med"/>
                      <a:tailEnd type="none" w="med" len="med"/>
                    </a:lnL>
                    <a:lnR w="9525" cap="flat" cmpd="sng" algn="ctr">
                      <a:solidFill>
                        <a:srgbClr val="24405F"/>
                      </a:solidFill>
                      <a:prstDash val="solid"/>
                      <a:round/>
                      <a:headEnd type="none" w="med" len="med"/>
                      <a:tailEnd type="none" w="med" len="med"/>
                    </a:lnR>
                    <a:lnT w="9525" cap="flat" cmpd="sng" algn="ctr">
                      <a:solidFill>
                        <a:srgbClr val="24405F"/>
                      </a:solidFill>
                      <a:prstDash val="solid"/>
                      <a:round/>
                      <a:headEnd type="none" w="med" len="med"/>
                      <a:tailEnd type="none" w="med" len="med"/>
                    </a:lnT>
                    <a:lnB w="9525" cap="flat" cmpd="sng" algn="ctr">
                      <a:solidFill>
                        <a:srgbClr val="24405F"/>
                      </a:solidFill>
                      <a:prstDash val="solid"/>
                      <a:round/>
                      <a:headEnd type="none" w="med" len="med"/>
                      <a:tailEnd type="none" w="med" len="med"/>
                    </a:lnB>
                    <a:solidFill>
                      <a:srgbClr val="101C30"/>
                    </a:solidFill>
                  </a:tcPr>
                </a:tc>
                <a:tc>
                  <a:txBody>
                    <a:bodyPr/>
                    <a:lstStyle/>
                    <a:p>
                      <a:pPr indent="0" marL="0">
                        <a:buNone/>
                      </a:pPr>
                      <a:r>
                        <a:rPr lang="en-US" sz="1000" b="1" dirty="0">
                          <a:solidFill>
                            <a:srgbClr val="8AA0B8"/>
                          </a:solidFill>
                          <a:latin typeface="Calibri" pitchFamily="34" charset="0"/>
                          <a:ea typeface="Calibri" pitchFamily="34" charset="-122"/>
                          <a:cs typeface="Calibri" pitchFamily="34" charset="-120"/>
                        </a:rPr>
                        <a:t>Promoted?</a:t>
                      </a:r>
                      <a:endParaRPr lang="en-US" sz="1200" dirty="0"/>
                    </a:p>
                  </a:txBody>
                  <a:tcPr marL="91440" marR="91440" marT="45720" marB="45720" anchor="ctr">
                    <a:lnL w="9525" cap="flat" cmpd="sng" algn="ctr">
                      <a:solidFill>
                        <a:srgbClr val="24405F"/>
                      </a:solidFill>
                      <a:prstDash val="solid"/>
                      <a:round/>
                      <a:headEnd type="none" w="med" len="med"/>
                      <a:tailEnd type="none" w="med" len="med"/>
                    </a:lnL>
                    <a:lnR w="9525" cap="flat" cmpd="sng" algn="ctr">
                      <a:solidFill>
                        <a:srgbClr val="24405F"/>
                      </a:solidFill>
                      <a:prstDash val="solid"/>
                      <a:round/>
                      <a:headEnd type="none" w="med" len="med"/>
                      <a:tailEnd type="none" w="med" len="med"/>
                    </a:lnR>
                    <a:lnT w="9525" cap="flat" cmpd="sng" algn="ctr">
                      <a:solidFill>
                        <a:srgbClr val="24405F"/>
                      </a:solidFill>
                      <a:prstDash val="solid"/>
                      <a:round/>
                      <a:headEnd type="none" w="med" len="med"/>
                      <a:tailEnd type="none" w="med" len="med"/>
                    </a:lnT>
                    <a:lnB w="9525" cap="flat" cmpd="sng" algn="ctr">
                      <a:solidFill>
                        <a:srgbClr val="24405F"/>
                      </a:solidFill>
                      <a:prstDash val="solid"/>
                      <a:round/>
                      <a:headEnd type="none" w="med" len="med"/>
                      <a:tailEnd type="none" w="med" len="med"/>
                    </a:lnB>
                    <a:solidFill>
                      <a:srgbClr val="101C30"/>
                    </a:solidFill>
                  </a:tcPr>
                </a:tc>
              </a:tr>
              <a:tr h="365760">
                <a:tc>
                  <a:txBody>
                    <a:bodyPr/>
                    <a:lstStyle/>
                    <a:p>
                      <a:pPr indent="0" marL="0">
                        <a:buNone/>
                      </a:pPr>
                      <a:r>
                        <a:rPr lang="en-US" sz="1100" dirty="0">
                          <a:solidFill>
                            <a:srgbClr val="CFD9E6"/>
                          </a:solidFill>
                          <a:latin typeface="Calibri" pitchFamily="34" charset="0"/>
                          <a:ea typeface="Calibri" pitchFamily="34" charset="-122"/>
                          <a:cs typeface="Calibri" pitchFamily="34" charset="-120"/>
                        </a:rPr>
                        <a:t>R29</a:t>
                      </a:r>
                      <a:endParaRPr lang="en-US" sz="1200" dirty="0"/>
                    </a:p>
                  </a:txBody>
                  <a:tcPr marL="91440" marR="91440" marT="45720" marB="45720" anchor="ctr">
                    <a:lnL w="9525" cap="flat" cmpd="sng" algn="ctr">
                      <a:solidFill>
                        <a:srgbClr val="24405F"/>
                      </a:solidFill>
                      <a:prstDash val="solid"/>
                      <a:round/>
                      <a:headEnd type="none" w="med" len="med"/>
                      <a:tailEnd type="none" w="med" len="med"/>
                    </a:lnL>
                    <a:lnR w="9525" cap="flat" cmpd="sng" algn="ctr">
                      <a:solidFill>
                        <a:srgbClr val="24405F"/>
                      </a:solidFill>
                      <a:prstDash val="solid"/>
                      <a:round/>
                      <a:headEnd type="none" w="med" len="med"/>
                      <a:tailEnd type="none" w="med" len="med"/>
                    </a:lnR>
                    <a:lnT w="9525" cap="flat" cmpd="sng" algn="ctr">
                      <a:solidFill>
                        <a:srgbClr val="24405F"/>
                      </a:solidFill>
                      <a:prstDash val="solid"/>
                      <a:round/>
                      <a:headEnd type="none" w="med" len="med"/>
                      <a:tailEnd type="none" w="med" len="med"/>
                    </a:lnT>
                    <a:lnB w="9525" cap="flat" cmpd="sng" algn="ctr">
                      <a:solidFill>
                        <a:srgbClr val="24405F"/>
                      </a:solidFill>
                      <a:prstDash val="solid"/>
                      <a:round/>
                      <a:headEnd type="none" w="med" len="med"/>
                      <a:tailEnd type="none" w="med" len="med"/>
                    </a:lnB>
                    <a:solidFill>
                      <a:srgbClr val="142338"/>
                    </a:solidFill>
                  </a:tcPr>
                </a:tc>
                <a:tc>
                  <a:txBody>
                    <a:bodyPr/>
                    <a:lstStyle/>
                    <a:p>
                      <a:pPr indent="0" marL="0">
                        <a:buNone/>
                      </a:pPr>
                      <a:r>
                        <a:rPr lang="en-US" sz="1100" dirty="0">
                          <a:solidFill>
                            <a:srgbClr val="CFD9E6"/>
                          </a:solidFill>
                          <a:latin typeface="Calibri" pitchFamily="34" charset="0"/>
                          <a:ea typeface="Calibri" pitchFamily="34" charset="-122"/>
                          <a:cs typeface="Calibri" pitchFamily="34" charset="-120"/>
                        </a:rPr>
                        <a:t>New 8-category real-world corpus, 248 graphs, homogeneous GAT</a:t>
                      </a:r>
                      <a:endParaRPr lang="en-US" sz="1200" dirty="0"/>
                    </a:p>
                  </a:txBody>
                  <a:tcPr marL="91440" marR="91440" marT="45720" marB="45720" anchor="ctr">
                    <a:lnL w="9525" cap="flat" cmpd="sng" algn="ctr">
                      <a:solidFill>
                        <a:srgbClr val="24405F"/>
                      </a:solidFill>
                      <a:prstDash val="solid"/>
                      <a:round/>
                      <a:headEnd type="none" w="med" len="med"/>
                      <a:tailEnd type="none" w="med" len="med"/>
                    </a:lnL>
                    <a:lnR w="9525" cap="flat" cmpd="sng" algn="ctr">
                      <a:solidFill>
                        <a:srgbClr val="24405F"/>
                      </a:solidFill>
                      <a:prstDash val="solid"/>
                      <a:round/>
                      <a:headEnd type="none" w="med" len="med"/>
                      <a:tailEnd type="none" w="med" len="med"/>
                    </a:lnR>
                    <a:lnT w="9525" cap="flat" cmpd="sng" algn="ctr">
                      <a:solidFill>
                        <a:srgbClr val="24405F"/>
                      </a:solidFill>
                      <a:prstDash val="solid"/>
                      <a:round/>
                      <a:headEnd type="none" w="med" len="med"/>
                      <a:tailEnd type="none" w="med" len="med"/>
                    </a:lnT>
                    <a:lnB w="9525" cap="flat" cmpd="sng" algn="ctr">
                      <a:solidFill>
                        <a:srgbClr val="24405F"/>
                      </a:solidFill>
                      <a:prstDash val="solid"/>
                      <a:round/>
                      <a:headEnd type="none" w="med" len="med"/>
                      <a:tailEnd type="none" w="med" len="med"/>
                    </a:lnB>
                    <a:solidFill>
                      <a:srgbClr val="142338"/>
                    </a:solidFill>
                  </a:tcPr>
                </a:tc>
                <a:tc>
                  <a:txBody>
                    <a:bodyPr/>
                    <a:lstStyle/>
                    <a:p>
                      <a:pPr indent="0" marL="0">
                        <a:buNone/>
                      </a:pPr>
                      <a:r>
                        <a:rPr lang="en-US" sz="1100" dirty="0">
                          <a:solidFill>
                            <a:srgbClr val="CFD9E6"/>
                          </a:solidFill>
                          <a:latin typeface="Calibri" pitchFamily="34" charset="0"/>
                          <a:ea typeface="Calibri" pitchFamily="34" charset="-122"/>
                          <a:cs typeface="Calibri" pitchFamily="34" charset="-120"/>
                        </a:rPr>
                        <a:t>0.566 ± 0.121</a:t>
                      </a:r>
                      <a:endParaRPr lang="en-US" sz="1200" dirty="0"/>
                    </a:p>
                  </a:txBody>
                  <a:tcPr marL="91440" marR="91440" marT="45720" marB="45720" anchor="ctr">
                    <a:lnL w="9525" cap="flat" cmpd="sng" algn="ctr">
                      <a:solidFill>
                        <a:srgbClr val="24405F"/>
                      </a:solidFill>
                      <a:prstDash val="solid"/>
                      <a:round/>
                      <a:headEnd type="none" w="med" len="med"/>
                      <a:tailEnd type="none" w="med" len="med"/>
                    </a:lnL>
                    <a:lnR w="9525" cap="flat" cmpd="sng" algn="ctr">
                      <a:solidFill>
                        <a:srgbClr val="24405F"/>
                      </a:solidFill>
                      <a:prstDash val="solid"/>
                      <a:round/>
                      <a:headEnd type="none" w="med" len="med"/>
                      <a:tailEnd type="none" w="med" len="med"/>
                    </a:lnR>
                    <a:lnT w="9525" cap="flat" cmpd="sng" algn="ctr">
                      <a:solidFill>
                        <a:srgbClr val="24405F"/>
                      </a:solidFill>
                      <a:prstDash val="solid"/>
                      <a:round/>
                      <a:headEnd type="none" w="med" len="med"/>
                      <a:tailEnd type="none" w="med" len="med"/>
                    </a:lnT>
                    <a:lnB w="9525" cap="flat" cmpd="sng" algn="ctr">
                      <a:solidFill>
                        <a:srgbClr val="24405F"/>
                      </a:solidFill>
                      <a:prstDash val="solid"/>
                      <a:round/>
                      <a:headEnd type="none" w="med" len="med"/>
                      <a:tailEnd type="none" w="med" len="med"/>
                    </a:lnB>
                    <a:solidFill>
                      <a:srgbClr val="142338"/>
                    </a:solidFill>
                  </a:tcPr>
                </a:tc>
                <a:tc>
                  <a:txBody>
                    <a:bodyPr/>
                    <a:lstStyle/>
                    <a:p>
                      <a:pPr indent="0" marL="0">
                        <a:buNone/>
                      </a:pPr>
                      <a:r>
                        <a:rPr lang="en-US" sz="1100" dirty="0">
                          <a:solidFill>
                            <a:srgbClr val="CFD9E6"/>
                          </a:solidFill>
                          <a:latin typeface="Calibri" pitchFamily="34" charset="0"/>
                          <a:ea typeface="Calibri" pitchFamily="34" charset="-122"/>
                          <a:cs typeface="Calibri" pitchFamily="34" charset="-120"/>
                        </a:rPr>
                        <a:t>0.843 ± 0.055</a:t>
                      </a:r>
                      <a:endParaRPr lang="en-US" sz="1200" dirty="0"/>
                    </a:p>
                  </a:txBody>
                  <a:tcPr marL="91440" marR="91440" marT="45720" marB="45720" anchor="ctr">
                    <a:lnL w="9525" cap="flat" cmpd="sng" algn="ctr">
                      <a:solidFill>
                        <a:srgbClr val="24405F"/>
                      </a:solidFill>
                      <a:prstDash val="solid"/>
                      <a:round/>
                      <a:headEnd type="none" w="med" len="med"/>
                      <a:tailEnd type="none" w="med" len="med"/>
                    </a:lnL>
                    <a:lnR w="9525" cap="flat" cmpd="sng" algn="ctr">
                      <a:solidFill>
                        <a:srgbClr val="24405F"/>
                      </a:solidFill>
                      <a:prstDash val="solid"/>
                      <a:round/>
                      <a:headEnd type="none" w="med" len="med"/>
                      <a:tailEnd type="none" w="med" len="med"/>
                    </a:lnR>
                    <a:lnT w="9525" cap="flat" cmpd="sng" algn="ctr">
                      <a:solidFill>
                        <a:srgbClr val="24405F"/>
                      </a:solidFill>
                      <a:prstDash val="solid"/>
                      <a:round/>
                      <a:headEnd type="none" w="med" len="med"/>
                      <a:tailEnd type="none" w="med" len="med"/>
                    </a:lnT>
                    <a:lnB w="9525" cap="flat" cmpd="sng" algn="ctr">
                      <a:solidFill>
                        <a:srgbClr val="24405F"/>
                      </a:solidFill>
                      <a:prstDash val="solid"/>
                      <a:round/>
                      <a:headEnd type="none" w="med" len="med"/>
                      <a:tailEnd type="none" w="med" len="med"/>
                    </a:lnB>
                    <a:solidFill>
                      <a:srgbClr val="142338"/>
                    </a:solidFill>
                  </a:tcPr>
                </a:tc>
                <a:tc>
                  <a:txBody>
                    <a:bodyPr/>
                    <a:lstStyle/>
                    <a:p>
                      <a:pPr indent="0" marL="0">
                        <a:buNone/>
                      </a:pPr>
                      <a:r>
                        <a:rPr lang="en-US" sz="1100" dirty="0">
                          <a:solidFill>
                            <a:srgbClr val="4CAF82"/>
                          </a:solidFill>
                          <a:latin typeface="Calibri" pitchFamily="34" charset="0"/>
                          <a:ea typeface="Calibri" pitchFamily="34" charset="-122"/>
                          <a:cs typeface="Calibri" pitchFamily="34" charset="-120"/>
                        </a:rPr>
                        <a:t>Yes</a:t>
                      </a:r>
                      <a:endParaRPr lang="en-US" sz="1200" dirty="0"/>
                    </a:p>
                  </a:txBody>
                  <a:tcPr marL="91440" marR="91440" marT="45720" marB="45720" anchor="ctr">
                    <a:lnL w="9525" cap="flat" cmpd="sng" algn="ctr">
                      <a:solidFill>
                        <a:srgbClr val="24405F"/>
                      </a:solidFill>
                      <a:prstDash val="solid"/>
                      <a:round/>
                      <a:headEnd type="none" w="med" len="med"/>
                      <a:tailEnd type="none" w="med" len="med"/>
                    </a:lnL>
                    <a:lnR w="9525" cap="flat" cmpd="sng" algn="ctr">
                      <a:solidFill>
                        <a:srgbClr val="24405F"/>
                      </a:solidFill>
                      <a:prstDash val="solid"/>
                      <a:round/>
                      <a:headEnd type="none" w="med" len="med"/>
                      <a:tailEnd type="none" w="med" len="med"/>
                    </a:lnR>
                    <a:lnT w="9525" cap="flat" cmpd="sng" algn="ctr">
                      <a:solidFill>
                        <a:srgbClr val="24405F"/>
                      </a:solidFill>
                      <a:prstDash val="solid"/>
                      <a:round/>
                      <a:headEnd type="none" w="med" len="med"/>
                      <a:tailEnd type="none" w="med" len="med"/>
                    </a:lnT>
                    <a:lnB w="9525" cap="flat" cmpd="sng" algn="ctr">
                      <a:solidFill>
                        <a:srgbClr val="24405F"/>
                      </a:solidFill>
                      <a:prstDash val="solid"/>
                      <a:round/>
                      <a:headEnd type="none" w="med" len="med"/>
                      <a:tailEnd type="none" w="med" len="med"/>
                    </a:lnB>
                    <a:solidFill>
                      <a:srgbClr val="142338"/>
                    </a:solidFill>
                  </a:tcPr>
                </a:tc>
              </a:tr>
              <a:tr h="365760">
                <a:tc>
                  <a:txBody>
                    <a:bodyPr/>
                    <a:lstStyle/>
                    <a:p>
                      <a:pPr indent="0" marL="0">
                        <a:buNone/>
                      </a:pPr>
                      <a:r>
                        <a:rPr lang="en-US" sz="1100" dirty="0">
                          <a:solidFill>
                            <a:srgbClr val="CFD9E6"/>
                          </a:solidFill>
                          <a:latin typeface="Calibri" pitchFamily="34" charset="0"/>
                          <a:ea typeface="Calibri" pitchFamily="34" charset="-122"/>
                          <a:cs typeface="Calibri" pitchFamily="34" charset="-120"/>
                        </a:rPr>
                        <a:t>R30</a:t>
                      </a:r>
                      <a:endParaRPr lang="en-US" sz="1200" dirty="0"/>
                    </a:p>
                  </a:txBody>
                  <a:tcPr marL="91440" marR="91440" marT="45720" marB="45720" anchor="ctr">
                    <a:lnL w="9525" cap="flat" cmpd="sng" algn="ctr">
                      <a:solidFill>
                        <a:srgbClr val="24405F"/>
                      </a:solidFill>
                      <a:prstDash val="solid"/>
                      <a:round/>
                      <a:headEnd type="none" w="med" len="med"/>
                      <a:tailEnd type="none" w="med" len="med"/>
                    </a:lnL>
                    <a:lnR w="9525" cap="flat" cmpd="sng" algn="ctr">
                      <a:solidFill>
                        <a:srgbClr val="24405F"/>
                      </a:solidFill>
                      <a:prstDash val="solid"/>
                      <a:round/>
                      <a:headEnd type="none" w="med" len="med"/>
                      <a:tailEnd type="none" w="med" len="med"/>
                    </a:lnR>
                    <a:lnT w="9525" cap="flat" cmpd="sng" algn="ctr">
                      <a:solidFill>
                        <a:srgbClr val="24405F"/>
                      </a:solidFill>
                      <a:prstDash val="solid"/>
                      <a:round/>
                      <a:headEnd type="none" w="med" len="med"/>
                      <a:tailEnd type="none" w="med" len="med"/>
                    </a:lnT>
                    <a:lnB w="9525" cap="flat" cmpd="sng" algn="ctr">
                      <a:solidFill>
                        <a:srgbClr val="24405F"/>
                      </a:solidFill>
                      <a:prstDash val="solid"/>
                      <a:round/>
                      <a:headEnd type="none" w="med" len="med"/>
                      <a:tailEnd type="none" w="med" len="med"/>
                    </a:lnB>
                    <a:solidFill>
                      <a:srgbClr val="142338"/>
                    </a:solidFill>
                  </a:tcPr>
                </a:tc>
                <a:tc>
                  <a:txBody>
                    <a:bodyPr/>
                    <a:lstStyle/>
                    <a:p>
                      <a:pPr indent="0" marL="0">
                        <a:buNone/>
                      </a:pPr>
                      <a:r>
                        <a:rPr lang="en-US" sz="1100" dirty="0">
                          <a:solidFill>
                            <a:srgbClr val="CFD9E6"/>
                          </a:solidFill>
                          <a:latin typeface="Calibri" pitchFamily="34" charset="0"/>
                          <a:ea typeface="Calibri" pitchFamily="34" charset="-122"/>
                          <a:cs typeface="Calibri" pitchFamily="34" charset="-120"/>
                        </a:rPr>
                        <a:t>Heterogeneous RGATConv + TypedLinear encoder, same corpus</a:t>
                      </a:r>
                      <a:endParaRPr lang="en-US" sz="1200" dirty="0"/>
                    </a:p>
                  </a:txBody>
                  <a:tcPr marL="91440" marR="91440" marT="45720" marB="45720" anchor="ctr">
                    <a:lnL w="9525" cap="flat" cmpd="sng" algn="ctr">
                      <a:solidFill>
                        <a:srgbClr val="24405F"/>
                      </a:solidFill>
                      <a:prstDash val="solid"/>
                      <a:round/>
                      <a:headEnd type="none" w="med" len="med"/>
                      <a:tailEnd type="none" w="med" len="med"/>
                    </a:lnL>
                    <a:lnR w="9525" cap="flat" cmpd="sng" algn="ctr">
                      <a:solidFill>
                        <a:srgbClr val="24405F"/>
                      </a:solidFill>
                      <a:prstDash val="solid"/>
                      <a:round/>
                      <a:headEnd type="none" w="med" len="med"/>
                      <a:tailEnd type="none" w="med" len="med"/>
                    </a:lnR>
                    <a:lnT w="9525" cap="flat" cmpd="sng" algn="ctr">
                      <a:solidFill>
                        <a:srgbClr val="24405F"/>
                      </a:solidFill>
                      <a:prstDash val="solid"/>
                      <a:round/>
                      <a:headEnd type="none" w="med" len="med"/>
                      <a:tailEnd type="none" w="med" len="med"/>
                    </a:lnT>
                    <a:lnB w="9525" cap="flat" cmpd="sng" algn="ctr">
                      <a:solidFill>
                        <a:srgbClr val="24405F"/>
                      </a:solidFill>
                      <a:prstDash val="solid"/>
                      <a:round/>
                      <a:headEnd type="none" w="med" len="med"/>
                      <a:tailEnd type="none" w="med" len="med"/>
                    </a:lnB>
                    <a:solidFill>
                      <a:srgbClr val="142338"/>
                    </a:solidFill>
                  </a:tcPr>
                </a:tc>
                <a:tc>
                  <a:txBody>
                    <a:bodyPr/>
                    <a:lstStyle/>
                    <a:p>
                      <a:pPr indent="0" marL="0">
                        <a:buNone/>
                      </a:pPr>
                      <a:r>
                        <a:rPr lang="en-US" sz="1100" dirty="0">
                          <a:solidFill>
                            <a:srgbClr val="CFD9E6"/>
                          </a:solidFill>
                          <a:latin typeface="Calibri" pitchFamily="34" charset="0"/>
                          <a:ea typeface="Calibri" pitchFamily="34" charset="-122"/>
                          <a:cs typeface="Calibri" pitchFamily="34" charset="-120"/>
                        </a:rPr>
                        <a:t>0.599 ± 0.112</a:t>
                      </a:r>
                      <a:endParaRPr lang="en-US" sz="1200" dirty="0"/>
                    </a:p>
                  </a:txBody>
                  <a:tcPr marL="91440" marR="91440" marT="45720" marB="45720" anchor="ctr">
                    <a:lnL w="9525" cap="flat" cmpd="sng" algn="ctr">
                      <a:solidFill>
                        <a:srgbClr val="24405F"/>
                      </a:solidFill>
                      <a:prstDash val="solid"/>
                      <a:round/>
                      <a:headEnd type="none" w="med" len="med"/>
                      <a:tailEnd type="none" w="med" len="med"/>
                    </a:lnL>
                    <a:lnR w="9525" cap="flat" cmpd="sng" algn="ctr">
                      <a:solidFill>
                        <a:srgbClr val="24405F"/>
                      </a:solidFill>
                      <a:prstDash val="solid"/>
                      <a:round/>
                      <a:headEnd type="none" w="med" len="med"/>
                      <a:tailEnd type="none" w="med" len="med"/>
                    </a:lnR>
                    <a:lnT w="9525" cap="flat" cmpd="sng" algn="ctr">
                      <a:solidFill>
                        <a:srgbClr val="24405F"/>
                      </a:solidFill>
                      <a:prstDash val="solid"/>
                      <a:round/>
                      <a:headEnd type="none" w="med" len="med"/>
                      <a:tailEnd type="none" w="med" len="med"/>
                    </a:lnT>
                    <a:lnB w="9525" cap="flat" cmpd="sng" algn="ctr">
                      <a:solidFill>
                        <a:srgbClr val="24405F"/>
                      </a:solidFill>
                      <a:prstDash val="solid"/>
                      <a:round/>
                      <a:headEnd type="none" w="med" len="med"/>
                      <a:tailEnd type="none" w="med" len="med"/>
                    </a:lnB>
                    <a:solidFill>
                      <a:srgbClr val="142338"/>
                    </a:solidFill>
                  </a:tcPr>
                </a:tc>
                <a:tc>
                  <a:txBody>
                    <a:bodyPr/>
                    <a:lstStyle/>
                    <a:p>
                      <a:pPr indent="0" marL="0">
                        <a:buNone/>
                      </a:pPr>
                      <a:r>
                        <a:rPr lang="en-US" sz="1100" dirty="0">
                          <a:solidFill>
                            <a:srgbClr val="CFD9E6"/>
                          </a:solidFill>
                          <a:latin typeface="Calibri" pitchFamily="34" charset="0"/>
                          <a:ea typeface="Calibri" pitchFamily="34" charset="-122"/>
                          <a:cs typeface="Calibri" pitchFamily="34" charset="-120"/>
                        </a:rPr>
                        <a:t>0.869 ± 0.047</a:t>
                      </a:r>
                      <a:endParaRPr lang="en-US" sz="1200" dirty="0"/>
                    </a:p>
                  </a:txBody>
                  <a:tcPr marL="91440" marR="91440" marT="45720" marB="45720" anchor="ctr">
                    <a:lnL w="9525" cap="flat" cmpd="sng" algn="ctr">
                      <a:solidFill>
                        <a:srgbClr val="24405F"/>
                      </a:solidFill>
                      <a:prstDash val="solid"/>
                      <a:round/>
                      <a:headEnd type="none" w="med" len="med"/>
                      <a:tailEnd type="none" w="med" len="med"/>
                    </a:lnL>
                    <a:lnR w="9525" cap="flat" cmpd="sng" algn="ctr">
                      <a:solidFill>
                        <a:srgbClr val="24405F"/>
                      </a:solidFill>
                      <a:prstDash val="solid"/>
                      <a:round/>
                      <a:headEnd type="none" w="med" len="med"/>
                      <a:tailEnd type="none" w="med" len="med"/>
                    </a:lnR>
                    <a:lnT w="9525" cap="flat" cmpd="sng" algn="ctr">
                      <a:solidFill>
                        <a:srgbClr val="24405F"/>
                      </a:solidFill>
                      <a:prstDash val="solid"/>
                      <a:round/>
                      <a:headEnd type="none" w="med" len="med"/>
                      <a:tailEnd type="none" w="med" len="med"/>
                    </a:lnT>
                    <a:lnB w="9525" cap="flat" cmpd="sng" algn="ctr">
                      <a:solidFill>
                        <a:srgbClr val="24405F"/>
                      </a:solidFill>
                      <a:prstDash val="solid"/>
                      <a:round/>
                      <a:headEnd type="none" w="med" len="med"/>
                      <a:tailEnd type="none" w="med" len="med"/>
                    </a:lnB>
                    <a:solidFill>
                      <a:srgbClr val="142338"/>
                    </a:solidFill>
                  </a:tcPr>
                </a:tc>
                <a:tc>
                  <a:txBody>
                    <a:bodyPr/>
                    <a:lstStyle/>
                    <a:p>
                      <a:pPr indent="0" marL="0">
                        <a:buNone/>
                      </a:pPr>
                      <a:r>
                        <a:rPr lang="en-US" sz="1100" dirty="0">
                          <a:solidFill>
                            <a:srgbClr val="4CAF82"/>
                          </a:solidFill>
                          <a:latin typeface="Calibri" pitchFamily="34" charset="0"/>
                          <a:ea typeface="Calibri" pitchFamily="34" charset="-122"/>
                          <a:cs typeface="Calibri" pitchFamily="34" charset="-120"/>
                        </a:rPr>
                        <a:t>Yes — current serving</a:t>
                      </a:r>
                      <a:endParaRPr lang="en-US" sz="1200" dirty="0"/>
                    </a:p>
                  </a:txBody>
                  <a:tcPr marL="91440" marR="91440" marT="45720" marB="45720" anchor="ctr">
                    <a:lnL w="9525" cap="flat" cmpd="sng" algn="ctr">
                      <a:solidFill>
                        <a:srgbClr val="24405F"/>
                      </a:solidFill>
                      <a:prstDash val="solid"/>
                      <a:round/>
                      <a:headEnd type="none" w="med" len="med"/>
                      <a:tailEnd type="none" w="med" len="med"/>
                    </a:lnL>
                    <a:lnR w="9525" cap="flat" cmpd="sng" algn="ctr">
                      <a:solidFill>
                        <a:srgbClr val="24405F"/>
                      </a:solidFill>
                      <a:prstDash val="solid"/>
                      <a:round/>
                      <a:headEnd type="none" w="med" len="med"/>
                      <a:tailEnd type="none" w="med" len="med"/>
                    </a:lnR>
                    <a:lnT w="9525" cap="flat" cmpd="sng" algn="ctr">
                      <a:solidFill>
                        <a:srgbClr val="24405F"/>
                      </a:solidFill>
                      <a:prstDash val="solid"/>
                      <a:round/>
                      <a:headEnd type="none" w="med" len="med"/>
                      <a:tailEnd type="none" w="med" len="med"/>
                    </a:lnT>
                    <a:lnB w="9525" cap="flat" cmpd="sng" algn="ctr">
                      <a:solidFill>
                        <a:srgbClr val="24405F"/>
                      </a:solidFill>
                      <a:prstDash val="solid"/>
                      <a:round/>
                      <a:headEnd type="none" w="med" len="med"/>
                      <a:tailEnd type="none" w="med" len="med"/>
                    </a:lnB>
                    <a:solidFill>
                      <a:srgbClr val="142338"/>
                    </a:solidFill>
                  </a:tcPr>
                </a:tc>
              </a:tr>
              <a:tr h="365760">
                <a:tc>
                  <a:txBody>
                    <a:bodyPr/>
                    <a:lstStyle/>
                    <a:p>
                      <a:pPr indent="0" marL="0">
                        <a:buNone/>
                      </a:pPr>
                      <a:r>
                        <a:rPr lang="en-US" sz="1100" dirty="0">
                          <a:solidFill>
                            <a:srgbClr val="CFD9E6"/>
                          </a:solidFill>
                          <a:latin typeface="Calibri" pitchFamily="34" charset="0"/>
                          <a:ea typeface="Calibri" pitchFamily="34" charset="-122"/>
                          <a:cs typeface="Calibri" pitchFamily="34" charset="-120"/>
                        </a:rPr>
                        <a:t>R31</a:t>
                      </a:r>
                      <a:endParaRPr lang="en-US" sz="1200" dirty="0"/>
                    </a:p>
                  </a:txBody>
                  <a:tcPr marL="91440" marR="91440" marT="45720" marB="45720" anchor="ctr">
                    <a:lnL w="9525" cap="flat" cmpd="sng" algn="ctr">
                      <a:solidFill>
                        <a:srgbClr val="24405F"/>
                      </a:solidFill>
                      <a:prstDash val="solid"/>
                      <a:round/>
                      <a:headEnd type="none" w="med" len="med"/>
                      <a:tailEnd type="none" w="med" len="med"/>
                    </a:lnL>
                    <a:lnR w="9525" cap="flat" cmpd="sng" algn="ctr">
                      <a:solidFill>
                        <a:srgbClr val="24405F"/>
                      </a:solidFill>
                      <a:prstDash val="solid"/>
                      <a:round/>
                      <a:headEnd type="none" w="med" len="med"/>
                      <a:tailEnd type="none" w="med" len="med"/>
                    </a:lnR>
                    <a:lnT w="9525" cap="flat" cmpd="sng" algn="ctr">
                      <a:solidFill>
                        <a:srgbClr val="24405F"/>
                      </a:solidFill>
                      <a:prstDash val="solid"/>
                      <a:round/>
                      <a:headEnd type="none" w="med" len="med"/>
                      <a:tailEnd type="none" w="med" len="med"/>
                    </a:lnT>
                    <a:lnB w="9525" cap="flat" cmpd="sng" algn="ctr">
                      <a:solidFill>
                        <a:srgbClr val="24405F"/>
                      </a:solidFill>
                      <a:prstDash val="solid"/>
                      <a:round/>
                      <a:headEnd type="none" w="med" len="med"/>
                      <a:tailEnd type="none" w="med" len="med"/>
                    </a:lnB>
                    <a:solidFill>
                      <a:srgbClr val="142338"/>
                    </a:solidFill>
                  </a:tcPr>
                </a:tc>
                <a:tc>
                  <a:txBody>
                    <a:bodyPr/>
                    <a:lstStyle/>
                    <a:p>
                      <a:pPr indent="0" marL="0">
                        <a:buNone/>
                      </a:pPr>
                      <a:r>
                        <a:rPr lang="en-US" sz="1100" dirty="0">
                          <a:solidFill>
                            <a:srgbClr val="CFD9E6"/>
                          </a:solidFill>
                          <a:latin typeface="Calibri" pitchFamily="34" charset="0"/>
                          <a:ea typeface="Calibri" pitchFamily="34" charset="-122"/>
                          <a:cs typeface="Calibri" pitchFamily="34" charset="-120"/>
                        </a:rPr>
                        <a:t>Corpus expanded to 484 graphs (2 new categories); OOM/stall infra bugs found &amp; fixed mid-run</a:t>
                      </a:r>
                      <a:endParaRPr lang="en-US" sz="1200" dirty="0"/>
                    </a:p>
                  </a:txBody>
                  <a:tcPr marL="91440" marR="91440" marT="45720" marB="45720" anchor="ctr">
                    <a:lnL w="9525" cap="flat" cmpd="sng" algn="ctr">
                      <a:solidFill>
                        <a:srgbClr val="24405F"/>
                      </a:solidFill>
                      <a:prstDash val="solid"/>
                      <a:round/>
                      <a:headEnd type="none" w="med" len="med"/>
                      <a:tailEnd type="none" w="med" len="med"/>
                    </a:lnL>
                    <a:lnR w="9525" cap="flat" cmpd="sng" algn="ctr">
                      <a:solidFill>
                        <a:srgbClr val="24405F"/>
                      </a:solidFill>
                      <a:prstDash val="solid"/>
                      <a:round/>
                      <a:headEnd type="none" w="med" len="med"/>
                      <a:tailEnd type="none" w="med" len="med"/>
                    </a:lnR>
                    <a:lnT w="9525" cap="flat" cmpd="sng" algn="ctr">
                      <a:solidFill>
                        <a:srgbClr val="24405F"/>
                      </a:solidFill>
                      <a:prstDash val="solid"/>
                      <a:round/>
                      <a:headEnd type="none" w="med" len="med"/>
                      <a:tailEnd type="none" w="med" len="med"/>
                    </a:lnT>
                    <a:lnB w="9525" cap="flat" cmpd="sng" algn="ctr">
                      <a:solidFill>
                        <a:srgbClr val="24405F"/>
                      </a:solidFill>
                      <a:prstDash val="solid"/>
                      <a:round/>
                      <a:headEnd type="none" w="med" len="med"/>
                      <a:tailEnd type="none" w="med" len="med"/>
                    </a:lnB>
                    <a:solidFill>
                      <a:srgbClr val="142338"/>
                    </a:solidFill>
                  </a:tcPr>
                </a:tc>
                <a:tc>
                  <a:txBody>
                    <a:bodyPr/>
                    <a:lstStyle/>
                    <a:p>
                      <a:pPr indent="0" marL="0">
                        <a:buNone/>
                      </a:pPr>
                      <a:r>
                        <a:rPr lang="en-US" sz="1100" dirty="0">
                          <a:solidFill>
                            <a:srgbClr val="CFD9E6"/>
                          </a:solidFill>
                          <a:latin typeface="Calibri" pitchFamily="34" charset="0"/>
                          <a:ea typeface="Calibri" pitchFamily="34" charset="-122"/>
                          <a:cs typeface="Calibri" pitchFamily="34" charset="-120"/>
                        </a:rPr>
                        <a:t>0.594 ± 0.034</a:t>
                      </a:r>
                      <a:endParaRPr lang="en-US" sz="1200" dirty="0"/>
                    </a:p>
                  </a:txBody>
                  <a:tcPr marL="91440" marR="91440" marT="45720" marB="45720" anchor="ctr">
                    <a:lnL w="9525" cap="flat" cmpd="sng" algn="ctr">
                      <a:solidFill>
                        <a:srgbClr val="24405F"/>
                      </a:solidFill>
                      <a:prstDash val="solid"/>
                      <a:round/>
                      <a:headEnd type="none" w="med" len="med"/>
                      <a:tailEnd type="none" w="med" len="med"/>
                    </a:lnL>
                    <a:lnR w="9525" cap="flat" cmpd="sng" algn="ctr">
                      <a:solidFill>
                        <a:srgbClr val="24405F"/>
                      </a:solidFill>
                      <a:prstDash val="solid"/>
                      <a:round/>
                      <a:headEnd type="none" w="med" len="med"/>
                      <a:tailEnd type="none" w="med" len="med"/>
                    </a:lnR>
                    <a:lnT w="9525" cap="flat" cmpd="sng" algn="ctr">
                      <a:solidFill>
                        <a:srgbClr val="24405F"/>
                      </a:solidFill>
                      <a:prstDash val="solid"/>
                      <a:round/>
                      <a:headEnd type="none" w="med" len="med"/>
                      <a:tailEnd type="none" w="med" len="med"/>
                    </a:lnT>
                    <a:lnB w="9525" cap="flat" cmpd="sng" algn="ctr">
                      <a:solidFill>
                        <a:srgbClr val="24405F"/>
                      </a:solidFill>
                      <a:prstDash val="solid"/>
                      <a:round/>
                      <a:headEnd type="none" w="med" len="med"/>
                      <a:tailEnd type="none" w="med" len="med"/>
                    </a:lnB>
                    <a:solidFill>
                      <a:srgbClr val="142338"/>
                    </a:solidFill>
                  </a:tcPr>
                </a:tc>
                <a:tc>
                  <a:txBody>
                    <a:bodyPr/>
                    <a:lstStyle/>
                    <a:p>
                      <a:pPr indent="0" marL="0">
                        <a:buNone/>
                      </a:pPr>
                      <a:r>
                        <a:rPr lang="en-US" sz="1100" dirty="0">
                          <a:solidFill>
                            <a:srgbClr val="CFD9E6"/>
                          </a:solidFill>
                          <a:latin typeface="Calibri" pitchFamily="34" charset="0"/>
                          <a:ea typeface="Calibri" pitchFamily="34" charset="-122"/>
                          <a:cs typeface="Calibri" pitchFamily="34" charset="-120"/>
                        </a:rPr>
                        <a:t>0.762 ± 0.032</a:t>
                      </a:r>
                      <a:endParaRPr lang="en-US" sz="1200" dirty="0"/>
                    </a:p>
                  </a:txBody>
                  <a:tcPr marL="91440" marR="91440" marT="45720" marB="45720" anchor="ctr">
                    <a:lnL w="9525" cap="flat" cmpd="sng" algn="ctr">
                      <a:solidFill>
                        <a:srgbClr val="24405F"/>
                      </a:solidFill>
                      <a:prstDash val="solid"/>
                      <a:round/>
                      <a:headEnd type="none" w="med" len="med"/>
                      <a:tailEnd type="none" w="med" len="med"/>
                    </a:lnL>
                    <a:lnR w="9525" cap="flat" cmpd="sng" algn="ctr">
                      <a:solidFill>
                        <a:srgbClr val="24405F"/>
                      </a:solidFill>
                      <a:prstDash val="solid"/>
                      <a:round/>
                      <a:headEnd type="none" w="med" len="med"/>
                      <a:tailEnd type="none" w="med" len="med"/>
                    </a:lnR>
                    <a:lnT w="9525" cap="flat" cmpd="sng" algn="ctr">
                      <a:solidFill>
                        <a:srgbClr val="24405F"/>
                      </a:solidFill>
                      <a:prstDash val="solid"/>
                      <a:round/>
                      <a:headEnd type="none" w="med" len="med"/>
                      <a:tailEnd type="none" w="med" len="med"/>
                    </a:lnT>
                    <a:lnB w="9525" cap="flat" cmpd="sng" algn="ctr">
                      <a:solidFill>
                        <a:srgbClr val="24405F"/>
                      </a:solidFill>
                      <a:prstDash val="solid"/>
                      <a:round/>
                      <a:headEnd type="none" w="med" len="med"/>
                      <a:tailEnd type="none" w="med" len="med"/>
                    </a:lnB>
                    <a:solidFill>
                      <a:srgbClr val="142338"/>
                    </a:solidFill>
                  </a:tcPr>
                </a:tc>
                <a:tc>
                  <a:txBody>
                    <a:bodyPr/>
                    <a:lstStyle/>
                    <a:p>
                      <a:pPr indent="0" marL="0">
                        <a:buNone/>
                      </a:pPr>
                      <a:r>
                        <a:rPr lang="en-US" sz="1100" dirty="0">
                          <a:solidFill>
                            <a:srgbClr val="EF5A5A"/>
                          </a:solidFill>
                          <a:latin typeface="Calibri" pitchFamily="34" charset="0"/>
                          <a:ea typeface="Calibri" pitchFamily="34" charset="-122"/>
                          <a:cs typeface="Calibri" pitchFamily="34" charset="-120"/>
                        </a:rPr>
                        <a:t>No — gate correctly declined</a:t>
                      </a:r>
                      <a:endParaRPr lang="en-US" sz="1200" dirty="0"/>
                    </a:p>
                  </a:txBody>
                  <a:tcPr marL="91440" marR="91440" marT="45720" marB="45720" anchor="ctr">
                    <a:lnL w="9525" cap="flat" cmpd="sng" algn="ctr">
                      <a:solidFill>
                        <a:srgbClr val="24405F"/>
                      </a:solidFill>
                      <a:prstDash val="solid"/>
                      <a:round/>
                      <a:headEnd type="none" w="med" len="med"/>
                      <a:tailEnd type="none" w="med" len="med"/>
                    </a:lnL>
                    <a:lnR w="9525" cap="flat" cmpd="sng" algn="ctr">
                      <a:solidFill>
                        <a:srgbClr val="24405F"/>
                      </a:solidFill>
                      <a:prstDash val="solid"/>
                      <a:round/>
                      <a:headEnd type="none" w="med" len="med"/>
                      <a:tailEnd type="none" w="med" len="med"/>
                    </a:lnR>
                    <a:lnT w="9525" cap="flat" cmpd="sng" algn="ctr">
                      <a:solidFill>
                        <a:srgbClr val="24405F"/>
                      </a:solidFill>
                      <a:prstDash val="solid"/>
                      <a:round/>
                      <a:headEnd type="none" w="med" len="med"/>
                      <a:tailEnd type="none" w="med" len="med"/>
                    </a:lnT>
                    <a:lnB w="9525" cap="flat" cmpd="sng" algn="ctr">
                      <a:solidFill>
                        <a:srgbClr val="24405F"/>
                      </a:solidFill>
                      <a:prstDash val="solid"/>
                      <a:round/>
                      <a:headEnd type="none" w="med" len="med"/>
                      <a:tailEnd type="none" w="med" len="med"/>
                    </a:lnB>
                    <a:solidFill>
                      <a:srgbClr val="142338"/>
                    </a:solidFill>
                  </a:tcPr>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121F"/>
        </a:solidFill>
      </p:bgPr>
    </p:bg>
    <p:spTree>
      <p:nvGrpSpPr>
        <p:cNvPr id="1" name=""/>
        <p:cNvGrpSpPr/>
        <p:nvPr/>
      </p:nvGrpSpPr>
      <p:grpSpPr>
        <a:xfrm>
          <a:off x="0" y="0"/>
          <a:ext cx="0" cy="0"/>
          <a:chOff x="0" y="0"/>
          <a:chExt cx="0" cy="0"/>
        </a:xfrm>
      </p:grpSpPr>
      <p:sp>
        <p:nvSpPr>
          <p:cNvPr id="2" name="Text 0"/>
          <p:cNvSpPr/>
          <p:nvPr/>
        </p:nvSpPr>
        <p:spPr>
          <a:xfrm>
            <a:off x="457200" y="292608"/>
            <a:ext cx="11277295" cy="274320"/>
          </a:xfrm>
          <a:prstGeom prst="rect">
            <a:avLst/>
          </a:prstGeom>
          <a:noFill/>
          <a:ln/>
        </p:spPr>
        <p:txBody>
          <a:bodyPr wrap="square" rtlCol="0" anchor="ctr"/>
          <a:lstStyle/>
          <a:p>
            <a:pPr indent="0" marL="0">
              <a:buNone/>
            </a:pPr>
            <a:r>
              <a:rPr lang="en-US" sz="1100" b="1" spc="150" kern="0" dirty="0">
                <a:solidFill>
                  <a:srgbClr val="5B9BD5"/>
                </a:solidFill>
                <a:latin typeface="Calibri" pitchFamily="34" charset="0"/>
                <a:ea typeface="Calibri" pitchFamily="34" charset="-122"/>
                <a:cs typeface="Calibri" pitchFamily="34" charset="-120"/>
              </a:rPr>
              <a:t>5 · ALGORITHM / TECHNIQUES — TRAINING HISTORY</a:t>
            </a:r>
            <a:endParaRPr lang="en-US" sz="1100" dirty="0"/>
          </a:p>
        </p:txBody>
      </p:sp>
      <p:sp>
        <p:nvSpPr>
          <p:cNvPr id="3" name="Text 1"/>
          <p:cNvSpPr/>
          <p:nvPr/>
        </p:nvSpPr>
        <p:spPr>
          <a:xfrm>
            <a:off x="457200" y="566928"/>
            <a:ext cx="11277295" cy="502920"/>
          </a:xfrm>
          <a:prstGeom prst="rect">
            <a:avLst/>
          </a:prstGeom>
          <a:noFill/>
          <a:ln/>
        </p:spPr>
        <p:txBody>
          <a:bodyPr wrap="square" rtlCol="0" anchor="t"/>
          <a:lstStyle/>
          <a:p>
            <a:pPr indent="0" marL="0">
              <a:buNone/>
            </a:pPr>
            <a:r>
              <a:rPr lang="en-US" sz="2600" b="1" dirty="0">
                <a:solidFill>
                  <a:srgbClr val="E6EDF5"/>
                </a:solidFill>
                <a:latin typeface="Calibri" pitchFamily="34" charset="0"/>
                <a:ea typeface="Calibri" pitchFamily="34" charset="-122"/>
                <a:cs typeface="Calibri" pitchFamily="34" charset="-120"/>
              </a:rPr>
              <a:t>Fold-level variance &amp;amp; what R31 taught us</a:t>
            </a:r>
            <a:endParaRPr lang="en-US" sz="2600" dirty="0"/>
          </a:p>
        </p:txBody>
      </p:sp>
      <p:pic>
        <p:nvPicPr>
          <p:cNvPr id="4" name="Image 0" descr="/Users/mbp/Documents/MTECH/Sem4/Individual_project/AI_Assisted_3D_Assembly_Design/AI-Assisted-3D-Assembly-Design/docs/phase2_fold_variance.png">    </p:cNvPr>
          <p:cNvPicPr>
            <a:picLocks noChangeAspect="1"/>
          </p:cNvPicPr>
          <p:nvPr/>
        </p:nvPicPr>
        <p:blipFill>
          <a:blip r:embed="rId1"/>
          <a:srcRect l="0" r="0" t="0" b="0"/>
          <a:stretch/>
        </p:blipFill>
        <p:spPr>
          <a:xfrm>
            <a:off x="457200" y="1188720"/>
            <a:ext cx="6675120" cy="3118104"/>
          </a:xfrm>
          <a:prstGeom prst="rect">
            <a:avLst/>
          </a:prstGeom>
        </p:spPr>
      </p:pic>
      <p:sp>
        <p:nvSpPr>
          <p:cNvPr id="5" name="Shape 2"/>
          <p:cNvSpPr/>
          <p:nvPr/>
        </p:nvSpPr>
        <p:spPr>
          <a:xfrm>
            <a:off x="457200" y="4434840"/>
            <a:ext cx="6675120" cy="2103120"/>
          </a:xfrm>
          <a:prstGeom prst="roundRect">
            <a:avLst>
              <a:gd name="adj" fmla="val 2609"/>
            </a:avLst>
          </a:prstGeom>
          <a:solidFill>
            <a:srgbClr val="142338"/>
          </a:solidFill>
          <a:ln w="12700">
            <a:solidFill>
              <a:srgbClr val="24405F"/>
            </a:solidFill>
            <a:prstDash val="solid"/>
          </a:ln>
        </p:spPr>
      </p:sp>
      <p:sp>
        <p:nvSpPr>
          <p:cNvPr id="6" name="Text 3"/>
          <p:cNvSpPr/>
          <p:nvPr/>
        </p:nvSpPr>
        <p:spPr>
          <a:xfrm>
            <a:off x="621792" y="4599432"/>
            <a:ext cx="6345936" cy="292608"/>
          </a:xfrm>
          <a:prstGeom prst="rect">
            <a:avLst/>
          </a:prstGeom>
          <a:noFill/>
          <a:ln/>
        </p:spPr>
        <p:txBody>
          <a:bodyPr wrap="square" rtlCol="0" anchor="ctr"/>
          <a:lstStyle/>
          <a:p>
            <a:pPr indent="0" marL="0">
              <a:buNone/>
            </a:pPr>
            <a:r>
              <a:rPr lang="en-US" sz="1300" b="1" dirty="0">
                <a:solidFill>
                  <a:srgbClr val="4CAF82"/>
                </a:solidFill>
                <a:latin typeface="Calibri" pitchFamily="34" charset="0"/>
                <a:ea typeface="Calibri" pitchFamily="34" charset="-122"/>
                <a:cs typeface="Calibri" pitchFamily="34" charset="-120"/>
              </a:rPr>
              <a:t>Architecture lever confirmed real</a:t>
            </a:r>
            <a:endParaRPr lang="en-US" sz="1300" dirty="0"/>
          </a:p>
        </p:txBody>
      </p:sp>
      <p:sp>
        <p:nvSpPr>
          <p:cNvPr id="7" name="Text 4"/>
          <p:cNvSpPr/>
          <p:nvPr/>
        </p:nvSpPr>
        <p:spPr>
          <a:xfrm>
            <a:off x="621792" y="4928616"/>
            <a:ext cx="6345936" cy="1444752"/>
          </a:xfrm>
          <a:prstGeom prst="rect">
            <a:avLst/>
          </a:prstGeom>
          <a:noFill/>
          <a:ln/>
        </p:spPr>
        <p:txBody>
          <a:bodyPr wrap="square" rtlCol="0" anchor="t"/>
          <a:lstStyle/>
          <a:p>
            <a:pPr marL="177800" indent="-177800">
              <a:lnSpc>
                <a:spcPct val="115000"/>
              </a:lnSpc>
              <a:spcAft>
                <a:spcPts val="600"/>
              </a:spcAft>
              <a:buSzPct val="100000"/>
              <a:buChar char="•"/>
            </a:pPr>
            <a:r>
              <a:rPr lang="en-US" sz="1200" dirty="0">
                <a:solidFill>
                  <a:srgbClr val="CFD9E6"/>
                </a:solidFill>
                <a:latin typeface="Calibri" pitchFamily="34" charset="0"/>
                <a:ea typeface="Calibri" pitchFamily="34" charset="-122"/>
                <a:cs typeface="Calibri" pitchFamily="34" charset="-120"/>
              </a:rPr>
              <a:t>R30's heterogeneous encoder beat R29 on </a:t>
            </a:r>
            <a:endParaRPr lang="en-US" sz="1200" dirty="0"/>
          </a:p>
          <a:p>
            <a:pPr indent="0" marL="0">
              <a:lnSpc>
                <a:spcPct val="115000"/>
              </a:lnSpc>
              <a:buNone/>
            </a:pPr>
            <a:r>
              <a:rPr lang="en-US" sz="1200" i="1" dirty="0">
                <a:solidFill>
                  <a:srgbClr val="CFD9E6"/>
                </a:solidFill>
                <a:latin typeface="Calibri" pitchFamily="34" charset="0"/>
                <a:ea typeface="Calibri" pitchFamily="34" charset="-122"/>
                <a:cs typeface="Calibri" pitchFamily="34" charset="-120"/>
              </a:rPr>
              <a:t>both</a:t>
            </a:r>
            <a:pPr indent="0" marL="0">
              <a:lnSpc>
                <a:spcPct val="115000"/>
              </a:lnSpc>
              <a:buNone/>
            </a:pPr>
            <a:r>
              <a:rPr lang="en-US" sz="1200" dirty="0">
                <a:solidFill>
                  <a:srgbClr val="CFD9E6"/>
                </a:solidFill>
                <a:latin typeface="Calibri" pitchFamily="34" charset="0"/>
                <a:ea typeface="Calibri" pitchFamily="34" charset="-122"/>
                <a:cs typeface="Calibri" pitchFamily="34" charset="-120"/>
              </a:rPr>
              <a:t> AUC (+5.8%) and AP (+3.1%) on the identical corpus — a genuine, isolated architecture win</a:t>
            </a:r>
            <a:endParaRPr lang="en-US" sz="1200" dirty="0"/>
          </a:p>
          <a:p>
            <a:pPr marL="177800" indent="-177800">
              <a:lnSpc>
                <a:spcPct val="115000"/>
              </a:lnSpc>
              <a:spcAft>
                <a:spcPts val="600"/>
              </a:spcAft>
              <a:buSzPct val="100000"/>
              <a:buChar char="•"/>
            </a:pPr>
            <a:r>
              <a:rPr lang="en-US" sz="1200" dirty="0">
                <a:solidFill>
                  <a:srgbClr val="CFD9E6"/>
                </a:solidFill>
                <a:latin typeface="Calibri" pitchFamily="34" charset="0"/>
                <a:ea typeface="Calibri" pitchFamily="34" charset="-122"/>
                <a:cs typeface="Calibri" pitchFamily="34" charset="-120"/>
              </a:rPr>
              <a:t>Best single fold ever seen: 0.773 (R30, fold 4) / 0.771 (R29, fold 2) — the model </a:t>
            </a:r>
            <a:pPr indent="0" marL="0">
              <a:lnSpc>
                <a:spcPct val="115000"/>
              </a:lnSpc>
              <a:buNone/>
            </a:pPr>
            <a:r>
              <a:rPr lang="en-US" sz="1200" i="1" dirty="0">
                <a:solidFill>
                  <a:srgbClr val="CFD9E6"/>
                </a:solidFill>
                <a:latin typeface="Calibri" pitchFamily="34" charset="0"/>
                <a:ea typeface="Calibri" pitchFamily="34" charset="-122"/>
                <a:cs typeface="Calibri" pitchFamily="34" charset="-120"/>
              </a:rPr>
              <a:t>can</a:t>
            </a:r>
            <a:pPr indent="0" marL="0">
              <a:lnSpc>
                <a:spcPct val="115000"/>
              </a:lnSpc>
              <a:buNone/>
            </a:pPr>
            <a:r>
              <a:rPr lang="en-US" sz="1200" dirty="0">
                <a:solidFill>
                  <a:srgbClr val="CFD9E6"/>
                </a:solidFill>
                <a:latin typeface="Calibri" pitchFamily="34" charset="0"/>
                <a:ea typeface="Calibri" pitchFamily="34" charset="-122"/>
                <a:cs typeface="Calibri" pitchFamily="34" charset="-120"/>
              </a:rPr>
              <a:t> reach far higher AUC on favorable splits; the mean is dragged down by small-corpus variance, not a hard ceiling</a:t>
            </a:r>
            <a:endParaRPr lang="en-US" sz="1200" dirty="0"/>
          </a:p>
        </p:txBody>
      </p:sp>
      <p:sp>
        <p:nvSpPr>
          <p:cNvPr id="8" name="Shape 5"/>
          <p:cNvSpPr/>
          <p:nvPr/>
        </p:nvSpPr>
        <p:spPr>
          <a:xfrm>
            <a:off x="7315200" y="1188720"/>
            <a:ext cx="4416552" cy="5349240"/>
          </a:xfrm>
          <a:prstGeom prst="roundRect">
            <a:avLst>
              <a:gd name="adj" fmla="val 1242"/>
            </a:avLst>
          </a:prstGeom>
          <a:solidFill>
            <a:srgbClr val="142338"/>
          </a:solidFill>
          <a:ln w="12700">
            <a:solidFill>
              <a:srgbClr val="24405F"/>
            </a:solidFill>
            <a:prstDash val="solid"/>
          </a:ln>
        </p:spPr>
      </p:sp>
      <p:sp>
        <p:nvSpPr>
          <p:cNvPr id="9" name="Text 6"/>
          <p:cNvSpPr/>
          <p:nvPr/>
        </p:nvSpPr>
        <p:spPr>
          <a:xfrm>
            <a:off x="7479792" y="1353312"/>
            <a:ext cx="4087368" cy="292608"/>
          </a:xfrm>
          <a:prstGeom prst="rect">
            <a:avLst/>
          </a:prstGeom>
          <a:noFill/>
          <a:ln/>
        </p:spPr>
        <p:txBody>
          <a:bodyPr wrap="square" rtlCol="0" anchor="ctr"/>
          <a:lstStyle/>
          <a:p>
            <a:pPr indent="0" marL="0">
              <a:buNone/>
            </a:pPr>
            <a:r>
              <a:rPr lang="en-US" sz="1300" b="1" dirty="0">
                <a:solidFill>
                  <a:srgbClr val="F0A83C"/>
                </a:solidFill>
                <a:latin typeface="Calibri" pitchFamily="34" charset="0"/>
                <a:ea typeface="Calibri" pitchFamily="34" charset="-122"/>
                <a:cs typeface="Calibri" pitchFamily="34" charset="-120"/>
              </a:rPr>
              <a:t>Data-scale lever did not pay off (yet)</a:t>
            </a:r>
            <a:endParaRPr lang="en-US" sz="1300" dirty="0"/>
          </a:p>
        </p:txBody>
      </p:sp>
      <p:sp>
        <p:nvSpPr>
          <p:cNvPr id="10" name="Text 7"/>
          <p:cNvSpPr/>
          <p:nvPr/>
        </p:nvSpPr>
        <p:spPr>
          <a:xfrm>
            <a:off x="7479792" y="1682496"/>
            <a:ext cx="4087368" cy="4690872"/>
          </a:xfrm>
          <a:prstGeom prst="rect">
            <a:avLst/>
          </a:prstGeom>
          <a:noFill/>
          <a:ln/>
        </p:spPr>
        <p:txBody>
          <a:bodyPr wrap="square" rtlCol="0" anchor="t"/>
          <a:lstStyle/>
          <a:p>
            <a:pPr marL="177800" indent="-177800">
              <a:lnSpc>
                <a:spcPct val="115000"/>
              </a:lnSpc>
              <a:spcAft>
                <a:spcPts val="600"/>
              </a:spcAft>
              <a:buSzPct val="100000"/>
              <a:buChar char="•"/>
            </a:pPr>
            <a:r>
              <a:rPr lang="en-US" sz="1200" dirty="0">
                <a:solidFill>
                  <a:srgbClr val="CFD9E6"/>
                </a:solidFill>
                <a:latin typeface="Calibri" pitchFamily="34" charset="0"/>
                <a:ea typeface="Calibri" pitchFamily="34" charset="-122"/>
                <a:cs typeface="Calibri" pitchFamily="34" charset="-120"/>
              </a:rPr>
              <a:t>R31 nearly doubled the corpus (248 → 484 graphs) but scored essentially flat on AUC and </a:t>
            </a:r>
            <a:endParaRPr lang="en-US" sz="1200" dirty="0"/>
          </a:p>
          <a:p>
            <a:pPr indent="0" marL="0">
              <a:lnSpc>
                <a:spcPct val="115000"/>
              </a:lnSpc>
              <a:buNone/>
            </a:pPr>
            <a:r>
              <a:rPr lang="en-US" sz="1200" i="1" dirty="0">
                <a:solidFill>
                  <a:srgbClr val="CFD9E6"/>
                </a:solidFill>
                <a:latin typeface="Calibri" pitchFamily="34" charset="0"/>
                <a:ea typeface="Calibri" pitchFamily="34" charset="-122"/>
                <a:cs typeface="Calibri" pitchFamily="34" charset="-120"/>
              </a:rPr>
              <a:t>worse</a:t>
            </a:r>
            <a:pPr indent="0" marL="0">
              <a:lnSpc>
                <a:spcPct val="115000"/>
              </a:lnSpc>
              <a:buNone/>
            </a:pPr>
            <a:r>
              <a:rPr lang="en-US" sz="1200" dirty="0">
                <a:solidFill>
                  <a:srgbClr val="CFD9E6"/>
                </a:solidFill>
                <a:latin typeface="Calibri" pitchFamily="34" charset="0"/>
                <a:ea typeface="Calibri" pitchFamily="34" charset="-122"/>
                <a:cs typeface="Calibri" pitchFamily="34" charset="-120"/>
              </a:rPr>
              <a:t> on AP than R30 — more data alone, without addressing per-category quality/yield, isn't sufficient</a:t>
            </a:r>
            <a:endParaRPr lang="en-US" sz="1200" dirty="0"/>
          </a:p>
          <a:p>
            <a:pPr marL="177800" indent="-177800">
              <a:lnSpc>
                <a:spcPct val="115000"/>
              </a:lnSpc>
              <a:spcAft>
                <a:spcPts val="600"/>
              </a:spcAft>
              <a:buSzPct val="100000"/>
              <a:buChar char="•"/>
            </a:pPr>
            <a:r>
              <a:rPr lang="en-US" sz="1200" dirty="0">
                <a:solidFill>
                  <a:srgbClr val="CFD9E6"/>
                </a:solidFill>
                <a:latin typeface="Calibri" pitchFamily="34" charset="0"/>
                <a:ea typeface="Calibri" pitchFamily="34" charset="-122"/>
                <a:cs typeface="Calibri" pitchFamily="34" charset="-120"/>
              </a:rPr>
              <a:t>Along the way, found and fixed two real infra bugs: MPS OOM at </a:t>
            </a:r>
            <a:pPr indent="0" marL="0">
              <a:lnSpc>
                <a:spcPct val="115000"/>
              </a:lnSpc>
              <a:buNone/>
            </a:pPr>
            <a:r>
              <a:rPr lang="en-US" sz="1200" dirty="0">
                <a:solidFill>
                  <a:srgbClr val="FFD9A0"/>
                </a:solidFill>
                <a:latin typeface="Consolas" pitchFamily="34" charset="0"/>
                <a:ea typeface="Consolas" pitchFamily="34" charset="-122"/>
                <a:cs typeface="Consolas" pitchFamily="34" charset="-120"/>
              </a:rPr>
              <a:t>batch_size=32</a:t>
            </a:r>
            <a:pPr indent="0" marL="0">
              <a:lnSpc>
                <a:spcPct val="115000"/>
              </a:lnSpc>
              <a:buNone/>
            </a:pPr>
            <a:r>
              <a:rPr lang="en-US" sz="1200" dirty="0">
                <a:solidFill>
                  <a:srgbClr val="CFD9E6"/>
                </a:solidFill>
                <a:latin typeface="Calibri" pitchFamily="34" charset="0"/>
                <a:ea typeface="Calibri" pitchFamily="34" charset="-122"/>
                <a:cs typeface="Calibri" pitchFamily="34" charset="-120"/>
              </a:rPr>
              <a:t> on the larger/denser corpus (fixed → 16), and a training-loop stall-detector false-positive (fixed via heartbeat logging)</a:t>
            </a:r>
            <a:endParaRPr lang="en-US" sz="1200" dirty="0"/>
          </a:p>
          <a:p>
            <a:pPr marL="177800" indent="-177800">
              <a:lnSpc>
                <a:spcPct val="115000"/>
              </a:lnSpc>
              <a:spcAft>
                <a:spcPts val="600"/>
              </a:spcAft>
              <a:buSzPct val="100000"/>
              <a:buChar char="•"/>
            </a:pPr>
            <a:r>
              <a:rPr lang="en-US" sz="1200" dirty="0">
                <a:solidFill>
                  <a:srgbClr val="CFD9E6"/>
                </a:solidFill>
                <a:latin typeface="Calibri" pitchFamily="34" charset="0"/>
                <a:ea typeface="Calibri" pitchFamily="34" charset="-122"/>
                <a:cs typeface="Calibri" pitchFamily="34" charset="-120"/>
              </a:rPr>
              <a:t>Promotion gate did its job — </a:t>
            </a:r>
            <a:pPr indent="0" marL="0">
              <a:lnSpc>
                <a:spcPct val="115000"/>
              </a:lnSpc>
              <a:buNone/>
            </a:pPr>
            <a:r>
              <a:rPr lang="en-US" sz="1200" dirty="0">
                <a:solidFill>
                  <a:srgbClr val="FFD9A0"/>
                </a:solidFill>
                <a:latin typeface="Consolas" pitchFamily="34" charset="0"/>
                <a:ea typeface="Consolas" pitchFamily="34" charset="-122"/>
                <a:cs typeface="Consolas" pitchFamily="34" charset="-120"/>
              </a:rPr>
              <a:t>best_serving.pt</a:t>
            </a:r>
            <a:pPr indent="0" marL="0">
              <a:lnSpc>
                <a:spcPct val="115000"/>
              </a:lnSpc>
              <a:buNone/>
            </a:pPr>
            <a:r>
              <a:rPr lang="en-US" sz="1200" dirty="0">
                <a:solidFill>
                  <a:srgbClr val="CFD9E6"/>
                </a:solidFill>
                <a:latin typeface="Calibri" pitchFamily="34" charset="0"/>
                <a:ea typeface="Calibri" pitchFamily="34" charset="-122"/>
                <a:cs typeface="Calibri" pitchFamily="34" charset="-120"/>
              </a:rPr>
              <a:t> stayed on R30, no regression shipped</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121F"/>
        </a:solidFill>
      </p:bgPr>
    </p:bg>
    <p:spTree>
      <p:nvGrpSpPr>
        <p:cNvPr id="1" name=""/>
        <p:cNvGrpSpPr/>
        <p:nvPr/>
      </p:nvGrpSpPr>
      <p:grpSpPr>
        <a:xfrm>
          <a:off x="0" y="0"/>
          <a:ext cx="0" cy="0"/>
          <a:chOff x="0" y="0"/>
          <a:chExt cx="0" cy="0"/>
        </a:xfrm>
      </p:grpSpPr>
      <p:sp>
        <p:nvSpPr>
          <p:cNvPr id="2" name="Text 0"/>
          <p:cNvSpPr/>
          <p:nvPr/>
        </p:nvSpPr>
        <p:spPr>
          <a:xfrm>
            <a:off x="457200" y="292608"/>
            <a:ext cx="11277295" cy="274320"/>
          </a:xfrm>
          <a:prstGeom prst="rect">
            <a:avLst/>
          </a:prstGeom>
          <a:noFill/>
          <a:ln/>
        </p:spPr>
        <p:txBody>
          <a:bodyPr wrap="square" rtlCol="0" anchor="ctr"/>
          <a:lstStyle/>
          <a:p>
            <a:pPr indent="0" marL="0">
              <a:buNone/>
            </a:pPr>
            <a:r>
              <a:rPr lang="en-US" sz="1100" b="1" spc="150" kern="0" dirty="0">
                <a:solidFill>
                  <a:srgbClr val="5B9BD5"/>
                </a:solidFill>
                <a:latin typeface="Calibri" pitchFamily="34" charset="0"/>
                <a:ea typeface="Calibri" pitchFamily="34" charset="-122"/>
                <a:cs typeface="Calibri" pitchFamily="34" charset="-120"/>
              </a:rPr>
              <a:t>5 · ALGORITHM / TECHNIQUES — NODE RANKER</a:t>
            </a:r>
            <a:endParaRPr lang="en-US" sz="1100" dirty="0"/>
          </a:p>
        </p:txBody>
      </p:sp>
      <p:sp>
        <p:nvSpPr>
          <p:cNvPr id="3" name="Text 1"/>
          <p:cNvSpPr/>
          <p:nvPr/>
        </p:nvSpPr>
        <p:spPr>
          <a:xfrm>
            <a:off x="457200" y="566928"/>
            <a:ext cx="11277295" cy="502920"/>
          </a:xfrm>
          <a:prstGeom prst="rect">
            <a:avLst/>
          </a:prstGeom>
          <a:noFill/>
          <a:ln/>
        </p:spPr>
        <p:txBody>
          <a:bodyPr wrap="square" rtlCol="0" anchor="t"/>
          <a:lstStyle/>
          <a:p>
            <a:pPr indent="0" marL="0">
              <a:buNone/>
            </a:pPr>
            <a:r>
              <a:rPr lang="en-US" sz="2600" b="1" dirty="0">
                <a:solidFill>
                  <a:srgbClr val="E6EDF5"/>
                </a:solidFill>
                <a:latin typeface="Calibri" pitchFamily="34" charset="0"/>
                <a:ea typeface="Calibri" pitchFamily="34" charset="-122"/>
                <a:cs typeface="Calibri" pitchFamily="34" charset="-120"/>
              </a:rPr>
              <a:t>Node Ranker — first trained results</a:t>
            </a:r>
            <a:pPr indent="0" marL="0">
              <a:buNone/>
            </a:pPr>
            <a:r>
              <a:rPr lang="en-US" sz="1200" b="1" dirty="0">
                <a:solidFill>
                  <a:srgbClr val="F0A83C"/>
                </a:solidFill>
                <a:latin typeface="Calibri" pitchFamily="34" charset="0"/>
                <a:ea typeface="Calibri" pitchFamily="34" charset="-122"/>
                <a:cs typeface="Calibri" pitchFamily="34" charset="-120"/>
              </a:rPr>
              <a:t>  NEEDS RE-RUN VS. R30</a:t>
            </a:r>
            <a:endParaRPr lang="en-US" sz="26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11277295" cy="914400"/>
        </p:xfrm>
        <a:graphic>
          <a:graphicData uri="http://schemas.openxmlformats.org/drawingml/2006/table">
            <a:tbl>
              <a:tblPr/>
              <a:tblGrid>
                <a:gridCol w="2011680"/>
                <a:gridCol w="2011680"/>
                <a:gridCol w="7086600"/>
              </a:tblGrid>
              <a:tr h="502920">
                <a:tc>
                  <a:txBody>
                    <a:bodyPr/>
                    <a:lstStyle/>
                    <a:p>
                      <a:pPr indent="0" marL="0">
                        <a:buNone/>
                      </a:pPr>
                      <a:r>
                        <a:rPr lang="en-US" sz="1000" b="1" dirty="0">
                          <a:solidFill>
                            <a:srgbClr val="8AA0B8"/>
                          </a:solidFill>
                          <a:latin typeface="Calibri" pitchFamily="34" charset="0"/>
                          <a:ea typeface="Calibri" pitchFamily="34" charset="-122"/>
                          <a:cs typeface="Calibri" pitchFamily="34" charset="-120"/>
                        </a:rPr>
                        <a:t>Metric</a:t>
                      </a:r>
                      <a:endParaRPr lang="en-US" sz="1200" dirty="0"/>
                    </a:p>
                  </a:txBody>
                  <a:tcPr marL="91440" marR="91440" marT="45720" marB="45720" anchor="ctr">
                    <a:lnL w="9525" cap="flat" cmpd="sng" algn="ctr">
                      <a:solidFill>
                        <a:srgbClr val="24405F"/>
                      </a:solidFill>
                      <a:prstDash val="solid"/>
                      <a:round/>
                      <a:headEnd type="none" w="med" len="med"/>
                      <a:tailEnd type="none" w="med" len="med"/>
                    </a:lnL>
                    <a:lnR w="9525" cap="flat" cmpd="sng" algn="ctr">
                      <a:solidFill>
                        <a:srgbClr val="24405F"/>
                      </a:solidFill>
                      <a:prstDash val="solid"/>
                      <a:round/>
                      <a:headEnd type="none" w="med" len="med"/>
                      <a:tailEnd type="none" w="med" len="med"/>
                    </a:lnR>
                    <a:lnT w="9525" cap="flat" cmpd="sng" algn="ctr">
                      <a:solidFill>
                        <a:srgbClr val="24405F"/>
                      </a:solidFill>
                      <a:prstDash val="solid"/>
                      <a:round/>
                      <a:headEnd type="none" w="med" len="med"/>
                      <a:tailEnd type="none" w="med" len="med"/>
                    </a:lnT>
                    <a:lnB w="9525" cap="flat" cmpd="sng" algn="ctr">
                      <a:solidFill>
                        <a:srgbClr val="24405F"/>
                      </a:solidFill>
                      <a:prstDash val="solid"/>
                      <a:round/>
                      <a:headEnd type="none" w="med" len="med"/>
                      <a:tailEnd type="none" w="med" len="med"/>
                    </a:lnB>
                    <a:solidFill>
                      <a:srgbClr val="101C30"/>
                    </a:solidFill>
                  </a:tcPr>
                </a:tc>
                <a:tc>
                  <a:txBody>
                    <a:bodyPr/>
                    <a:lstStyle/>
                    <a:p>
                      <a:pPr indent="0" marL="0">
                        <a:buNone/>
                      </a:pPr>
                      <a:r>
                        <a:rPr lang="en-US" sz="1000" b="1" dirty="0">
                          <a:solidFill>
                            <a:srgbClr val="8AA0B8"/>
                          </a:solidFill>
                          <a:latin typeface="Calibri" pitchFamily="34" charset="0"/>
                          <a:ea typeface="Calibri" pitchFamily="34" charset="-122"/>
                          <a:cs typeface="Calibri" pitchFamily="34" charset="-120"/>
                        </a:rPr>
                        <a:t>Result</a:t>
                      </a:r>
                      <a:endParaRPr lang="en-US" sz="1200" dirty="0"/>
                    </a:p>
                  </a:txBody>
                  <a:tcPr marL="91440" marR="91440" marT="45720" marB="45720" anchor="ctr">
                    <a:lnL w="9525" cap="flat" cmpd="sng" algn="ctr">
                      <a:solidFill>
                        <a:srgbClr val="24405F"/>
                      </a:solidFill>
                      <a:prstDash val="solid"/>
                      <a:round/>
                      <a:headEnd type="none" w="med" len="med"/>
                      <a:tailEnd type="none" w="med" len="med"/>
                    </a:lnL>
                    <a:lnR w="9525" cap="flat" cmpd="sng" algn="ctr">
                      <a:solidFill>
                        <a:srgbClr val="24405F"/>
                      </a:solidFill>
                      <a:prstDash val="solid"/>
                      <a:round/>
                      <a:headEnd type="none" w="med" len="med"/>
                      <a:tailEnd type="none" w="med" len="med"/>
                    </a:lnR>
                    <a:lnT w="9525" cap="flat" cmpd="sng" algn="ctr">
                      <a:solidFill>
                        <a:srgbClr val="24405F"/>
                      </a:solidFill>
                      <a:prstDash val="solid"/>
                      <a:round/>
                      <a:headEnd type="none" w="med" len="med"/>
                      <a:tailEnd type="none" w="med" len="med"/>
                    </a:lnT>
                    <a:lnB w="9525" cap="flat" cmpd="sng" algn="ctr">
                      <a:solidFill>
                        <a:srgbClr val="24405F"/>
                      </a:solidFill>
                      <a:prstDash val="solid"/>
                      <a:round/>
                      <a:headEnd type="none" w="med" len="med"/>
                      <a:tailEnd type="none" w="med" len="med"/>
                    </a:lnB>
                    <a:solidFill>
                      <a:srgbClr val="101C30"/>
                    </a:solidFill>
                  </a:tcPr>
                </a:tc>
                <a:tc>
                  <a:txBody>
                    <a:bodyPr/>
                    <a:lstStyle/>
                    <a:p>
                      <a:pPr indent="0" marL="0">
                        <a:buNone/>
                      </a:pPr>
                      <a:r>
                        <a:rPr lang="en-US" sz="1000" b="1" dirty="0">
                          <a:solidFill>
                            <a:srgbClr val="8AA0B8"/>
                          </a:solidFill>
                          <a:latin typeface="Calibri" pitchFamily="34" charset="0"/>
                          <a:ea typeface="Calibri" pitchFamily="34" charset="-122"/>
                          <a:cs typeface="Calibri" pitchFamily="34" charset="-120"/>
                        </a:rPr>
                        <a:t>Note</a:t>
                      </a:r>
                      <a:endParaRPr lang="en-US" sz="1200" dirty="0"/>
                    </a:p>
                  </a:txBody>
                  <a:tcPr marL="91440" marR="91440" marT="45720" marB="45720" anchor="ctr">
                    <a:lnL w="9525" cap="flat" cmpd="sng" algn="ctr">
                      <a:solidFill>
                        <a:srgbClr val="24405F"/>
                      </a:solidFill>
                      <a:prstDash val="solid"/>
                      <a:round/>
                      <a:headEnd type="none" w="med" len="med"/>
                      <a:tailEnd type="none" w="med" len="med"/>
                    </a:lnL>
                    <a:lnR w="9525" cap="flat" cmpd="sng" algn="ctr">
                      <a:solidFill>
                        <a:srgbClr val="24405F"/>
                      </a:solidFill>
                      <a:prstDash val="solid"/>
                      <a:round/>
                      <a:headEnd type="none" w="med" len="med"/>
                      <a:tailEnd type="none" w="med" len="med"/>
                    </a:lnR>
                    <a:lnT w="9525" cap="flat" cmpd="sng" algn="ctr">
                      <a:solidFill>
                        <a:srgbClr val="24405F"/>
                      </a:solidFill>
                      <a:prstDash val="solid"/>
                      <a:round/>
                      <a:headEnd type="none" w="med" len="med"/>
                      <a:tailEnd type="none" w="med" len="med"/>
                    </a:lnT>
                    <a:lnB w="9525" cap="flat" cmpd="sng" algn="ctr">
                      <a:solidFill>
                        <a:srgbClr val="24405F"/>
                      </a:solidFill>
                      <a:prstDash val="solid"/>
                      <a:round/>
                      <a:headEnd type="none" w="med" len="med"/>
                      <a:tailEnd type="none" w="med" len="med"/>
                    </a:lnB>
                    <a:solidFill>
                      <a:srgbClr val="101C30"/>
                    </a:solidFill>
                  </a:tcPr>
                </a:tc>
              </a:tr>
              <a:tr h="502920">
                <a:tc>
                  <a:txBody>
                    <a:bodyPr/>
                    <a:lstStyle/>
                    <a:p>
                      <a:pPr indent="0" marL="0">
                        <a:buNone/>
                      </a:pPr>
                      <a:r>
                        <a:rPr lang="en-US" sz="1100" dirty="0">
                          <a:solidFill>
                            <a:srgbClr val="CFD9E6"/>
                          </a:solidFill>
                          <a:latin typeface="Calibri" pitchFamily="34" charset="0"/>
                          <a:ea typeface="Calibri" pitchFamily="34" charset="-122"/>
                          <a:cs typeface="Calibri" pitchFamily="34" charset="-120"/>
                        </a:rPr>
                        <a:t>Hit@1</a:t>
                      </a:r>
                      <a:endParaRPr lang="en-US" sz="1200" dirty="0"/>
                    </a:p>
                  </a:txBody>
                  <a:tcPr marL="91440" marR="91440" marT="45720" marB="45720" anchor="ctr">
                    <a:lnL w="9525" cap="flat" cmpd="sng" algn="ctr">
                      <a:solidFill>
                        <a:srgbClr val="24405F"/>
                      </a:solidFill>
                      <a:prstDash val="solid"/>
                      <a:round/>
                      <a:headEnd type="none" w="med" len="med"/>
                      <a:tailEnd type="none" w="med" len="med"/>
                    </a:lnL>
                    <a:lnR w="9525" cap="flat" cmpd="sng" algn="ctr">
                      <a:solidFill>
                        <a:srgbClr val="24405F"/>
                      </a:solidFill>
                      <a:prstDash val="solid"/>
                      <a:round/>
                      <a:headEnd type="none" w="med" len="med"/>
                      <a:tailEnd type="none" w="med" len="med"/>
                    </a:lnR>
                    <a:lnT w="9525" cap="flat" cmpd="sng" algn="ctr">
                      <a:solidFill>
                        <a:srgbClr val="24405F"/>
                      </a:solidFill>
                      <a:prstDash val="solid"/>
                      <a:round/>
                      <a:headEnd type="none" w="med" len="med"/>
                      <a:tailEnd type="none" w="med" len="med"/>
                    </a:lnT>
                    <a:lnB w="9525" cap="flat" cmpd="sng" algn="ctr">
                      <a:solidFill>
                        <a:srgbClr val="24405F"/>
                      </a:solidFill>
                      <a:prstDash val="solid"/>
                      <a:round/>
                      <a:headEnd type="none" w="med" len="med"/>
                      <a:tailEnd type="none" w="med" len="med"/>
                    </a:lnB>
                    <a:solidFill>
                      <a:srgbClr val="142338"/>
                    </a:solidFill>
                  </a:tcPr>
                </a:tc>
                <a:tc>
                  <a:txBody>
                    <a:bodyPr/>
                    <a:lstStyle/>
                    <a:p>
                      <a:pPr indent="0" marL="0">
                        <a:buNone/>
                      </a:pPr>
                      <a:r>
                        <a:rPr lang="en-US" sz="1100" b="1" dirty="0">
                          <a:solidFill>
                            <a:srgbClr val="5B9BD5"/>
                          </a:solidFill>
                          <a:latin typeface="Calibri" pitchFamily="34" charset="0"/>
                          <a:ea typeface="Calibri" pitchFamily="34" charset="-122"/>
                          <a:cs typeface="Calibri" pitchFamily="34" charset="-120"/>
                        </a:rPr>
                        <a:t>0.6344</a:t>
                      </a:r>
                      <a:endParaRPr lang="en-US" sz="1200" dirty="0"/>
                    </a:p>
                  </a:txBody>
                  <a:tcPr marL="91440" marR="91440" marT="45720" marB="45720" anchor="ctr">
                    <a:lnL w="9525" cap="flat" cmpd="sng" algn="ctr">
                      <a:solidFill>
                        <a:srgbClr val="24405F"/>
                      </a:solidFill>
                      <a:prstDash val="solid"/>
                      <a:round/>
                      <a:headEnd type="none" w="med" len="med"/>
                      <a:tailEnd type="none" w="med" len="med"/>
                    </a:lnL>
                    <a:lnR w="9525" cap="flat" cmpd="sng" algn="ctr">
                      <a:solidFill>
                        <a:srgbClr val="24405F"/>
                      </a:solidFill>
                      <a:prstDash val="solid"/>
                      <a:round/>
                      <a:headEnd type="none" w="med" len="med"/>
                      <a:tailEnd type="none" w="med" len="med"/>
                    </a:lnR>
                    <a:lnT w="9525" cap="flat" cmpd="sng" algn="ctr">
                      <a:solidFill>
                        <a:srgbClr val="24405F"/>
                      </a:solidFill>
                      <a:prstDash val="solid"/>
                      <a:round/>
                      <a:headEnd type="none" w="med" len="med"/>
                      <a:tailEnd type="none" w="med" len="med"/>
                    </a:lnT>
                    <a:lnB w="9525" cap="flat" cmpd="sng" algn="ctr">
                      <a:solidFill>
                        <a:srgbClr val="24405F"/>
                      </a:solidFill>
                      <a:prstDash val="solid"/>
                      <a:round/>
                      <a:headEnd type="none" w="med" len="med"/>
                      <a:tailEnd type="none" w="med" len="med"/>
                    </a:lnB>
                    <a:solidFill>
                      <a:srgbClr val="142338"/>
                    </a:solidFill>
                  </a:tcPr>
                </a:tc>
                <a:tc>
                  <a:txBody>
                    <a:bodyPr/>
                    <a:lstStyle/>
                    <a:p>
                      <a:pPr indent="0" marL="0">
                        <a:buNone/>
                      </a:pPr>
                      <a:r>
                        <a:rPr lang="en-US" sz="1100" dirty="0">
                          <a:solidFill>
                            <a:srgbClr val="CFD9E6"/>
                          </a:solidFill>
                          <a:latin typeface="Calibri" pitchFamily="34" charset="0"/>
                          <a:ea typeface="Calibri" pitchFamily="34" charset="-122"/>
                          <a:cs typeface="Calibri" pitchFamily="34" charset="-120"/>
                        </a:rPr>
                        <a:t>vs. 0.5474 majority-class baseline — real lift</a:t>
                      </a:r>
                      <a:endParaRPr lang="en-US" sz="1200" dirty="0"/>
                    </a:p>
                  </a:txBody>
                  <a:tcPr marL="91440" marR="91440" marT="45720" marB="45720" anchor="ctr">
                    <a:lnL w="9525" cap="flat" cmpd="sng" algn="ctr">
                      <a:solidFill>
                        <a:srgbClr val="24405F"/>
                      </a:solidFill>
                      <a:prstDash val="solid"/>
                      <a:round/>
                      <a:headEnd type="none" w="med" len="med"/>
                      <a:tailEnd type="none" w="med" len="med"/>
                    </a:lnL>
                    <a:lnR w="9525" cap="flat" cmpd="sng" algn="ctr">
                      <a:solidFill>
                        <a:srgbClr val="24405F"/>
                      </a:solidFill>
                      <a:prstDash val="solid"/>
                      <a:round/>
                      <a:headEnd type="none" w="med" len="med"/>
                      <a:tailEnd type="none" w="med" len="med"/>
                    </a:lnR>
                    <a:lnT w="9525" cap="flat" cmpd="sng" algn="ctr">
                      <a:solidFill>
                        <a:srgbClr val="24405F"/>
                      </a:solidFill>
                      <a:prstDash val="solid"/>
                      <a:round/>
                      <a:headEnd type="none" w="med" len="med"/>
                      <a:tailEnd type="none" w="med" len="med"/>
                    </a:lnT>
                    <a:lnB w="9525" cap="flat" cmpd="sng" algn="ctr">
                      <a:solidFill>
                        <a:srgbClr val="24405F"/>
                      </a:solidFill>
                      <a:prstDash val="solid"/>
                      <a:round/>
                      <a:headEnd type="none" w="med" len="med"/>
                      <a:tailEnd type="none" w="med" len="med"/>
                    </a:lnB>
                    <a:solidFill>
                      <a:srgbClr val="142338"/>
                    </a:solidFill>
                  </a:tcPr>
                </a:tc>
              </a:tr>
              <a:tr h="502920">
                <a:tc>
                  <a:txBody>
                    <a:bodyPr/>
                    <a:lstStyle/>
                    <a:p>
                      <a:pPr indent="0" marL="0">
                        <a:buNone/>
                      </a:pPr>
                      <a:r>
                        <a:rPr lang="en-US" sz="1100" dirty="0">
                          <a:solidFill>
                            <a:srgbClr val="CFD9E6"/>
                          </a:solidFill>
                          <a:latin typeface="Calibri" pitchFamily="34" charset="0"/>
                          <a:ea typeface="Calibri" pitchFamily="34" charset="-122"/>
                          <a:cs typeface="Calibri" pitchFamily="34" charset="-120"/>
                        </a:rPr>
                        <a:t>MRR</a:t>
                      </a:r>
                      <a:endParaRPr lang="en-US" sz="1200" dirty="0"/>
                    </a:p>
                  </a:txBody>
                  <a:tcPr marL="91440" marR="91440" marT="45720" marB="45720" anchor="ctr">
                    <a:lnL w="9525" cap="flat" cmpd="sng" algn="ctr">
                      <a:solidFill>
                        <a:srgbClr val="24405F"/>
                      </a:solidFill>
                      <a:prstDash val="solid"/>
                      <a:round/>
                      <a:headEnd type="none" w="med" len="med"/>
                      <a:tailEnd type="none" w="med" len="med"/>
                    </a:lnL>
                    <a:lnR w="9525" cap="flat" cmpd="sng" algn="ctr">
                      <a:solidFill>
                        <a:srgbClr val="24405F"/>
                      </a:solidFill>
                      <a:prstDash val="solid"/>
                      <a:round/>
                      <a:headEnd type="none" w="med" len="med"/>
                      <a:tailEnd type="none" w="med" len="med"/>
                    </a:lnR>
                    <a:lnT w="9525" cap="flat" cmpd="sng" algn="ctr">
                      <a:solidFill>
                        <a:srgbClr val="24405F"/>
                      </a:solidFill>
                      <a:prstDash val="solid"/>
                      <a:round/>
                      <a:headEnd type="none" w="med" len="med"/>
                      <a:tailEnd type="none" w="med" len="med"/>
                    </a:lnT>
                    <a:lnB w="9525" cap="flat" cmpd="sng" algn="ctr">
                      <a:solidFill>
                        <a:srgbClr val="24405F"/>
                      </a:solidFill>
                      <a:prstDash val="solid"/>
                      <a:round/>
                      <a:headEnd type="none" w="med" len="med"/>
                      <a:tailEnd type="none" w="med" len="med"/>
                    </a:lnB>
                    <a:solidFill>
                      <a:srgbClr val="142338"/>
                    </a:solidFill>
                  </a:tcPr>
                </a:tc>
                <a:tc>
                  <a:txBody>
                    <a:bodyPr/>
                    <a:lstStyle/>
                    <a:p>
                      <a:pPr indent="0" marL="0">
                        <a:buNone/>
                      </a:pPr>
                      <a:r>
                        <a:rPr lang="en-US" sz="1100" b="1" dirty="0">
                          <a:solidFill>
                            <a:srgbClr val="5B9BD5"/>
                          </a:solidFill>
                          <a:latin typeface="Calibri" pitchFamily="34" charset="0"/>
                          <a:ea typeface="Calibri" pitchFamily="34" charset="-122"/>
                          <a:cs typeface="Calibri" pitchFamily="34" charset="-120"/>
                        </a:rPr>
                        <a:t>0.7594</a:t>
                      </a:r>
                      <a:endParaRPr lang="en-US" sz="1200" dirty="0"/>
                    </a:p>
                  </a:txBody>
                  <a:tcPr marL="91440" marR="91440" marT="45720" marB="45720" anchor="ctr">
                    <a:lnL w="9525" cap="flat" cmpd="sng" algn="ctr">
                      <a:solidFill>
                        <a:srgbClr val="24405F"/>
                      </a:solidFill>
                      <a:prstDash val="solid"/>
                      <a:round/>
                      <a:headEnd type="none" w="med" len="med"/>
                      <a:tailEnd type="none" w="med" len="med"/>
                    </a:lnL>
                    <a:lnR w="9525" cap="flat" cmpd="sng" algn="ctr">
                      <a:solidFill>
                        <a:srgbClr val="24405F"/>
                      </a:solidFill>
                      <a:prstDash val="solid"/>
                      <a:round/>
                      <a:headEnd type="none" w="med" len="med"/>
                      <a:tailEnd type="none" w="med" len="med"/>
                    </a:lnR>
                    <a:lnT w="9525" cap="flat" cmpd="sng" algn="ctr">
                      <a:solidFill>
                        <a:srgbClr val="24405F"/>
                      </a:solidFill>
                      <a:prstDash val="solid"/>
                      <a:round/>
                      <a:headEnd type="none" w="med" len="med"/>
                      <a:tailEnd type="none" w="med" len="med"/>
                    </a:lnT>
                    <a:lnB w="9525" cap="flat" cmpd="sng" algn="ctr">
                      <a:solidFill>
                        <a:srgbClr val="24405F"/>
                      </a:solidFill>
                      <a:prstDash val="solid"/>
                      <a:round/>
                      <a:headEnd type="none" w="med" len="med"/>
                      <a:tailEnd type="none" w="med" len="med"/>
                    </a:lnB>
                    <a:solidFill>
                      <a:srgbClr val="142338"/>
                    </a:solidFill>
                  </a:tcPr>
                </a:tc>
                <a:tc>
                  <a:txBody>
                    <a:bodyPr/>
                    <a:lstStyle/>
                    <a:p>
                      <a:pPr indent="0" marL="0">
                        <a:buNone/>
                      </a:pPr>
                      <a:r>
                        <a:rPr lang="en-US" sz="1100" dirty="0">
                          <a:solidFill>
                            <a:srgbClr val="CFD9E6"/>
                          </a:solidFill>
                          <a:latin typeface="Calibri" pitchFamily="34" charset="0"/>
                          <a:ea typeface="Calibri" pitchFamily="34" charset="-122"/>
                          <a:cs typeface="Calibri" pitchFamily="34" charset="-120"/>
                        </a:rPr>
                        <a:t>clears the report's ≥0.64 target</a:t>
                      </a:r>
                      <a:endParaRPr lang="en-US" sz="1200" dirty="0"/>
                    </a:p>
                  </a:txBody>
                  <a:tcPr marL="91440" marR="91440" marT="45720" marB="45720" anchor="ctr">
                    <a:lnL w="9525" cap="flat" cmpd="sng" algn="ctr">
                      <a:solidFill>
                        <a:srgbClr val="24405F"/>
                      </a:solidFill>
                      <a:prstDash val="solid"/>
                      <a:round/>
                      <a:headEnd type="none" w="med" len="med"/>
                      <a:tailEnd type="none" w="med" len="med"/>
                    </a:lnL>
                    <a:lnR w="9525" cap="flat" cmpd="sng" algn="ctr">
                      <a:solidFill>
                        <a:srgbClr val="24405F"/>
                      </a:solidFill>
                      <a:prstDash val="solid"/>
                      <a:round/>
                      <a:headEnd type="none" w="med" len="med"/>
                      <a:tailEnd type="none" w="med" len="med"/>
                    </a:lnR>
                    <a:lnT w="9525" cap="flat" cmpd="sng" algn="ctr">
                      <a:solidFill>
                        <a:srgbClr val="24405F"/>
                      </a:solidFill>
                      <a:prstDash val="solid"/>
                      <a:round/>
                      <a:headEnd type="none" w="med" len="med"/>
                      <a:tailEnd type="none" w="med" len="med"/>
                    </a:lnT>
                    <a:lnB w="9525" cap="flat" cmpd="sng" algn="ctr">
                      <a:solidFill>
                        <a:srgbClr val="24405F"/>
                      </a:solidFill>
                      <a:prstDash val="solid"/>
                      <a:round/>
                      <a:headEnd type="none" w="med" len="med"/>
                      <a:tailEnd type="none" w="med" len="med"/>
                    </a:lnB>
                    <a:solidFill>
                      <a:srgbClr val="142338"/>
                    </a:solidFill>
                  </a:tcPr>
                </a:tc>
              </a:tr>
              <a:tr h="502920">
                <a:tc>
                  <a:txBody>
                    <a:bodyPr/>
                    <a:lstStyle/>
                    <a:p>
                      <a:pPr indent="0" marL="0">
                        <a:buNone/>
                      </a:pPr>
                      <a:r>
                        <a:rPr lang="en-US" sz="1100" dirty="0">
                          <a:solidFill>
                            <a:srgbClr val="CFD9E6"/>
                          </a:solidFill>
                          <a:latin typeface="Calibri" pitchFamily="34" charset="0"/>
                          <a:ea typeface="Calibri" pitchFamily="34" charset="-122"/>
                          <a:cs typeface="Calibri" pitchFamily="34" charset="-120"/>
                        </a:rPr>
                        <a:t>NDCG@5</a:t>
                      </a:r>
                      <a:endParaRPr lang="en-US" sz="1200" dirty="0"/>
                    </a:p>
                  </a:txBody>
                  <a:tcPr marL="91440" marR="91440" marT="45720" marB="45720" anchor="ctr">
                    <a:lnL w="9525" cap="flat" cmpd="sng" algn="ctr">
                      <a:solidFill>
                        <a:srgbClr val="24405F"/>
                      </a:solidFill>
                      <a:prstDash val="solid"/>
                      <a:round/>
                      <a:headEnd type="none" w="med" len="med"/>
                      <a:tailEnd type="none" w="med" len="med"/>
                    </a:lnL>
                    <a:lnR w="9525" cap="flat" cmpd="sng" algn="ctr">
                      <a:solidFill>
                        <a:srgbClr val="24405F"/>
                      </a:solidFill>
                      <a:prstDash val="solid"/>
                      <a:round/>
                      <a:headEnd type="none" w="med" len="med"/>
                      <a:tailEnd type="none" w="med" len="med"/>
                    </a:lnR>
                    <a:lnT w="9525" cap="flat" cmpd="sng" algn="ctr">
                      <a:solidFill>
                        <a:srgbClr val="24405F"/>
                      </a:solidFill>
                      <a:prstDash val="solid"/>
                      <a:round/>
                      <a:headEnd type="none" w="med" len="med"/>
                      <a:tailEnd type="none" w="med" len="med"/>
                    </a:lnT>
                    <a:lnB w="9525" cap="flat" cmpd="sng" algn="ctr">
                      <a:solidFill>
                        <a:srgbClr val="24405F"/>
                      </a:solidFill>
                      <a:prstDash val="solid"/>
                      <a:round/>
                      <a:headEnd type="none" w="med" len="med"/>
                      <a:tailEnd type="none" w="med" len="med"/>
                    </a:lnB>
                    <a:solidFill>
                      <a:srgbClr val="142338"/>
                    </a:solidFill>
                  </a:tcPr>
                </a:tc>
                <a:tc>
                  <a:txBody>
                    <a:bodyPr/>
                    <a:lstStyle/>
                    <a:p>
                      <a:pPr indent="0" marL="0">
                        <a:buNone/>
                      </a:pPr>
                      <a:r>
                        <a:rPr lang="en-US" sz="1100" b="1" dirty="0">
                          <a:solidFill>
                            <a:srgbClr val="5B9BD5"/>
                          </a:solidFill>
                          <a:latin typeface="Calibri" pitchFamily="34" charset="0"/>
                          <a:ea typeface="Calibri" pitchFamily="34" charset="-122"/>
                          <a:cs typeface="Calibri" pitchFamily="34" charset="-120"/>
                        </a:rPr>
                        <a:t>0.8181</a:t>
                      </a:r>
                      <a:endParaRPr lang="en-US" sz="1200" dirty="0"/>
                    </a:p>
                  </a:txBody>
                  <a:tcPr marL="91440" marR="91440" marT="45720" marB="45720" anchor="ctr">
                    <a:lnL w="9525" cap="flat" cmpd="sng" algn="ctr">
                      <a:solidFill>
                        <a:srgbClr val="24405F"/>
                      </a:solidFill>
                      <a:prstDash val="solid"/>
                      <a:round/>
                      <a:headEnd type="none" w="med" len="med"/>
                      <a:tailEnd type="none" w="med" len="med"/>
                    </a:lnL>
                    <a:lnR w="9525" cap="flat" cmpd="sng" algn="ctr">
                      <a:solidFill>
                        <a:srgbClr val="24405F"/>
                      </a:solidFill>
                      <a:prstDash val="solid"/>
                      <a:round/>
                      <a:headEnd type="none" w="med" len="med"/>
                      <a:tailEnd type="none" w="med" len="med"/>
                    </a:lnR>
                    <a:lnT w="9525" cap="flat" cmpd="sng" algn="ctr">
                      <a:solidFill>
                        <a:srgbClr val="24405F"/>
                      </a:solidFill>
                      <a:prstDash val="solid"/>
                      <a:round/>
                      <a:headEnd type="none" w="med" len="med"/>
                      <a:tailEnd type="none" w="med" len="med"/>
                    </a:lnT>
                    <a:lnB w="9525" cap="flat" cmpd="sng" algn="ctr">
                      <a:solidFill>
                        <a:srgbClr val="24405F"/>
                      </a:solidFill>
                      <a:prstDash val="solid"/>
                      <a:round/>
                      <a:headEnd type="none" w="med" len="med"/>
                      <a:tailEnd type="none" w="med" len="med"/>
                    </a:lnB>
                    <a:solidFill>
                      <a:srgbClr val="142338"/>
                    </a:solidFill>
                  </a:tcPr>
                </a:tc>
                <a:tc>
                  <a:txBody>
                    <a:bodyPr/>
                    <a:lstStyle/>
                    <a:p>
                      <a:pPr indent="0" marL="0">
                        <a:buNone/>
                      </a:pPr>
                      <a:r>
                        <a:rPr lang="en-US" sz="1100" dirty="0">
                          <a:solidFill>
                            <a:srgbClr val="CFD9E6"/>
                          </a:solidFill>
                          <a:latin typeface="Calibri" pitchFamily="34" charset="0"/>
                          <a:ea typeface="Calibri" pitchFamily="34" charset="-122"/>
                          <a:cs typeface="Calibri" pitchFamily="34" charset="-120"/>
                        </a:rPr>
                        <a:t>—</a:t>
                      </a:r>
                      <a:endParaRPr lang="en-US" sz="1200" dirty="0"/>
                    </a:p>
                  </a:txBody>
                  <a:tcPr marL="91440" marR="91440" marT="45720" marB="45720" anchor="ctr">
                    <a:lnL w="9525" cap="flat" cmpd="sng" algn="ctr">
                      <a:solidFill>
                        <a:srgbClr val="24405F"/>
                      </a:solidFill>
                      <a:prstDash val="solid"/>
                      <a:round/>
                      <a:headEnd type="none" w="med" len="med"/>
                      <a:tailEnd type="none" w="med" len="med"/>
                    </a:lnL>
                    <a:lnR w="9525" cap="flat" cmpd="sng" algn="ctr">
                      <a:solidFill>
                        <a:srgbClr val="24405F"/>
                      </a:solidFill>
                      <a:prstDash val="solid"/>
                      <a:round/>
                      <a:headEnd type="none" w="med" len="med"/>
                      <a:tailEnd type="none" w="med" len="med"/>
                    </a:lnR>
                    <a:lnT w="9525" cap="flat" cmpd="sng" algn="ctr">
                      <a:solidFill>
                        <a:srgbClr val="24405F"/>
                      </a:solidFill>
                      <a:prstDash val="solid"/>
                      <a:round/>
                      <a:headEnd type="none" w="med" len="med"/>
                      <a:tailEnd type="none" w="med" len="med"/>
                    </a:lnT>
                    <a:lnB w="9525" cap="flat" cmpd="sng" algn="ctr">
                      <a:solidFill>
                        <a:srgbClr val="24405F"/>
                      </a:solidFill>
                      <a:prstDash val="solid"/>
                      <a:round/>
                      <a:headEnd type="none" w="med" len="med"/>
                      <a:tailEnd type="none" w="med" len="med"/>
                    </a:lnB>
                    <a:solidFill>
                      <a:srgbClr val="142338"/>
                    </a:solidFill>
                  </a:tcPr>
                </a:tc>
              </a:tr>
              <a:tr h="502920">
                <a:tc>
                  <a:txBody>
                    <a:bodyPr/>
                    <a:lstStyle/>
                    <a:p>
                      <a:pPr indent="0" marL="0">
                        <a:buNone/>
                      </a:pPr>
                      <a:r>
                        <a:rPr lang="en-US" sz="1100" dirty="0">
                          <a:solidFill>
                            <a:srgbClr val="CFD9E6"/>
                          </a:solidFill>
                          <a:latin typeface="Calibri" pitchFamily="34" charset="0"/>
                          <a:ea typeface="Calibri" pitchFamily="34" charset="-122"/>
                          <a:cs typeface="Calibri" pitchFamily="34" charset="-120"/>
                        </a:rPr>
                        <a:t>Hit@5</a:t>
                      </a:r>
                      <a:endParaRPr lang="en-US" sz="1200" dirty="0"/>
                    </a:p>
                  </a:txBody>
                  <a:tcPr marL="91440" marR="91440" marT="45720" marB="45720" anchor="ctr">
                    <a:lnL w="9525" cap="flat" cmpd="sng" algn="ctr">
                      <a:solidFill>
                        <a:srgbClr val="24405F"/>
                      </a:solidFill>
                      <a:prstDash val="solid"/>
                      <a:round/>
                      <a:headEnd type="none" w="med" len="med"/>
                      <a:tailEnd type="none" w="med" len="med"/>
                    </a:lnL>
                    <a:lnR w="9525" cap="flat" cmpd="sng" algn="ctr">
                      <a:solidFill>
                        <a:srgbClr val="24405F"/>
                      </a:solidFill>
                      <a:prstDash val="solid"/>
                      <a:round/>
                      <a:headEnd type="none" w="med" len="med"/>
                      <a:tailEnd type="none" w="med" len="med"/>
                    </a:lnR>
                    <a:lnT w="9525" cap="flat" cmpd="sng" algn="ctr">
                      <a:solidFill>
                        <a:srgbClr val="24405F"/>
                      </a:solidFill>
                      <a:prstDash val="solid"/>
                      <a:round/>
                      <a:headEnd type="none" w="med" len="med"/>
                      <a:tailEnd type="none" w="med" len="med"/>
                    </a:lnT>
                    <a:lnB w="9525" cap="flat" cmpd="sng" algn="ctr">
                      <a:solidFill>
                        <a:srgbClr val="24405F"/>
                      </a:solidFill>
                      <a:prstDash val="solid"/>
                      <a:round/>
                      <a:headEnd type="none" w="med" len="med"/>
                      <a:tailEnd type="none" w="med" len="med"/>
                    </a:lnB>
                    <a:solidFill>
                      <a:srgbClr val="142338"/>
                    </a:solidFill>
                  </a:tcPr>
                </a:tc>
                <a:tc>
                  <a:txBody>
                    <a:bodyPr/>
                    <a:lstStyle/>
                    <a:p>
                      <a:pPr indent="0" marL="0">
                        <a:buNone/>
                      </a:pPr>
                      <a:r>
                        <a:rPr lang="en-US" sz="1100" b="1" dirty="0">
                          <a:solidFill>
                            <a:srgbClr val="5B9BD5"/>
                          </a:solidFill>
                          <a:latin typeface="Calibri" pitchFamily="34" charset="0"/>
                          <a:ea typeface="Calibri" pitchFamily="34" charset="-122"/>
                          <a:cs typeface="Calibri" pitchFamily="34" charset="-120"/>
                        </a:rPr>
                        <a:t>0.9981</a:t>
                      </a:r>
                      <a:endParaRPr lang="en-US" sz="1200" dirty="0"/>
                    </a:p>
                  </a:txBody>
                  <a:tcPr marL="91440" marR="91440" marT="45720" marB="45720" anchor="ctr">
                    <a:lnL w="9525" cap="flat" cmpd="sng" algn="ctr">
                      <a:solidFill>
                        <a:srgbClr val="24405F"/>
                      </a:solidFill>
                      <a:prstDash val="solid"/>
                      <a:round/>
                      <a:headEnd type="none" w="med" len="med"/>
                      <a:tailEnd type="none" w="med" len="med"/>
                    </a:lnL>
                    <a:lnR w="9525" cap="flat" cmpd="sng" algn="ctr">
                      <a:solidFill>
                        <a:srgbClr val="24405F"/>
                      </a:solidFill>
                      <a:prstDash val="solid"/>
                      <a:round/>
                      <a:headEnd type="none" w="med" len="med"/>
                      <a:tailEnd type="none" w="med" len="med"/>
                    </a:lnR>
                    <a:lnT w="9525" cap="flat" cmpd="sng" algn="ctr">
                      <a:solidFill>
                        <a:srgbClr val="24405F"/>
                      </a:solidFill>
                      <a:prstDash val="solid"/>
                      <a:round/>
                      <a:headEnd type="none" w="med" len="med"/>
                      <a:tailEnd type="none" w="med" len="med"/>
                    </a:lnT>
                    <a:lnB w="9525" cap="flat" cmpd="sng" algn="ctr">
                      <a:solidFill>
                        <a:srgbClr val="24405F"/>
                      </a:solidFill>
                      <a:prstDash val="solid"/>
                      <a:round/>
                      <a:headEnd type="none" w="med" len="med"/>
                      <a:tailEnd type="none" w="med" len="med"/>
                    </a:lnB>
                    <a:solidFill>
                      <a:srgbClr val="142338"/>
                    </a:solidFill>
                  </a:tcPr>
                </a:tc>
                <a:tc>
                  <a:txBody>
                    <a:bodyPr/>
                    <a:lstStyle/>
                    <a:p>
                      <a:pPr indent="0" marL="0">
                        <a:buNone/>
                      </a:pPr>
                      <a:r>
                        <a:rPr lang="en-US" sz="1100" dirty="0">
                          <a:solidFill>
                            <a:srgbClr val="CFD9E6"/>
                          </a:solidFill>
                          <a:latin typeface="Calibri" pitchFamily="34" charset="0"/>
                          <a:ea typeface="Calibri" pitchFamily="34" charset="-122"/>
                          <a:cs typeface="Calibri" pitchFamily="34" charset="-120"/>
                        </a:rPr>
                        <a:t>near-ceiling — expected with only 8 candidates (random baseline 62.5%)</a:t>
                      </a:r>
                      <a:endParaRPr lang="en-US" sz="1200" dirty="0"/>
                    </a:p>
                  </a:txBody>
                  <a:tcPr marL="91440" marR="91440" marT="45720" marB="45720" anchor="ctr">
                    <a:lnL w="9525" cap="flat" cmpd="sng" algn="ctr">
                      <a:solidFill>
                        <a:srgbClr val="24405F"/>
                      </a:solidFill>
                      <a:prstDash val="solid"/>
                      <a:round/>
                      <a:headEnd type="none" w="med" len="med"/>
                      <a:tailEnd type="none" w="med" len="med"/>
                    </a:lnL>
                    <a:lnR w="9525" cap="flat" cmpd="sng" algn="ctr">
                      <a:solidFill>
                        <a:srgbClr val="24405F"/>
                      </a:solidFill>
                      <a:prstDash val="solid"/>
                      <a:round/>
                      <a:headEnd type="none" w="med" len="med"/>
                      <a:tailEnd type="none" w="med" len="med"/>
                    </a:lnR>
                    <a:lnT w="9525" cap="flat" cmpd="sng" algn="ctr">
                      <a:solidFill>
                        <a:srgbClr val="24405F"/>
                      </a:solidFill>
                      <a:prstDash val="solid"/>
                      <a:round/>
                      <a:headEnd type="none" w="med" len="med"/>
                      <a:tailEnd type="none" w="med" len="med"/>
                    </a:lnT>
                    <a:lnB w="9525" cap="flat" cmpd="sng" algn="ctr">
                      <a:solidFill>
                        <a:srgbClr val="24405F"/>
                      </a:solidFill>
                      <a:prstDash val="solid"/>
                      <a:round/>
                      <a:headEnd type="none" w="med" len="med"/>
                      <a:tailEnd type="none" w="med" len="med"/>
                    </a:lnB>
                    <a:solidFill>
                      <a:srgbClr val="142338"/>
                    </a:solidFill>
                  </a:tcPr>
                </a:tc>
              </a:tr>
            </a:tbl>
          </a:graphicData>
        </a:graphic>
      </p:graphicFrame>
      <p:sp>
        <p:nvSpPr>
          <p:cNvPr id="5" name="Shape 2"/>
          <p:cNvSpPr/>
          <p:nvPr/>
        </p:nvSpPr>
        <p:spPr>
          <a:xfrm>
            <a:off x="457200" y="4023360"/>
            <a:ext cx="11277295" cy="2468880"/>
          </a:xfrm>
          <a:prstGeom prst="roundRect">
            <a:avLst>
              <a:gd name="adj" fmla="val 2222"/>
            </a:avLst>
          </a:prstGeom>
          <a:solidFill>
            <a:srgbClr val="142338"/>
          </a:solidFill>
          <a:ln w="12700">
            <a:solidFill>
              <a:srgbClr val="24405F"/>
            </a:solidFill>
            <a:prstDash val="solid"/>
          </a:ln>
        </p:spPr>
      </p:sp>
      <p:sp>
        <p:nvSpPr>
          <p:cNvPr id="6" name="Text 3"/>
          <p:cNvSpPr/>
          <p:nvPr/>
        </p:nvSpPr>
        <p:spPr>
          <a:xfrm>
            <a:off x="621792" y="4187952"/>
            <a:ext cx="10948111" cy="292608"/>
          </a:xfrm>
          <a:prstGeom prst="rect">
            <a:avLst/>
          </a:prstGeom>
          <a:noFill/>
          <a:ln/>
        </p:spPr>
        <p:txBody>
          <a:bodyPr wrap="square" rtlCol="0" anchor="ctr"/>
          <a:lstStyle/>
          <a:p>
            <a:pPr indent="0" marL="0">
              <a:buNone/>
            </a:pPr>
            <a:r>
              <a:rPr lang="en-US" sz="1300" b="1" dirty="0">
                <a:solidFill>
                  <a:srgbClr val="F0A83C"/>
                </a:solidFill>
                <a:latin typeface="Calibri" pitchFamily="34" charset="0"/>
                <a:ea typeface="Calibri" pitchFamily="34" charset="-122"/>
                <a:cs typeface="Calibri" pitchFamily="34" charset="-120"/>
              </a:rPr>
              <a:t>Open item before trusting this number again</a:t>
            </a:r>
            <a:endParaRPr lang="en-US" sz="1300" dirty="0"/>
          </a:p>
        </p:txBody>
      </p:sp>
      <p:sp>
        <p:nvSpPr>
          <p:cNvPr id="7" name="Text 4"/>
          <p:cNvSpPr/>
          <p:nvPr/>
        </p:nvSpPr>
        <p:spPr>
          <a:xfrm>
            <a:off x="621792" y="4517136"/>
            <a:ext cx="10948111" cy="1810512"/>
          </a:xfrm>
          <a:prstGeom prst="rect">
            <a:avLst/>
          </a:prstGeom>
          <a:noFill/>
          <a:ln/>
        </p:spPr>
        <p:txBody>
          <a:bodyPr wrap="square" rtlCol="0" anchor="t"/>
          <a:lstStyle/>
          <a:p>
            <a:pPr marL="177800" indent="-177800">
              <a:lnSpc>
                <a:spcPct val="115000"/>
              </a:lnSpc>
              <a:spcAft>
                <a:spcPts val="600"/>
              </a:spcAft>
              <a:buSzPct val="100000"/>
              <a:buChar char="•"/>
            </a:pPr>
            <a:r>
              <a:rPr lang="en-US" sz="1200" dirty="0">
                <a:solidFill>
                  <a:srgbClr val="CFD9E6"/>
                </a:solidFill>
                <a:latin typeface="Calibri" pitchFamily="34" charset="0"/>
                <a:ea typeface="Calibri" pitchFamily="34" charset="-122"/>
                <a:cs typeface="Calibri" pitchFamily="34" charset="-120"/>
              </a:rPr>
              <a:t>These results were trained against the now-superseded R28/R29 encoder — </a:t>
            </a:r>
            <a:endParaRPr lang="en-US" sz="1200" dirty="0"/>
          </a:p>
          <a:p>
            <a:pPr indent="0" marL="0">
              <a:lnSpc>
                <a:spcPct val="115000"/>
              </a:lnSpc>
              <a:buNone/>
            </a:pPr>
            <a:r>
              <a:rPr lang="en-US" sz="1200" dirty="0">
                <a:solidFill>
                  <a:srgbClr val="FFD9A0"/>
                </a:solidFill>
                <a:latin typeface="Consolas" pitchFamily="34" charset="0"/>
                <a:ea typeface="Consolas" pitchFamily="34" charset="-122"/>
                <a:cs typeface="Consolas" pitchFamily="34" charset="-120"/>
              </a:rPr>
              <a:t>node_ranker.pt</a:t>
            </a:r>
            <a:pPr indent="0" marL="0">
              <a:lnSpc>
                <a:spcPct val="115000"/>
              </a:lnSpc>
              <a:buNone/>
            </a:pPr>
            <a:r>
              <a:rPr lang="en-US" sz="1200" dirty="0">
                <a:solidFill>
                  <a:srgbClr val="CFD9E6"/>
                </a:solidFill>
                <a:latin typeface="Calibri" pitchFamily="34" charset="0"/>
                <a:ea typeface="Calibri" pitchFamily="34" charset="-122"/>
                <a:cs typeface="Calibri" pitchFamily="34" charset="-120"/>
              </a:rPr>
              <a:t> must be re-run against R30's </a:t>
            </a:r>
            <a:pPr indent="0" marL="0">
              <a:lnSpc>
                <a:spcPct val="115000"/>
              </a:lnSpc>
              <a:buNone/>
            </a:pPr>
            <a:r>
              <a:rPr lang="en-US" sz="1200" dirty="0">
                <a:solidFill>
                  <a:srgbClr val="FFD9A0"/>
                </a:solidFill>
                <a:latin typeface="Consolas" pitchFamily="34" charset="0"/>
                <a:ea typeface="Consolas" pitchFamily="34" charset="-122"/>
                <a:cs typeface="Consolas" pitchFamily="34" charset="-120"/>
              </a:rPr>
              <a:t>best_serving.pt</a:t>
            </a:r>
            <a:pPr indent="0" marL="0">
              <a:lnSpc>
                <a:spcPct val="115000"/>
              </a:lnSpc>
              <a:buNone/>
            </a:pPr>
            <a:r>
              <a:rPr lang="en-US" sz="1200" dirty="0">
                <a:solidFill>
                  <a:srgbClr val="CFD9E6"/>
                </a:solidFill>
                <a:latin typeface="Calibri" pitchFamily="34" charset="0"/>
                <a:ea typeface="Calibri" pitchFamily="34" charset="-122"/>
                <a:cs typeface="Calibri" pitchFamily="34" charset="-120"/>
              </a:rPr>
              <a:t> (the current heterogeneous encoder) before the metrics above can be reported as current</a:t>
            </a:r>
            <a:endParaRPr lang="en-US" sz="1200" dirty="0"/>
          </a:p>
          <a:p>
            <a:pPr marL="177800" indent="-177800">
              <a:lnSpc>
                <a:spcPct val="115000"/>
              </a:lnSpc>
              <a:spcAft>
                <a:spcPts val="600"/>
              </a:spcAft>
              <a:buSzPct val="100000"/>
              <a:buChar char="•"/>
            </a:pPr>
            <a:r>
              <a:rPr lang="en-US" sz="1200" dirty="0">
                <a:solidFill>
                  <a:srgbClr val="CFD9E6"/>
                </a:solidFill>
                <a:latin typeface="Calibri" pitchFamily="34" charset="0"/>
                <a:ea typeface="Calibri" pitchFamily="34" charset="-122"/>
                <a:cs typeface="Calibri" pitchFamily="34" charset="-120"/>
              </a:rPr>
              <a:t>Wired end-to-end regardless: </a:t>
            </a:r>
            <a:pPr indent="0" marL="0">
              <a:lnSpc>
                <a:spcPct val="115000"/>
              </a:lnSpc>
              <a:buNone/>
            </a:pPr>
            <a:r>
              <a:rPr lang="en-US" sz="1200" dirty="0">
                <a:solidFill>
                  <a:srgbClr val="FFD9A0"/>
                </a:solidFill>
                <a:latin typeface="Consolas" pitchFamily="34" charset="0"/>
                <a:ea typeface="Consolas" pitchFamily="34" charset="-122"/>
                <a:cs typeface="Consolas" pitchFamily="34" charset="-120"/>
              </a:rPr>
              <a:t>train_ranker.py</a:t>
            </a:r>
            <a:pPr indent="0" marL="0">
              <a:lnSpc>
                <a:spcPct val="115000"/>
              </a:lnSpc>
              <a:buNone/>
            </a:pPr>
            <a:r>
              <a:rPr lang="en-US" sz="1200" dirty="0">
                <a:solidFill>
                  <a:srgbClr val="CFD9E6"/>
                </a:solidFill>
                <a:latin typeface="Calibri" pitchFamily="34" charset="0"/>
                <a:ea typeface="Calibri" pitchFamily="34" charset="-122"/>
                <a:cs typeface="Calibri" pitchFamily="34" charset="-120"/>
              </a:rPr>
              <a:t>, </a:t>
            </a:r>
            <a:pPr indent="0" marL="0">
              <a:lnSpc>
                <a:spcPct val="115000"/>
              </a:lnSpc>
              <a:buNone/>
            </a:pPr>
            <a:r>
              <a:rPr lang="en-US" sz="1200" dirty="0">
                <a:solidFill>
                  <a:srgbClr val="FFD9A0"/>
                </a:solidFill>
                <a:latin typeface="Consolas" pitchFamily="34" charset="0"/>
                <a:ea typeface="Consolas" pitchFamily="34" charset="-122"/>
                <a:cs typeface="Consolas" pitchFamily="34" charset="-120"/>
              </a:rPr>
              <a:t>infer.py</a:t>
            </a:r>
            <a:pPr indent="0" marL="0">
              <a:lnSpc>
                <a:spcPct val="115000"/>
              </a:lnSpc>
              <a:buNone/>
            </a:pPr>
            <a:r>
              <a:rPr lang="en-US" sz="1200" dirty="0">
                <a:solidFill>
                  <a:srgbClr val="CFD9E6"/>
                </a:solidFill>
                <a:latin typeface="Calibri" pitchFamily="34" charset="0"/>
                <a:ea typeface="Calibri" pitchFamily="34" charset="-122"/>
                <a:cs typeface="Calibri" pitchFamily="34" charset="-120"/>
              </a:rPr>
              <a:t>, FastAPI </a:t>
            </a:r>
            <a:pPr indent="0" marL="0">
              <a:lnSpc>
                <a:spcPct val="115000"/>
              </a:lnSpc>
              <a:buNone/>
            </a:pPr>
            <a:r>
              <a:rPr lang="en-US" sz="1200" dirty="0">
                <a:solidFill>
                  <a:srgbClr val="FFD9A0"/>
                </a:solidFill>
                <a:latin typeface="Consolas" pitchFamily="34" charset="0"/>
                <a:ea typeface="Consolas" pitchFamily="34" charset="-122"/>
                <a:cs typeface="Consolas" pitchFamily="34" charset="-120"/>
              </a:rPr>
              <a:t>/predict/next-component</a:t>
            </a:r>
            <a:pPr indent="0" marL="0">
              <a:lnSpc>
                <a:spcPct val="115000"/>
              </a:lnSpc>
              <a:buNone/>
            </a:pPr>
            <a:r>
              <a:rPr lang="en-US" sz="1200" dirty="0">
                <a:solidFill>
                  <a:srgbClr val="CFD9E6"/>
                </a:solidFill>
                <a:latin typeface="Calibri" pitchFamily="34" charset="0"/>
                <a:ea typeface="Calibri" pitchFamily="34" charset="-122"/>
                <a:cs typeface="Calibri" pitchFamily="34" charset="-120"/>
              </a:rPr>
              <a:t>, and the Streamlit “AI-Ranked Next Component” panel</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121F"/>
        </a:solidFill>
      </p:bgPr>
    </p:bg>
    <p:spTree>
      <p:nvGrpSpPr>
        <p:cNvPr id="1" name=""/>
        <p:cNvGrpSpPr/>
        <p:nvPr/>
      </p:nvGrpSpPr>
      <p:grpSpPr>
        <a:xfrm>
          <a:off x="0" y="0"/>
          <a:ext cx="0" cy="0"/>
          <a:chOff x="0" y="0"/>
          <a:chExt cx="0" cy="0"/>
        </a:xfrm>
      </p:grpSpPr>
      <p:sp>
        <p:nvSpPr>
          <p:cNvPr id="2" name="Text 0"/>
          <p:cNvSpPr/>
          <p:nvPr/>
        </p:nvSpPr>
        <p:spPr>
          <a:xfrm>
            <a:off x="457200" y="292608"/>
            <a:ext cx="11277295" cy="274320"/>
          </a:xfrm>
          <a:prstGeom prst="rect">
            <a:avLst/>
          </a:prstGeom>
          <a:noFill/>
          <a:ln/>
        </p:spPr>
        <p:txBody>
          <a:bodyPr wrap="square" rtlCol="0" anchor="ctr"/>
          <a:lstStyle/>
          <a:p>
            <a:pPr indent="0" marL="0">
              <a:buNone/>
            </a:pPr>
            <a:r>
              <a:rPr lang="en-US" sz="1100" b="1" spc="150" kern="0" dirty="0">
                <a:solidFill>
                  <a:srgbClr val="5B9BD5"/>
                </a:solidFill>
                <a:latin typeface="Calibri" pitchFamily="34" charset="0"/>
                <a:ea typeface="Calibri" pitchFamily="34" charset="-122"/>
                <a:cs typeface="Calibri" pitchFamily="34" charset="-120"/>
              </a:rPr>
              <a:t>GUIDANCE FOLLOW-UP</a:t>
            </a:r>
            <a:endParaRPr lang="en-US" sz="1100" dirty="0"/>
          </a:p>
        </p:txBody>
      </p:sp>
      <p:sp>
        <p:nvSpPr>
          <p:cNvPr id="3" name="Text 1"/>
          <p:cNvSpPr/>
          <p:nvPr/>
        </p:nvSpPr>
        <p:spPr>
          <a:xfrm>
            <a:off x="457200" y="566928"/>
            <a:ext cx="11277295" cy="502920"/>
          </a:xfrm>
          <a:prstGeom prst="rect">
            <a:avLst/>
          </a:prstGeom>
          <a:noFill/>
          <a:ln/>
        </p:spPr>
        <p:txBody>
          <a:bodyPr wrap="square" rtlCol="0" anchor="t"/>
          <a:lstStyle/>
          <a:p>
            <a:pPr indent="0" marL="0">
              <a:buNone/>
            </a:pPr>
            <a:r>
              <a:rPr lang="en-US" sz="2600" b="1" dirty="0">
                <a:solidFill>
                  <a:srgbClr val="E6EDF5"/>
                </a:solidFill>
                <a:latin typeface="Calibri" pitchFamily="34" charset="0"/>
                <a:ea typeface="Calibri" pitchFamily="34" charset="-122"/>
                <a:cs typeface="Calibri" pitchFamily="34" charset="-120"/>
              </a:rPr>
              <a:t>Suggestion — move training to the cloud (M1 limitations)</a:t>
            </a:r>
            <a:endParaRPr lang="en-US" sz="2600" dirty="0"/>
          </a:p>
        </p:txBody>
      </p:sp>
      <p:sp>
        <p:nvSpPr>
          <p:cNvPr id="4" name="Shape 2"/>
          <p:cNvSpPr/>
          <p:nvPr/>
        </p:nvSpPr>
        <p:spPr>
          <a:xfrm>
            <a:off x="457200" y="1234440"/>
            <a:ext cx="5486400" cy="5120640"/>
          </a:xfrm>
          <a:prstGeom prst="roundRect">
            <a:avLst>
              <a:gd name="adj" fmla="val 1071"/>
            </a:avLst>
          </a:prstGeom>
          <a:solidFill>
            <a:srgbClr val="142338"/>
          </a:solidFill>
          <a:ln w="12700">
            <a:solidFill>
              <a:srgbClr val="24405F"/>
            </a:solidFill>
            <a:prstDash val="solid"/>
          </a:ln>
        </p:spPr>
      </p:sp>
      <p:sp>
        <p:nvSpPr>
          <p:cNvPr id="5" name="Text 3"/>
          <p:cNvSpPr/>
          <p:nvPr/>
        </p:nvSpPr>
        <p:spPr>
          <a:xfrm>
            <a:off x="621792" y="1399032"/>
            <a:ext cx="5157216" cy="292608"/>
          </a:xfrm>
          <a:prstGeom prst="rect">
            <a:avLst/>
          </a:prstGeom>
          <a:noFill/>
          <a:ln/>
        </p:spPr>
        <p:txBody>
          <a:bodyPr wrap="square" rtlCol="0" anchor="ctr"/>
          <a:lstStyle/>
          <a:p>
            <a:pPr indent="0" marL="0">
              <a:buNone/>
            </a:pPr>
            <a:r>
              <a:rPr lang="en-US" sz="1300" b="1" dirty="0">
                <a:solidFill>
                  <a:srgbClr val="8B5CF6"/>
                </a:solidFill>
                <a:latin typeface="Calibri" pitchFamily="34" charset="0"/>
                <a:ea typeface="Calibri" pitchFamily="34" charset="-122"/>
                <a:cs typeface="Calibri" pitchFamily="34" charset="-120"/>
              </a:rPr>
              <a:t>Why it came up</a:t>
            </a:r>
            <a:endParaRPr lang="en-US" sz="1300" dirty="0"/>
          </a:p>
        </p:txBody>
      </p:sp>
      <p:sp>
        <p:nvSpPr>
          <p:cNvPr id="6" name="Text 4"/>
          <p:cNvSpPr/>
          <p:nvPr/>
        </p:nvSpPr>
        <p:spPr>
          <a:xfrm>
            <a:off x="621792" y="1728216"/>
            <a:ext cx="5157216" cy="4462272"/>
          </a:xfrm>
          <a:prstGeom prst="rect">
            <a:avLst/>
          </a:prstGeom>
          <a:noFill/>
          <a:ln/>
        </p:spPr>
        <p:txBody>
          <a:bodyPr wrap="square" rtlCol="0" anchor="t"/>
          <a:lstStyle/>
          <a:p>
            <a:pPr marL="177800" indent="-177800">
              <a:lnSpc>
                <a:spcPct val="115000"/>
              </a:lnSpc>
              <a:spcAft>
                <a:spcPts val="600"/>
              </a:spcAft>
              <a:buSzPct val="100000"/>
              <a:buChar char="•"/>
            </a:pPr>
            <a:r>
              <a:rPr lang="en-US" sz="1200" dirty="0">
                <a:solidFill>
                  <a:srgbClr val="CFD9E6"/>
                </a:solidFill>
                <a:latin typeface="Calibri" pitchFamily="34" charset="0"/>
                <a:ea typeface="Calibri" pitchFamily="34" charset="-122"/>
                <a:cs typeface="Calibri" pitchFamily="34" charset="-120"/>
              </a:rPr>
              <a:t>During the first guidance call, the suggestion was raised: if the MacBook M1's unified-memory ceiling is limiting training, evaluate cloud GPU compute as an alternative</a:t>
            </a:r>
            <a:endParaRPr lang="en-US" sz="1200" dirty="0"/>
          </a:p>
          <a:p>
            <a:pPr marL="177800" indent="-177800">
              <a:lnSpc>
                <a:spcPct val="115000"/>
              </a:lnSpc>
              <a:spcAft>
                <a:spcPts val="600"/>
              </a:spcAft>
              <a:buSzPct val="100000"/>
              <a:buChar char="•"/>
            </a:pPr>
            <a:r>
              <a:rPr lang="en-US" sz="1200" dirty="0">
                <a:solidFill>
                  <a:srgbClr val="CFD9E6"/>
                </a:solidFill>
                <a:latin typeface="Calibri" pitchFamily="34" charset="0"/>
                <a:ea typeface="Calibri" pitchFamily="34" charset="-122"/>
                <a:cs typeface="Calibri" pitchFamily="34" charset="-120"/>
              </a:rPr>
              <a:t>Directly motivated by what R31 exposed on this hardware: repeated </a:t>
            </a:r>
            <a:endParaRPr lang="en-US" sz="1200" dirty="0"/>
          </a:p>
          <a:p>
            <a:pPr indent="0" marL="0">
              <a:lnSpc>
                <a:spcPct val="115000"/>
              </a:lnSpc>
              <a:buNone/>
            </a:pPr>
            <a:r>
              <a:rPr lang="en-US" sz="1200" dirty="0">
                <a:solidFill>
                  <a:srgbClr val="FFD9A0"/>
                </a:solidFill>
                <a:latin typeface="Consolas" pitchFamily="34" charset="0"/>
                <a:ea typeface="Consolas" pitchFamily="34" charset="-122"/>
                <a:cs typeface="Consolas" pitchFamily="34" charset="-120"/>
              </a:rPr>
              <a:t>MPS backend out of memory</a:t>
            </a:r>
            <a:pPr indent="0" marL="0">
              <a:lnSpc>
                <a:spcPct val="115000"/>
              </a:lnSpc>
              <a:buNone/>
            </a:pPr>
            <a:r>
              <a:rPr lang="en-US" sz="1200" dirty="0">
                <a:solidFill>
                  <a:srgbClr val="CFD9E6"/>
                </a:solidFill>
                <a:latin typeface="Calibri" pitchFamily="34" charset="0"/>
                <a:ea typeface="Calibri" pitchFamily="34" charset="-122"/>
                <a:cs typeface="Calibri" pitchFamily="34" charset="-120"/>
              </a:rPr>
              <a:t> crashes (~17 GiB / 20.13 GiB ceiling), individual epochs stretching to 8,073s under memory pressure, and full 5-fold CV runs already taking 11.5–19+ hours wall-clock even when nothing fails</a:t>
            </a:r>
            <a:endParaRPr lang="en-US" sz="1200" dirty="0"/>
          </a:p>
          <a:p>
            <a:pPr marL="177800" indent="-177800">
              <a:lnSpc>
                <a:spcPct val="115000"/>
              </a:lnSpc>
              <a:spcAft>
                <a:spcPts val="600"/>
              </a:spcAft>
              <a:buSzPct val="100000"/>
              <a:buChar char="•"/>
            </a:pPr>
            <a:r>
              <a:rPr lang="en-US" sz="1200" dirty="0">
                <a:solidFill>
                  <a:srgbClr val="CFD9E6"/>
                </a:solidFill>
                <a:latin typeface="Calibri" pitchFamily="34" charset="0"/>
                <a:ea typeface="Calibri" pitchFamily="34" charset="-122"/>
                <a:cs typeface="Calibri" pitchFamily="34" charset="-120"/>
              </a:rPr>
              <a:t>A larger, higher-quality corpus (the next lever toward AUC ≥ 0.85 per the R31 lesson) will only make single-machine M1 runs slower and more fragile, not less</a:t>
            </a:r>
            <a:endParaRPr lang="en-US" sz="1200" dirty="0"/>
          </a:p>
        </p:txBody>
      </p:sp>
      <p:sp>
        <p:nvSpPr>
          <p:cNvPr id="7" name="Shape 5"/>
          <p:cNvSpPr/>
          <p:nvPr/>
        </p:nvSpPr>
        <p:spPr>
          <a:xfrm>
            <a:off x="6126480" y="1234440"/>
            <a:ext cx="5605272" cy="5120640"/>
          </a:xfrm>
          <a:prstGeom prst="roundRect">
            <a:avLst>
              <a:gd name="adj" fmla="val 1071"/>
            </a:avLst>
          </a:prstGeom>
          <a:solidFill>
            <a:srgbClr val="142338"/>
          </a:solidFill>
          <a:ln w="12700">
            <a:solidFill>
              <a:srgbClr val="24405F"/>
            </a:solidFill>
            <a:prstDash val="solid"/>
          </a:ln>
        </p:spPr>
      </p:sp>
      <p:sp>
        <p:nvSpPr>
          <p:cNvPr id="8" name="Text 6"/>
          <p:cNvSpPr/>
          <p:nvPr/>
        </p:nvSpPr>
        <p:spPr>
          <a:xfrm>
            <a:off x="6291072" y="1399032"/>
            <a:ext cx="5276088" cy="292608"/>
          </a:xfrm>
          <a:prstGeom prst="rect">
            <a:avLst/>
          </a:prstGeom>
          <a:noFill/>
          <a:ln/>
        </p:spPr>
        <p:txBody>
          <a:bodyPr wrap="square" rtlCol="0" anchor="ctr"/>
          <a:lstStyle/>
          <a:p>
            <a:pPr indent="0" marL="0">
              <a:buNone/>
            </a:pPr>
            <a:r>
              <a:rPr lang="en-US" sz="1300" b="1" dirty="0">
                <a:solidFill>
                  <a:srgbClr val="5B9BD5"/>
                </a:solidFill>
                <a:latin typeface="Calibri" pitchFamily="34" charset="0"/>
                <a:ea typeface="Calibri" pitchFamily="34" charset="-122"/>
                <a:cs typeface="Calibri" pitchFamily="34" charset="-120"/>
              </a:rPr>
              <a:t>What we did</a:t>
            </a:r>
            <a:endParaRPr lang="en-US" sz="1300" dirty="0"/>
          </a:p>
        </p:txBody>
      </p:sp>
      <p:sp>
        <p:nvSpPr>
          <p:cNvPr id="9" name="Text 7"/>
          <p:cNvSpPr/>
          <p:nvPr/>
        </p:nvSpPr>
        <p:spPr>
          <a:xfrm>
            <a:off x="6291072" y="1728216"/>
            <a:ext cx="5276088" cy="4462272"/>
          </a:xfrm>
          <a:prstGeom prst="rect">
            <a:avLst/>
          </a:prstGeom>
          <a:noFill/>
          <a:ln/>
        </p:spPr>
        <p:txBody>
          <a:bodyPr wrap="square" rtlCol="0" anchor="t"/>
          <a:lstStyle/>
          <a:p>
            <a:pPr marL="177800" indent="-177800">
              <a:lnSpc>
                <a:spcPct val="115000"/>
              </a:lnSpc>
              <a:spcAft>
                <a:spcPts val="600"/>
              </a:spcAft>
              <a:buSzPct val="100000"/>
              <a:buChar char="•"/>
            </a:pPr>
            <a:r>
              <a:rPr lang="en-US" sz="1200" dirty="0">
                <a:solidFill>
                  <a:srgbClr val="CFD9E6"/>
                </a:solidFill>
                <a:latin typeface="Calibri" pitchFamily="34" charset="0"/>
                <a:ea typeface="Calibri" pitchFamily="34" charset="-122"/>
                <a:cs typeface="Calibri" pitchFamily="34" charset="-120"/>
              </a:rPr>
              <a:t>Researched cloud GPU rental providers directly comparable to this workload: </a:t>
            </a:r>
            <a:endParaRPr lang="en-US" sz="1200" dirty="0"/>
          </a:p>
          <a:p>
            <a:pPr indent="0" marL="0">
              <a:lnSpc>
                <a:spcPct val="115000"/>
              </a:lnSpc>
              <a:buNone/>
            </a:pPr>
            <a:r>
              <a:rPr lang="en-US" sz="1200" b="1" dirty="0">
                <a:solidFill>
                  <a:srgbClr val="E6EDF5"/>
                </a:solidFill>
                <a:latin typeface="Calibri" pitchFamily="34" charset="0"/>
                <a:ea typeface="Calibri" pitchFamily="34" charset="-122"/>
                <a:cs typeface="Calibri" pitchFamily="34" charset="-120"/>
              </a:rPr>
              <a:t>RunPod</a:t>
            </a:r>
            <a:pPr indent="0" marL="0">
              <a:lnSpc>
                <a:spcPct val="115000"/>
              </a:lnSpc>
              <a:buNone/>
            </a:pPr>
            <a:r>
              <a:rPr lang="en-US" sz="1200" dirty="0">
                <a:solidFill>
                  <a:srgbClr val="CFD9E6"/>
                </a:solidFill>
                <a:latin typeface="Calibri" pitchFamily="34" charset="0"/>
                <a:ea typeface="Calibri" pitchFamily="34" charset="-122"/>
                <a:cs typeface="Calibri" pitchFamily="34" charset="-120"/>
              </a:rPr>
              <a:t>, </a:t>
            </a:r>
            <a:pPr indent="0" marL="0">
              <a:lnSpc>
                <a:spcPct val="115000"/>
              </a:lnSpc>
              <a:buNone/>
            </a:pPr>
            <a:r>
              <a:rPr lang="en-US" sz="1200" b="1" dirty="0">
                <a:solidFill>
                  <a:srgbClr val="E6EDF5"/>
                </a:solidFill>
                <a:latin typeface="Calibri" pitchFamily="34" charset="0"/>
                <a:ea typeface="Calibri" pitchFamily="34" charset="-122"/>
                <a:cs typeface="Calibri" pitchFamily="34" charset="-120"/>
              </a:rPr>
              <a:t>Vast.ai</a:t>
            </a:r>
            <a:pPr indent="0" marL="0">
              <a:lnSpc>
                <a:spcPct val="115000"/>
              </a:lnSpc>
              <a:buNone/>
            </a:pPr>
            <a:r>
              <a:rPr lang="en-US" sz="1200" dirty="0">
                <a:solidFill>
                  <a:srgbClr val="CFD9E6"/>
                </a:solidFill>
                <a:latin typeface="Calibri" pitchFamily="34" charset="0"/>
                <a:ea typeface="Calibri" pitchFamily="34" charset="-122"/>
                <a:cs typeface="Calibri" pitchFamily="34" charset="-120"/>
              </a:rPr>
              <a:t>, </a:t>
            </a:r>
            <a:pPr indent="0" marL="0">
              <a:lnSpc>
                <a:spcPct val="115000"/>
              </a:lnSpc>
              <a:buNone/>
            </a:pPr>
            <a:r>
              <a:rPr lang="en-US" sz="1200" b="1" dirty="0">
                <a:solidFill>
                  <a:srgbClr val="E6EDF5"/>
                </a:solidFill>
                <a:latin typeface="Calibri" pitchFamily="34" charset="0"/>
                <a:ea typeface="Calibri" pitchFamily="34" charset="-122"/>
                <a:cs typeface="Calibri" pitchFamily="34" charset="-120"/>
              </a:rPr>
              <a:t>Lambda Labs</a:t>
            </a:r>
            <a:endParaRPr lang="en-US" sz="1200" dirty="0"/>
          </a:p>
          <a:p>
            <a:pPr marL="177800" indent="-177800">
              <a:lnSpc>
                <a:spcPct val="115000"/>
              </a:lnSpc>
              <a:spcAft>
                <a:spcPts val="600"/>
              </a:spcAft>
              <a:buSzPct val="100000"/>
              <a:buChar char="•"/>
            </a:pPr>
            <a:r>
              <a:rPr lang="en-US" sz="1200" dirty="0">
                <a:solidFill>
                  <a:srgbClr val="CFD9E6"/>
                </a:solidFill>
                <a:latin typeface="Calibri" pitchFamily="34" charset="0"/>
                <a:ea typeface="Calibri" pitchFamily="34" charset="-122"/>
                <a:cs typeface="Calibri" pitchFamily="34" charset="-120"/>
              </a:rPr>
              <a:t>Priced both a cheap/spot tier and a reliable on-demand tier, since our own local runs already needed several manual recoveries from stalls/OOM — spot preemption would add a second, independent failure mode on top of that</a:t>
            </a:r>
            <a:endParaRPr lang="en-US" sz="1200" dirty="0"/>
          </a:p>
          <a:p>
            <a:pPr marL="177800" indent="-177800">
              <a:lnSpc>
                <a:spcPct val="115000"/>
              </a:lnSpc>
              <a:spcAft>
                <a:spcPts val="600"/>
              </a:spcAft>
              <a:buSzPct val="100000"/>
              <a:buChar char="•"/>
            </a:pPr>
            <a:r>
              <a:rPr lang="en-US" sz="1200" dirty="0">
                <a:solidFill>
                  <a:srgbClr val="CFD9E6"/>
                </a:solidFill>
                <a:latin typeface="Calibri" pitchFamily="34" charset="0"/>
                <a:ea typeface="Calibri" pitchFamily="34" charset="-122"/>
                <a:cs typeface="Calibri" pitchFamily="34" charset="-120"/>
              </a:rPr>
              <a:t>Projected real cost in INR against the remaining Phase 2 workload — next slide</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A121F"/>
        </a:solidFill>
      </p:bgPr>
    </p:bg>
    <p:spTree>
      <p:nvGrpSpPr>
        <p:cNvPr id="1" name=""/>
        <p:cNvGrpSpPr/>
        <p:nvPr/>
      </p:nvGrpSpPr>
      <p:grpSpPr>
        <a:xfrm>
          <a:off x="0" y="0"/>
          <a:ext cx="0" cy="0"/>
          <a:chOff x="0" y="0"/>
          <a:chExt cx="0" cy="0"/>
        </a:xfrm>
      </p:grpSpPr>
      <p:sp>
        <p:nvSpPr>
          <p:cNvPr id="2" name="Text 0"/>
          <p:cNvSpPr/>
          <p:nvPr/>
        </p:nvSpPr>
        <p:spPr>
          <a:xfrm>
            <a:off x="457200" y="292608"/>
            <a:ext cx="11277295" cy="274320"/>
          </a:xfrm>
          <a:prstGeom prst="rect">
            <a:avLst/>
          </a:prstGeom>
          <a:noFill/>
          <a:ln/>
        </p:spPr>
        <p:txBody>
          <a:bodyPr wrap="square" rtlCol="0" anchor="ctr"/>
          <a:lstStyle/>
          <a:p>
            <a:pPr indent="0" marL="0">
              <a:buNone/>
            </a:pPr>
            <a:r>
              <a:rPr lang="en-US" sz="1100" b="1" spc="150" kern="0" dirty="0">
                <a:solidFill>
                  <a:srgbClr val="5B9BD5"/>
                </a:solidFill>
                <a:latin typeface="Calibri" pitchFamily="34" charset="0"/>
                <a:ea typeface="Calibri" pitchFamily="34" charset="-122"/>
                <a:cs typeface="Calibri" pitchFamily="34" charset="-120"/>
              </a:rPr>
              <a:t>GUIDANCE FOLLOW-UP — COST RESEARCH</a:t>
            </a:r>
            <a:endParaRPr lang="en-US" sz="1100" dirty="0"/>
          </a:p>
        </p:txBody>
      </p:sp>
      <p:sp>
        <p:nvSpPr>
          <p:cNvPr id="3" name="Text 1"/>
          <p:cNvSpPr/>
          <p:nvPr/>
        </p:nvSpPr>
        <p:spPr>
          <a:xfrm>
            <a:off x="457200" y="566928"/>
            <a:ext cx="11277295" cy="502920"/>
          </a:xfrm>
          <a:prstGeom prst="rect">
            <a:avLst/>
          </a:prstGeom>
          <a:noFill/>
          <a:ln/>
        </p:spPr>
        <p:txBody>
          <a:bodyPr wrap="square" rtlCol="0" anchor="t"/>
          <a:lstStyle/>
          <a:p>
            <a:pPr indent="0" marL="0">
              <a:buNone/>
            </a:pPr>
            <a:r>
              <a:rPr lang="en-US" sz="2600" b="1" dirty="0">
                <a:solidFill>
                  <a:srgbClr val="E6EDF5"/>
                </a:solidFill>
                <a:latin typeface="Calibri" pitchFamily="34" charset="0"/>
                <a:ea typeface="Calibri" pitchFamily="34" charset="-122"/>
                <a:cs typeface="Calibri" pitchFamily="34" charset="-120"/>
              </a:rPr>
              <a:t>Cloud GPU cost research — INR projection</a:t>
            </a:r>
            <a:endParaRPr lang="en-US" sz="26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11277295" cy="914400"/>
        </p:xfrm>
        <a:graphic>
          <a:graphicData uri="http://schemas.openxmlformats.org/drawingml/2006/table">
            <a:tbl>
              <a:tblPr/>
              <a:tblGrid>
                <a:gridCol w="1554480"/>
                <a:gridCol w="4480560"/>
                <a:gridCol w="1188720"/>
                <a:gridCol w="2286000"/>
                <a:gridCol w="1783080"/>
              </a:tblGrid>
              <a:tr h="640080">
                <a:tc>
                  <a:txBody>
                    <a:bodyPr/>
                    <a:lstStyle/>
                    <a:p>
                      <a:pPr indent="0" marL="0">
                        <a:buNone/>
                      </a:pPr>
                      <a:r>
                        <a:rPr lang="en-US" sz="1000" b="1" dirty="0">
                          <a:solidFill>
                            <a:srgbClr val="8AA0B8"/>
                          </a:solidFill>
                          <a:latin typeface="Calibri" pitchFamily="34" charset="0"/>
                          <a:ea typeface="Calibri" pitchFamily="34" charset="-122"/>
                          <a:cs typeface="Calibri" pitchFamily="34" charset="-120"/>
                        </a:rPr>
                        <a:t>Tier</a:t>
                      </a:r>
                      <a:endParaRPr lang="en-US" sz="1200" dirty="0"/>
                    </a:p>
                  </a:txBody>
                  <a:tcPr marL="91440" marR="91440" marT="45720" marB="45720" anchor="ctr">
                    <a:lnL w="9525" cap="flat" cmpd="sng" algn="ctr">
                      <a:solidFill>
                        <a:srgbClr val="24405F"/>
                      </a:solidFill>
                      <a:prstDash val="solid"/>
                      <a:round/>
                      <a:headEnd type="none" w="med" len="med"/>
                      <a:tailEnd type="none" w="med" len="med"/>
                    </a:lnL>
                    <a:lnR w="9525" cap="flat" cmpd="sng" algn="ctr">
                      <a:solidFill>
                        <a:srgbClr val="24405F"/>
                      </a:solidFill>
                      <a:prstDash val="solid"/>
                      <a:round/>
                      <a:headEnd type="none" w="med" len="med"/>
                      <a:tailEnd type="none" w="med" len="med"/>
                    </a:lnR>
                    <a:lnT w="9525" cap="flat" cmpd="sng" algn="ctr">
                      <a:solidFill>
                        <a:srgbClr val="24405F"/>
                      </a:solidFill>
                      <a:prstDash val="solid"/>
                      <a:round/>
                      <a:headEnd type="none" w="med" len="med"/>
                      <a:tailEnd type="none" w="med" len="med"/>
                    </a:lnT>
                    <a:lnB w="9525" cap="flat" cmpd="sng" algn="ctr">
                      <a:solidFill>
                        <a:srgbClr val="24405F"/>
                      </a:solidFill>
                      <a:prstDash val="solid"/>
                      <a:round/>
                      <a:headEnd type="none" w="med" len="med"/>
                      <a:tailEnd type="none" w="med" len="med"/>
                    </a:lnB>
                    <a:solidFill>
                      <a:srgbClr val="101C30"/>
                    </a:solidFill>
                  </a:tcPr>
                </a:tc>
                <a:tc>
                  <a:txBody>
                    <a:bodyPr/>
                    <a:lstStyle/>
                    <a:p>
                      <a:pPr indent="0" marL="0">
                        <a:buNone/>
                      </a:pPr>
                      <a:r>
                        <a:rPr lang="en-US" sz="1000" b="1" dirty="0">
                          <a:solidFill>
                            <a:srgbClr val="8AA0B8"/>
                          </a:solidFill>
                          <a:latin typeface="Calibri" pitchFamily="34" charset="0"/>
                          <a:ea typeface="Calibri" pitchFamily="34" charset="-122"/>
                          <a:cs typeface="Calibri" pitchFamily="34" charset="-120"/>
                        </a:rPr>
                        <a:t>Example providers / GPU</a:t>
                      </a:r>
                      <a:endParaRPr lang="en-US" sz="1200" dirty="0"/>
                    </a:p>
                  </a:txBody>
                  <a:tcPr marL="91440" marR="91440" marT="45720" marB="45720" anchor="ctr">
                    <a:lnL w="9525" cap="flat" cmpd="sng" algn="ctr">
                      <a:solidFill>
                        <a:srgbClr val="24405F"/>
                      </a:solidFill>
                      <a:prstDash val="solid"/>
                      <a:round/>
                      <a:headEnd type="none" w="med" len="med"/>
                      <a:tailEnd type="none" w="med" len="med"/>
                    </a:lnL>
                    <a:lnR w="9525" cap="flat" cmpd="sng" algn="ctr">
                      <a:solidFill>
                        <a:srgbClr val="24405F"/>
                      </a:solidFill>
                      <a:prstDash val="solid"/>
                      <a:round/>
                      <a:headEnd type="none" w="med" len="med"/>
                      <a:tailEnd type="none" w="med" len="med"/>
                    </a:lnR>
                    <a:lnT w="9525" cap="flat" cmpd="sng" algn="ctr">
                      <a:solidFill>
                        <a:srgbClr val="24405F"/>
                      </a:solidFill>
                      <a:prstDash val="solid"/>
                      <a:round/>
                      <a:headEnd type="none" w="med" len="med"/>
                      <a:tailEnd type="none" w="med" len="med"/>
                    </a:lnT>
                    <a:lnB w="9525" cap="flat" cmpd="sng" algn="ctr">
                      <a:solidFill>
                        <a:srgbClr val="24405F"/>
                      </a:solidFill>
                      <a:prstDash val="solid"/>
                      <a:round/>
                      <a:headEnd type="none" w="med" len="med"/>
                      <a:tailEnd type="none" w="med" len="med"/>
                    </a:lnB>
                    <a:solidFill>
                      <a:srgbClr val="101C30"/>
                    </a:solidFill>
                  </a:tcPr>
                </a:tc>
                <a:tc>
                  <a:txBody>
                    <a:bodyPr/>
                    <a:lstStyle/>
                    <a:p>
                      <a:pPr indent="0" marL="0">
                        <a:buNone/>
                      </a:pPr>
                      <a:r>
                        <a:rPr lang="en-US" sz="1000" b="1" dirty="0">
                          <a:solidFill>
                            <a:srgbClr val="8AA0B8"/>
                          </a:solidFill>
                          <a:latin typeface="Calibri" pitchFamily="34" charset="0"/>
                          <a:ea typeface="Calibri" pitchFamily="34" charset="-122"/>
                          <a:cs typeface="Calibri" pitchFamily="34" charset="-120"/>
                        </a:rPr>
                        <a:t>$/hr</a:t>
                      </a:r>
                      <a:endParaRPr lang="en-US" sz="1200" dirty="0"/>
                    </a:p>
                  </a:txBody>
                  <a:tcPr marL="91440" marR="91440" marT="45720" marB="45720" anchor="ctr">
                    <a:lnL w="9525" cap="flat" cmpd="sng" algn="ctr">
                      <a:solidFill>
                        <a:srgbClr val="24405F"/>
                      </a:solidFill>
                      <a:prstDash val="solid"/>
                      <a:round/>
                      <a:headEnd type="none" w="med" len="med"/>
                      <a:tailEnd type="none" w="med" len="med"/>
                    </a:lnL>
                    <a:lnR w="9525" cap="flat" cmpd="sng" algn="ctr">
                      <a:solidFill>
                        <a:srgbClr val="24405F"/>
                      </a:solidFill>
                      <a:prstDash val="solid"/>
                      <a:round/>
                      <a:headEnd type="none" w="med" len="med"/>
                      <a:tailEnd type="none" w="med" len="med"/>
                    </a:lnR>
                    <a:lnT w="9525" cap="flat" cmpd="sng" algn="ctr">
                      <a:solidFill>
                        <a:srgbClr val="24405F"/>
                      </a:solidFill>
                      <a:prstDash val="solid"/>
                      <a:round/>
                      <a:headEnd type="none" w="med" len="med"/>
                      <a:tailEnd type="none" w="med" len="med"/>
                    </a:lnT>
                    <a:lnB w="9525" cap="flat" cmpd="sng" algn="ctr">
                      <a:solidFill>
                        <a:srgbClr val="24405F"/>
                      </a:solidFill>
                      <a:prstDash val="solid"/>
                      <a:round/>
                      <a:headEnd type="none" w="med" len="med"/>
                      <a:tailEnd type="none" w="med" len="med"/>
                    </a:lnB>
                    <a:solidFill>
                      <a:srgbClr val="101C30"/>
                    </a:solidFill>
                  </a:tcPr>
                </a:tc>
                <a:tc>
                  <a:txBody>
                    <a:bodyPr/>
                    <a:lstStyle/>
                    <a:p>
                      <a:pPr indent="0" marL="0">
                        <a:buNone/>
                      </a:pPr>
                      <a:r>
                        <a:rPr lang="en-US" sz="1000" b="1" dirty="0">
                          <a:solidFill>
                            <a:srgbClr val="8AA0B8"/>
                          </a:solidFill>
                          <a:latin typeface="Calibri" pitchFamily="34" charset="0"/>
                          <a:ea typeface="Calibri" pitchFamily="34" charset="-122"/>
                          <a:cs typeface="Calibri" pitchFamily="34" charset="-120"/>
                        </a:rPr>
                        <a:t>5-week total</a:t>
                      </a:r>
                      <a:endParaRPr lang="en-US" sz="1200" dirty="0"/>
                    </a:p>
                    <a:p>
                      <a:pPr indent="0" marL="0">
                        <a:buNone/>
                      </a:pPr>
                      <a:r>
                        <a:rPr lang="en-US" sz="1000" b="1" dirty="0">
                          <a:solidFill>
                            <a:srgbClr val="8AA0B8"/>
                          </a:solidFill>
                          <a:latin typeface="Calibri" pitchFamily="34" charset="0"/>
                          <a:ea typeface="Calibri" pitchFamily="34" charset="-122"/>
                          <a:cs typeface="Calibri" pitchFamily="34" charset="-120"/>
                        </a:rPr>
                        <a:t>(15+ runs × 24h+ = 360+ hrs)</a:t>
                      </a:r>
                      <a:endParaRPr lang="en-US" sz="1200" dirty="0"/>
                    </a:p>
                  </a:txBody>
                  <a:tcPr marL="91440" marR="91440" marT="45720" marB="45720" anchor="ctr">
                    <a:lnL w="9525" cap="flat" cmpd="sng" algn="ctr">
                      <a:solidFill>
                        <a:srgbClr val="24405F"/>
                      </a:solidFill>
                      <a:prstDash val="solid"/>
                      <a:round/>
                      <a:headEnd type="none" w="med" len="med"/>
                      <a:tailEnd type="none" w="med" len="med"/>
                    </a:lnL>
                    <a:lnR w="9525" cap="flat" cmpd="sng" algn="ctr">
                      <a:solidFill>
                        <a:srgbClr val="24405F"/>
                      </a:solidFill>
                      <a:prstDash val="solid"/>
                      <a:round/>
                      <a:headEnd type="none" w="med" len="med"/>
                      <a:tailEnd type="none" w="med" len="med"/>
                    </a:lnR>
                    <a:lnT w="9525" cap="flat" cmpd="sng" algn="ctr">
                      <a:solidFill>
                        <a:srgbClr val="24405F"/>
                      </a:solidFill>
                      <a:prstDash val="solid"/>
                      <a:round/>
                      <a:headEnd type="none" w="med" len="med"/>
                      <a:tailEnd type="none" w="med" len="med"/>
                    </a:lnT>
                    <a:lnB w="9525" cap="flat" cmpd="sng" algn="ctr">
                      <a:solidFill>
                        <a:srgbClr val="24405F"/>
                      </a:solidFill>
                      <a:prstDash val="solid"/>
                      <a:round/>
                      <a:headEnd type="none" w="med" len="med"/>
                      <a:tailEnd type="none" w="med" len="med"/>
                    </a:lnB>
                    <a:solidFill>
                      <a:srgbClr val="101C30"/>
                    </a:solidFill>
                  </a:tcPr>
                </a:tc>
                <a:tc>
                  <a:txBody>
                    <a:bodyPr/>
                    <a:lstStyle/>
                    <a:p>
                      <a:pPr indent="0" marL="0">
                        <a:buNone/>
                      </a:pPr>
                      <a:r>
                        <a:rPr lang="en-US" sz="1000" b="1" dirty="0">
                          <a:solidFill>
                            <a:srgbClr val="8AA0B8"/>
                          </a:solidFill>
                          <a:latin typeface="Calibri" pitchFamily="34" charset="0"/>
                          <a:ea typeface="Calibri" pitchFamily="34" charset="-122"/>
                          <a:cs typeface="Calibri" pitchFamily="34" charset="-120"/>
                        </a:rPr>
                        <a:t>≈ INR (@ ₹97/$1, Jul 2026)</a:t>
                      </a:r>
                      <a:endParaRPr lang="en-US" sz="1200" dirty="0"/>
                    </a:p>
                  </a:txBody>
                  <a:tcPr marL="91440" marR="91440" marT="45720" marB="45720" anchor="ctr">
                    <a:lnL w="9525" cap="flat" cmpd="sng" algn="ctr">
                      <a:solidFill>
                        <a:srgbClr val="24405F"/>
                      </a:solidFill>
                      <a:prstDash val="solid"/>
                      <a:round/>
                      <a:headEnd type="none" w="med" len="med"/>
                      <a:tailEnd type="none" w="med" len="med"/>
                    </a:lnL>
                    <a:lnR w="9525" cap="flat" cmpd="sng" algn="ctr">
                      <a:solidFill>
                        <a:srgbClr val="24405F"/>
                      </a:solidFill>
                      <a:prstDash val="solid"/>
                      <a:round/>
                      <a:headEnd type="none" w="med" len="med"/>
                      <a:tailEnd type="none" w="med" len="med"/>
                    </a:lnR>
                    <a:lnT w="9525" cap="flat" cmpd="sng" algn="ctr">
                      <a:solidFill>
                        <a:srgbClr val="24405F"/>
                      </a:solidFill>
                      <a:prstDash val="solid"/>
                      <a:round/>
                      <a:headEnd type="none" w="med" len="med"/>
                      <a:tailEnd type="none" w="med" len="med"/>
                    </a:lnT>
                    <a:lnB w="9525" cap="flat" cmpd="sng" algn="ctr">
                      <a:solidFill>
                        <a:srgbClr val="24405F"/>
                      </a:solidFill>
                      <a:prstDash val="solid"/>
                      <a:round/>
                      <a:headEnd type="none" w="med" len="med"/>
                      <a:tailEnd type="none" w="med" len="med"/>
                    </a:lnB>
                    <a:solidFill>
                      <a:srgbClr val="101C30"/>
                    </a:solidFill>
                  </a:tcPr>
                </a:tc>
              </a:tr>
              <a:tr h="640080">
                <a:tc>
                  <a:txBody>
                    <a:bodyPr/>
                    <a:lstStyle/>
                    <a:p>
                      <a:pPr indent="0" marL="0">
                        <a:buNone/>
                      </a:pPr>
                      <a:r>
                        <a:rPr lang="en-US" sz="1100" dirty="0">
                          <a:solidFill>
                            <a:srgbClr val="CFD9E6"/>
                          </a:solidFill>
                          <a:latin typeface="Calibri" pitchFamily="34" charset="0"/>
                          <a:ea typeface="Calibri" pitchFamily="34" charset="-122"/>
                          <a:cs typeface="Calibri" pitchFamily="34" charset="-120"/>
                        </a:rPr>
                        <a:t>Budget / spot</a:t>
                      </a:r>
                      <a:endParaRPr lang="en-US" sz="1200" dirty="0"/>
                    </a:p>
                  </a:txBody>
                  <a:tcPr marL="91440" marR="91440" marT="45720" marB="45720" anchor="ctr">
                    <a:lnL w="9525" cap="flat" cmpd="sng" algn="ctr">
                      <a:solidFill>
                        <a:srgbClr val="24405F"/>
                      </a:solidFill>
                      <a:prstDash val="solid"/>
                      <a:round/>
                      <a:headEnd type="none" w="med" len="med"/>
                      <a:tailEnd type="none" w="med" len="med"/>
                    </a:lnL>
                    <a:lnR w="9525" cap="flat" cmpd="sng" algn="ctr">
                      <a:solidFill>
                        <a:srgbClr val="24405F"/>
                      </a:solidFill>
                      <a:prstDash val="solid"/>
                      <a:round/>
                      <a:headEnd type="none" w="med" len="med"/>
                      <a:tailEnd type="none" w="med" len="med"/>
                    </a:lnR>
                    <a:lnT w="9525" cap="flat" cmpd="sng" algn="ctr">
                      <a:solidFill>
                        <a:srgbClr val="24405F"/>
                      </a:solidFill>
                      <a:prstDash val="solid"/>
                      <a:round/>
                      <a:headEnd type="none" w="med" len="med"/>
                      <a:tailEnd type="none" w="med" len="med"/>
                    </a:lnT>
                    <a:lnB w="9525" cap="flat" cmpd="sng" algn="ctr">
                      <a:solidFill>
                        <a:srgbClr val="24405F"/>
                      </a:solidFill>
                      <a:prstDash val="solid"/>
                      <a:round/>
                      <a:headEnd type="none" w="med" len="med"/>
                      <a:tailEnd type="none" w="med" len="med"/>
                    </a:lnB>
                    <a:solidFill>
                      <a:srgbClr val="142338"/>
                    </a:solidFill>
                  </a:tcPr>
                </a:tc>
                <a:tc>
                  <a:txBody>
                    <a:bodyPr/>
                    <a:lstStyle/>
                    <a:p>
                      <a:pPr indent="0" marL="0">
                        <a:buNone/>
                      </a:pPr>
                      <a:r>
                        <a:rPr lang="en-US" sz="1100" dirty="0">
                          <a:solidFill>
                            <a:srgbClr val="CFD9E6"/>
                          </a:solidFill>
                          <a:latin typeface="Calibri" pitchFamily="34" charset="0"/>
                          <a:ea typeface="Calibri" pitchFamily="34" charset="-122"/>
                          <a:cs typeface="Calibri" pitchFamily="34" charset="-120"/>
                        </a:rPr>
                        <a:t>RunPod RTX 4090 on-demand, Vast.ai RTX 4090 spot</a:t>
                      </a:r>
                      <a:endParaRPr lang="en-US" sz="1200" dirty="0"/>
                    </a:p>
                  </a:txBody>
                  <a:tcPr marL="91440" marR="91440" marT="45720" marB="45720" anchor="ctr">
                    <a:lnL w="9525" cap="flat" cmpd="sng" algn="ctr">
                      <a:solidFill>
                        <a:srgbClr val="24405F"/>
                      </a:solidFill>
                      <a:prstDash val="solid"/>
                      <a:round/>
                      <a:headEnd type="none" w="med" len="med"/>
                      <a:tailEnd type="none" w="med" len="med"/>
                    </a:lnL>
                    <a:lnR w="9525" cap="flat" cmpd="sng" algn="ctr">
                      <a:solidFill>
                        <a:srgbClr val="24405F"/>
                      </a:solidFill>
                      <a:prstDash val="solid"/>
                      <a:round/>
                      <a:headEnd type="none" w="med" len="med"/>
                      <a:tailEnd type="none" w="med" len="med"/>
                    </a:lnR>
                    <a:lnT w="9525" cap="flat" cmpd="sng" algn="ctr">
                      <a:solidFill>
                        <a:srgbClr val="24405F"/>
                      </a:solidFill>
                      <a:prstDash val="solid"/>
                      <a:round/>
                      <a:headEnd type="none" w="med" len="med"/>
                      <a:tailEnd type="none" w="med" len="med"/>
                    </a:lnT>
                    <a:lnB w="9525" cap="flat" cmpd="sng" algn="ctr">
                      <a:solidFill>
                        <a:srgbClr val="24405F"/>
                      </a:solidFill>
                      <a:prstDash val="solid"/>
                      <a:round/>
                      <a:headEnd type="none" w="med" len="med"/>
                      <a:tailEnd type="none" w="med" len="med"/>
                    </a:lnB>
                    <a:solidFill>
                      <a:srgbClr val="142338"/>
                    </a:solidFill>
                  </a:tcPr>
                </a:tc>
                <a:tc>
                  <a:txBody>
                    <a:bodyPr/>
                    <a:lstStyle/>
                    <a:p>
                      <a:pPr indent="0" marL="0">
                        <a:buNone/>
                      </a:pPr>
                      <a:r>
                        <a:rPr lang="en-US" sz="1100" dirty="0">
                          <a:solidFill>
                            <a:srgbClr val="CFD9E6"/>
                          </a:solidFill>
                          <a:latin typeface="Calibri" pitchFamily="34" charset="0"/>
                          <a:ea typeface="Calibri" pitchFamily="34" charset="-122"/>
                          <a:cs typeface="Calibri" pitchFamily="34" charset="-120"/>
                        </a:rPr>
                        <a:t>$0.35 – $0.75</a:t>
                      </a:r>
                      <a:endParaRPr lang="en-US" sz="1200" dirty="0"/>
                    </a:p>
                  </a:txBody>
                  <a:tcPr marL="91440" marR="91440" marT="45720" marB="45720" anchor="ctr">
                    <a:lnL w="9525" cap="flat" cmpd="sng" algn="ctr">
                      <a:solidFill>
                        <a:srgbClr val="24405F"/>
                      </a:solidFill>
                      <a:prstDash val="solid"/>
                      <a:round/>
                      <a:headEnd type="none" w="med" len="med"/>
                      <a:tailEnd type="none" w="med" len="med"/>
                    </a:lnL>
                    <a:lnR w="9525" cap="flat" cmpd="sng" algn="ctr">
                      <a:solidFill>
                        <a:srgbClr val="24405F"/>
                      </a:solidFill>
                      <a:prstDash val="solid"/>
                      <a:round/>
                      <a:headEnd type="none" w="med" len="med"/>
                      <a:tailEnd type="none" w="med" len="med"/>
                    </a:lnR>
                    <a:lnT w="9525" cap="flat" cmpd="sng" algn="ctr">
                      <a:solidFill>
                        <a:srgbClr val="24405F"/>
                      </a:solidFill>
                      <a:prstDash val="solid"/>
                      <a:round/>
                      <a:headEnd type="none" w="med" len="med"/>
                      <a:tailEnd type="none" w="med" len="med"/>
                    </a:lnT>
                    <a:lnB w="9525" cap="flat" cmpd="sng" algn="ctr">
                      <a:solidFill>
                        <a:srgbClr val="24405F"/>
                      </a:solidFill>
                      <a:prstDash val="solid"/>
                      <a:round/>
                      <a:headEnd type="none" w="med" len="med"/>
                      <a:tailEnd type="none" w="med" len="med"/>
                    </a:lnB>
                    <a:solidFill>
                      <a:srgbClr val="142338"/>
                    </a:solidFill>
                  </a:tcPr>
                </a:tc>
                <a:tc>
                  <a:txBody>
                    <a:bodyPr/>
                    <a:lstStyle/>
                    <a:p>
                      <a:pPr indent="0" marL="0">
                        <a:buNone/>
                      </a:pPr>
                      <a:r>
                        <a:rPr lang="en-US" sz="1100" dirty="0">
                          <a:solidFill>
                            <a:srgbClr val="CFD9E6"/>
                          </a:solidFill>
                          <a:latin typeface="Calibri" pitchFamily="34" charset="0"/>
                          <a:ea typeface="Calibri" pitchFamily="34" charset="-122"/>
                          <a:cs typeface="Calibri" pitchFamily="34" charset="-120"/>
                        </a:rPr>
                        <a:t>$126 – $270</a:t>
                      </a:r>
                      <a:endParaRPr lang="en-US" sz="1200" dirty="0"/>
                    </a:p>
                  </a:txBody>
                  <a:tcPr marL="91440" marR="91440" marT="45720" marB="45720" anchor="ctr">
                    <a:lnL w="9525" cap="flat" cmpd="sng" algn="ctr">
                      <a:solidFill>
                        <a:srgbClr val="24405F"/>
                      </a:solidFill>
                      <a:prstDash val="solid"/>
                      <a:round/>
                      <a:headEnd type="none" w="med" len="med"/>
                      <a:tailEnd type="none" w="med" len="med"/>
                    </a:lnL>
                    <a:lnR w="9525" cap="flat" cmpd="sng" algn="ctr">
                      <a:solidFill>
                        <a:srgbClr val="24405F"/>
                      </a:solidFill>
                      <a:prstDash val="solid"/>
                      <a:round/>
                      <a:headEnd type="none" w="med" len="med"/>
                      <a:tailEnd type="none" w="med" len="med"/>
                    </a:lnR>
                    <a:lnT w="9525" cap="flat" cmpd="sng" algn="ctr">
                      <a:solidFill>
                        <a:srgbClr val="24405F"/>
                      </a:solidFill>
                      <a:prstDash val="solid"/>
                      <a:round/>
                      <a:headEnd type="none" w="med" len="med"/>
                      <a:tailEnd type="none" w="med" len="med"/>
                    </a:lnT>
                    <a:lnB w="9525" cap="flat" cmpd="sng" algn="ctr">
                      <a:solidFill>
                        <a:srgbClr val="24405F"/>
                      </a:solidFill>
                      <a:prstDash val="solid"/>
                      <a:round/>
                      <a:headEnd type="none" w="med" len="med"/>
                      <a:tailEnd type="none" w="med" len="med"/>
                    </a:lnB>
                    <a:solidFill>
                      <a:srgbClr val="142338"/>
                    </a:solidFill>
                  </a:tcPr>
                </a:tc>
                <a:tc>
                  <a:txBody>
                    <a:bodyPr/>
                    <a:lstStyle/>
                    <a:p>
                      <a:pPr indent="0" marL="0">
                        <a:buNone/>
                      </a:pPr>
                      <a:r>
                        <a:rPr lang="en-US" sz="1100" b="1" dirty="0">
                          <a:solidFill>
                            <a:srgbClr val="5B9BD5"/>
                          </a:solidFill>
                          <a:latin typeface="Calibri" pitchFamily="34" charset="0"/>
                          <a:ea typeface="Calibri" pitchFamily="34" charset="-122"/>
                          <a:cs typeface="Calibri" pitchFamily="34" charset="-120"/>
                        </a:rPr>
                        <a:t>₹12,200 – ₹26,200</a:t>
                      </a:r>
                      <a:endParaRPr lang="en-US" sz="1200" dirty="0"/>
                    </a:p>
                  </a:txBody>
                  <a:tcPr marL="91440" marR="91440" marT="45720" marB="45720" anchor="ctr">
                    <a:lnL w="9525" cap="flat" cmpd="sng" algn="ctr">
                      <a:solidFill>
                        <a:srgbClr val="24405F"/>
                      </a:solidFill>
                      <a:prstDash val="solid"/>
                      <a:round/>
                      <a:headEnd type="none" w="med" len="med"/>
                      <a:tailEnd type="none" w="med" len="med"/>
                    </a:lnL>
                    <a:lnR w="9525" cap="flat" cmpd="sng" algn="ctr">
                      <a:solidFill>
                        <a:srgbClr val="24405F"/>
                      </a:solidFill>
                      <a:prstDash val="solid"/>
                      <a:round/>
                      <a:headEnd type="none" w="med" len="med"/>
                      <a:tailEnd type="none" w="med" len="med"/>
                    </a:lnR>
                    <a:lnT w="9525" cap="flat" cmpd="sng" algn="ctr">
                      <a:solidFill>
                        <a:srgbClr val="24405F"/>
                      </a:solidFill>
                      <a:prstDash val="solid"/>
                      <a:round/>
                      <a:headEnd type="none" w="med" len="med"/>
                      <a:tailEnd type="none" w="med" len="med"/>
                    </a:lnT>
                    <a:lnB w="9525" cap="flat" cmpd="sng" algn="ctr">
                      <a:solidFill>
                        <a:srgbClr val="24405F"/>
                      </a:solidFill>
                      <a:prstDash val="solid"/>
                      <a:round/>
                      <a:headEnd type="none" w="med" len="med"/>
                      <a:tailEnd type="none" w="med" len="med"/>
                    </a:lnB>
                    <a:solidFill>
                      <a:srgbClr val="142338"/>
                    </a:solidFill>
                  </a:tcPr>
                </a:tc>
              </a:tr>
              <a:tr h="640080">
                <a:tc>
                  <a:txBody>
                    <a:bodyPr/>
                    <a:lstStyle/>
                    <a:p>
                      <a:pPr indent="0" marL="0">
                        <a:buNone/>
                      </a:pPr>
                      <a:r>
                        <a:rPr lang="en-US" sz="1100" dirty="0">
                          <a:solidFill>
                            <a:srgbClr val="CFD9E6"/>
                          </a:solidFill>
                          <a:latin typeface="Calibri" pitchFamily="34" charset="0"/>
                          <a:ea typeface="Calibri" pitchFamily="34" charset="-122"/>
                          <a:cs typeface="Calibri" pitchFamily="34" charset="-120"/>
                        </a:rPr>
                        <a:t>Reliable on-demand</a:t>
                      </a:r>
                      <a:endParaRPr lang="en-US" sz="1200" dirty="0"/>
                    </a:p>
                  </a:txBody>
                  <a:tcPr marL="91440" marR="91440" marT="45720" marB="45720" anchor="ctr">
                    <a:lnL w="9525" cap="flat" cmpd="sng" algn="ctr">
                      <a:solidFill>
                        <a:srgbClr val="24405F"/>
                      </a:solidFill>
                      <a:prstDash val="solid"/>
                      <a:round/>
                      <a:headEnd type="none" w="med" len="med"/>
                      <a:tailEnd type="none" w="med" len="med"/>
                    </a:lnL>
                    <a:lnR w="9525" cap="flat" cmpd="sng" algn="ctr">
                      <a:solidFill>
                        <a:srgbClr val="24405F"/>
                      </a:solidFill>
                      <a:prstDash val="solid"/>
                      <a:round/>
                      <a:headEnd type="none" w="med" len="med"/>
                      <a:tailEnd type="none" w="med" len="med"/>
                    </a:lnR>
                    <a:lnT w="9525" cap="flat" cmpd="sng" algn="ctr">
                      <a:solidFill>
                        <a:srgbClr val="24405F"/>
                      </a:solidFill>
                      <a:prstDash val="solid"/>
                      <a:round/>
                      <a:headEnd type="none" w="med" len="med"/>
                      <a:tailEnd type="none" w="med" len="med"/>
                    </a:lnT>
                    <a:lnB w="9525" cap="flat" cmpd="sng" algn="ctr">
                      <a:solidFill>
                        <a:srgbClr val="24405F"/>
                      </a:solidFill>
                      <a:prstDash val="solid"/>
                      <a:round/>
                      <a:headEnd type="none" w="med" len="med"/>
                      <a:tailEnd type="none" w="med" len="med"/>
                    </a:lnB>
                    <a:solidFill>
                      <a:srgbClr val="142338"/>
                    </a:solidFill>
                  </a:tcPr>
                </a:tc>
                <a:tc>
                  <a:txBody>
                    <a:bodyPr/>
                    <a:lstStyle/>
                    <a:p>
                      <a:pPr indent="0" marL="0">
                        <a:buNone/>
                      </a:pPr>
                      <a:r>
                        <a:rPr lang="en-US" sz="1100" dirty="0">
                          <a:solidFill>
                            <a:srgbClr val="CFD9E6"/>
                          </a:solidFill>
                          <a:latin typeface="Calibri" pitchFamily="34" charset="0"/>
                          <a:ea typeface="Calibri" pitchFamily="34" charset="-122"/>
                          <a:cs typeface="Calibri" pitchFamily="34" charset="-120"/>
                        </a:rPr>
                        <a:t>Lambda Labs A100 80GB ($2.06/hr), H100 SXM ($2.99/hr); RunPod H100 ($2.34/hr)</a:t>
                      </a:r>
                      <a:endParaRPr lang="en-US" sz="1200" dirty="0"/>
                    </a:p>
                  </a:txBody>
                  <a:tcPr marL="91440" marR="91440" marT="45720" marB="45720" anchor="ctr">
                    <a:lnL w="9525" cap="flat" cmpd="sng" algn="ctr">
                      <a:solidFill>
                        <a:srgbClr val="24405F"/>
                      </a:solidFill>
                      <a:prstDash val="solid"/>
                      <a:round/>
                      <a:headEnd type="none" w="med" len="med"/>
                      <a:tailEnd type="none" w="med" len="med"/>
                    </a:lnL>
                    <a:lnR w="9525" cap="flat" cmpd="sng" algn="ctr">
                      <a:solidFill>
                        <a:srgbClr val="24405F"/>
                      </a:solidFill>
                      <a:prstDash val="solid"/>
                      <a:round/>
                      <a:headEnd type="none" w="med" len="med"/>
                      <a:tailEnd type="none" w="med" len="med"/>
                    </a:lnR>
                    <a:lnT w="9525" cap="flat" cmpd="sng" algn="ctr">
                      <a:solidFill>
                        <a:srgbClr val="24405F"/>
                      </a:solidFill>
                      <a:prstDash val="solid"/>
                      <a:round/>
                      <a:headEnd type="none" w="med" len="med"/>
                      <a:tailEnd type="none" w="med" len="med"/>
                    </a:lnT>
                    <a:lnB w="9525" cap="flat" cmpd="sng" algn="ctr">
                      <a:solidFill>
                        <a:srgbClr val="24405F"/>
                      </a:solidFill>
                      <a:prstDash val="solid"/>
                      <a:round/>
                      <a:headEnd type="none" w="med" len="med"/>
                      <a:tailEnd type="none" w="med" len="med"/>
                    </a:lnB>
                    <a:solidFill>
                      <a:srgbClr val="142338"/>
                    </a:solidFill>
                  </a:tcPr>
                </a:tc>
                <a:tc>
                  <a:txBody>
                    <a:bodyPr/>
                    <a:lstStyle/>
                    <a:p>
                      <a:pPr indent="0" marL="0">
                        <a:buNone/>
                      </a:pPr>
                      <a:r>
                        <a:rPr lang="en-US" sz="1100" dirty="0">
                          <a:solidFill>
                            <a:srgbClr val="CFD9E6"/>
                          </a:solidFill>
                          <a:latin typeface="Calibri" pitchFamily="34" charset="0"/>
                          <a:ea typeface="Calibri" pitchFamily="34" charset="-122"/>
                          <a:cs typeface="Calibri" pitchFamily="34" charset="-120"/>
                        </a:rPr>
                        <a:t>$2.00 – $3.00</a:t>
                      </a:r>
                      <a:endParaRPr lang="en-US" sz="1200" dirty="0"/>
                    </a:p>
                  </a:txBody>
                  <a:tcPr marL="91440" marR="91440" marT="45720" marB="45720" anchor="ctr">
                    <a:lnL w="9525" cap="flat" cmpd="sng" algn="ctr">
                      <a:solidFill>
                        <a:srgbClr val="24405F"/>
                      </a:solidFill>
                      <a:prstDash val="solid"/>
                      <a:round/>
                      <a:headEnd type="none" w="med" len="med"/>
                      <a:tailEnd type="none" w="med" len="med"/>
                    </a:lnL>
                    <a:lnR w="9525" cap="flat" cmpd="sng" algn="ctr">
                      <a:solidFill>
                        <a:srgbClr val="24405F"/>
                      </a:solidFill>
                      <a:prstDash val="solid"/>
                      <a:round/>
                      <a:headEnd type="none" w="med" len="med"/>
                      <a:tailEnd type="none" w="med" len="med"/>
                    </a:lnR>
                    <a:lnT w="9525" cap="flat" cmpd="sng" algn="ctr">
                      <a:solidFill>
                        <a:srgbClr val="24405F"/>
                      </a:solidFill>
                      <a:prstDash val="solid"/>
                      <a:round/>
                      <a:headEnd type="none" w="med" len="med"/>
                      <a:tailEnd type="none" w="med" len="med"/>
                    </a:lnT>
                    <a:lnB w="9525" cap="flat" cmpd="sng" algn="ctr">
                      <a:solidFill>
                        <a:srgbClr val="24405F"/>
                      </a:solidFill>
                      <a:prstDash val="solid"/>
                      <a:round/>
                      <a:headEnd type="none" w="med" len="med"/>
                      <a:tailEnd type="none" w="med" len="med"/>
                    </a:lnB>
                    <a:solidFill>
                      <a:srgbClr val="142338"/>
                    </a:solidFill>
                  </a:tcPr>
                </a:tc>
                <a:tc>
                  <a:txBody>
                    <a:bodyPr/>
                    <a:lstStyle/>
                    <a:p>
                      <a:pPr indent="0" marL="0">
                        <a:buNone/>
                      </a:pPr>
                      <a:r>
                        <a:rPr lang="en-US" sz="1100" dirty="0">
                          <a:solidFill>
                            <a:srgbClr val="CFD9E6"/>
                          </a:solidFill>
                          <a:latin typeface="Calibri" pitchFamily="34" charset="0"/>
                          <a:ea typeface="Calibri" pitchFamily="34" charset="-122"/>
                          <a:cs typeface="Calibri" pitchFamily="34" charset="-120"/>
                        </a:rPr>
                        <a:t>$720 – $1,080</a:t>
                      </a:r>
                      <a:endParaRPr lang="en-US" sz="1200" dirty="0"/>
                    </a:p>
                  </a:txBody>
                  <a:tcPr marL="91440" marR="91440" marT="45720" marB="45720" anchor="ctr">
                    <a:lnL w="9525" cap="flat" cmpd="sng" algn="ctr">
                      <a:solidFill>
                        <a:srgbClr val="24405F"/>
                      </a:solidFill>
                      <a:prstDash val="solid"/>
                      <a:round/>
                      <a:headEnd type="none" w="med" len="med"/>
                      <a:tailEnd type="none" w="med" len="med"/>
                    </a:lnL>
                    <a:lnR w="9525" cap="flat" cmpd="sng" algn="ctr">
                      <a:solidFill>
                        <a:srgbClr val="24405F"/>
                      </a:solidFill>
                      <a:prstDash val="solid"/>
                      <a:round/>
                      <a:headEnd type="none" w="med" len="med"/>
                      <a:tailEnd type="none" w="med" len="med"/>
                    </a:lnR>
                    <a:lnT w="9525" cap="flat" cmpd="sng" algn="ctr">
                      <a:solidFill>
                        <a:srgbClr val="24405F"/>
                      </a:solidFill>
                      <a:prstDash val="solid"/>
                      <a:round/>
                      <a:headEnd type="none" w="med" len="med"/>
                      <a:tailEnd type="none" w="med" len="med"/>
                    </a:lnT>
                    <a:lnB w="9525" cap="flat" cmpd="sng" algn="ctr">
                      <a:solidFill>
                        <a:srgbClr val="24405F"/>
                      </a:solidFill>
                      <a:prstDash val="solid"/>
                      <a:round/>
                      <a:headEnd type="none" w="med" len="med"/>
                      <a:tailEnd type="none" w="med" len="med"/>
                    </a:lnB>
                    <a:solidFill>
                      <a:srgbClr val="142338"/>
                    </a:solidFill>
                  </a:tcPr>
                </a:tc>
                <a:tc>
                  <a:txBody>
                    <a:bodyPr/>
                    <a:lstStyle/>
                    <a:p>
                      <a:pPr indent="0" marL="0">
                        <a:buNone/>
                      </a:pPr>
                      <a:r>
                        <a:rPr lang="en-US" sz="1100" b="1" dirty="0">
                          <a:solidFill>
                            <a:srgbClr val="5B9BD5"/>
                          </a:solidFill>
                          <a:latin typeface="Calibri" pitchFamily="34" charset="0"/>
                          <a:ea typeface="Calibri" pitchFamily="34" charset="-122"/>
                          <a:cs typeface="Calibri" pitchFamily="34" charset="-120"/>
                        </a:rPr>
                        <a:t>₹69,800 – ₹1,04,800</a:t>
                      </a:r>
                      <a:endParaRPr lang="en-US" sz="1200" dirty="0"/>
                    </a:p>
                  </a:txBody>
                  <a:tcPr marL="91440" marR="91440" marT="45720" marB="45720" anchor="ctr">
                    <a:lnL w="9525" cap="flat" cmpd="sng" algn="ctr">
                      <a:solidFill>
                        <a:srgbClr val="24405F"/>
                      </a:solidFill>
                      <a:prstDash val="solid"/>
                      <a:round/>
                      <a:headEnd type="none" w="med" len="med"/>
                      <a:tailEnd type="none" w="med" len="med"/>
                    </a:lnL>
                    <a:lnR w="9525" cap="flat" cmpd="sng" algn="ctr">
                      <a:solidFill>
                        <a:srgbClr val="24405F"/>
                      </a:solidFill>
                      <a:prstDash val="solid"/>
                      <a:round/>
                      <a:headEnd type="none" w="med" len="med"/>
                      <a:tailEnd type="none" w="med" len="med"/>
                    </a:lnR>
                    <a:lnT w="9525" cap="flat" cmpd="sng" algn="ctr">
                      <a:solidFill>
                        <a:srgbClr val="24405F"/>
                      </a:solidFill>
                      <a:prstDash val="solid"/>
                      <a:round/>
                      <a:headEnd type="none" w="med" len="med"/>
                      <a:tailEnd type="none" w="med" len="med"/>
                    </a:lnT>
                    <a:lnB w="9525" cap="flat" cmpd="sng" algn="ctr">
                      <a:solidFill>
                        <a:srgbClr val="24405F"/>
                      </a:solidFill>
                      <a:prstDash val="solid"/>
                      <a:round/>
                      <a:headEnd type="none" w="med" len="med"/>
                      <a:tailEnd type="none" w="med" len="med"/>
                    </a:lnB>
                    <a:solidFill>
                      <a:srgbClr val="142338"/>
                    </a:solidFill>
                  </a:tcPr>
                </a:tc>
              </a:tr>
            </a:tbl>
          </a:graphicData>
        </a:graphic>
      </p:graphicFrame>
      <p:sp>
        <p:nvSpPr>
          <p:cNvPr id="5" name="Shape 2"/>
          <p:cNvSpPr/>
          <p:nvPr/>
        </p:nvSpPr>
        <p:spPr>
          <a:xfrm>
            <a:off x="457200" y="3291840"/>
            <a:ext cx="11277295" cy="3200400"/>
          </a:xfrm>
          <a:prstGeom prst="roundRect">
            <a:avLst>
              <a:gd name="adj" fmla="val 1714"/>
            </a:avLst>
          </a:prstGeom>
          <a:solidFill>
            <a:srgbClr val="142338"/>
          </a:solidFill>
          <a:ln w="12700">
            <a:solidFill>
              <a:srgbClr val="24405F"/>
            </a:solidFill>
            <a:prstDash val="solid"/>
          </a:ln>
        </p:spPr>
      </p:sp>
      <p:sp>
        <p:nvSpPr>
          <p:cNvPr id="6" name="Text 3"/>
          <p:cNvSpPr/>
          <p:nvPr/>
        </p:nvSpPr>
        <p:spPr>
          <a:xfrm>
            <a:off x="621792" y="3456432"/>
            <a:ext cx="10948111" cy="292608"/>
          </a:xfrm>
          <a:prstGeom prst="rect">
            <a:avLst/>
          </a:prstGeom>
          <a:noFill/>
          <a:ln/>
        </p:spPr>
        <p:txBody>
          <a:bodyPr wrap="square" rtlCol="0" anchor="ctr"/>
          <a:lstStyle/>
          <a:p>
            <a:pPr indent="0" marL="0">
              <a:buNone/>
            </a:pPr>
            <a:r>
              <a:rPr lang="en-US" sz="1300" b="1" dirty="0">
                <a:solidFill>
                  <a:srgbClr val="F0A83C"/>
                </a:solidFill>
                <a:latin typeface="Calibri" pitchFamily="34" charset="0"/>
                <a:ea typeface="Calibri" pitchFamily="34" charset="-122"/>
                <a:cs typeface="Calibri" pitchFamily="34" charset="-120"/>
              </a:rPr>
              <a:t>Reading this honestly</a:t>
            </a:r>
            <a:endParaRPr lang="en-US" sz="1300" dirty="0"/>
          </a:p>
        </p:txBody>
      </p:sp>
      <p:sp>
        <p:nvSpPr>
          <p:cNvPr id="7" name="Text 4"/>
          <p:cNvSpPr/>
          <p:nvPr/>
        </p:nvSpPr>
        <p:spPr>
          <a:xfrm>
            <a:off x="621792" y="3785616"/>
            <a:ext cx="10948111" cy="2542032"/>
          </a:xfrm>
          <a:prstGeom prst="rect">
            <a:avLst/>
          </a:prstGeom>
          <a:noFill/>
          <a:ln/>
        </p:spPr>
        <p:txBody>
          <a:bodyPr wrap="square" rtlCol="0" anchor="t"/>
          <a:lstStyle/>
          <a:p>
            <a:pPr marL="177800" indent="-177800">
              <a:lnSpc>
                <a:spcPct val="115000"/>
              </a:lnSpc>
              <a:spcAft>
                <a:spcPts val="600"/>
              </a:spcAft>
              <a:buSzPct val="100000"/>
              <a:buChar char="•"/>
            </a:pPr>
            <a:r>
              <a:rPr lang="en-US" sz="1200" dirty="0">
                <a:solidFill>
                  <a:srgbClr val="CFD9E6"/>
                </a:solidFill>
                <a:latin typeface="Calibri" pitchFamily="34" charset="0"/>
                <a:ea typeface="Calibri" pitchFamily="34" charset="-122"/>
                <a:cs typeface="Calibri" pitchFamily="34" charset="-120"/>
              </a:rPr>
              <a:t>The $2–3/hr tier is the realistic one for this project — spot pricing is cheaper but interruptible, and our own local training history shows this workload already needs babysitting through stalls/OOM without adding preemption risk on top</a:t>
            </a:r>
            <a:endParaRPr lang="en-US" sz="1200" dirty="0"/>
          </a:p>
          <a:p>
            <a:pPr marL="177800" indent="-177800">
              <a:lnSpc>
                <a:spcPct val="115000"/>
              </a:lnSpc>
              <a:spcAft>
                <a:spcPts val="600"/>
              </a:spcAft>
              <a:buSzPct val="100000"/>
              <a:buChar char="•"/>
            </a:pPr>
            <a:r>
              <a:rPr lang="en-US" sz="1200" dirty="0">
                <a:solidFill>
                  <a:srgbClr val="CFD9E6"/>
                </a:solidFill>
                <a:latin typeface="Calibri" pitchFamily="34" charset="0"/>
                <a:ea typeface="Calibri" pitchFamily="34" charset="-122"/>
                <a:cs typeface="Calibri" pitchFamily="34" charset="-120"/>
              </a:rPr>
              <a:t>360 hours is a floor, not a ceiling — it assumes exactly 15 runs at exactly 24h each; several of our actual runs (R29 ~19h, R31 with retries much longer) already sit at or above that per-run estimate</a:t>
            </a:r>
            <a:endParaRPr lang="en-US" sz="1200" dirty="0"/>
          </a:p>
          <a:p>
            <a:pPr marL="177800" indent="-177800">
              <a:lnSpc>
                <a:spcPct val="115000"/>
              </a:lnSpc>
              <a:spcAft>
                <a:spcPts val="600"/>
              </a:spcAft>
              <a:buSzPct val="100000"/>
              <a:buChar char="•"/>
            </a:pPr>
            <a:r>
              <a:rPr lang="en-US" sz="1200" dirty="0">
                <a:solidFill>
                  <a:srgbClr val="CFD9E6"/>
                </a:solidFill>
                <a:latin typeface="Calibri" pitchFamily="34" charset="0"/>
                <a:ea typeface="Calibri" pitchFamily="34" charset="-122"/>
                <a:cs typeface="Calibri" pitchFamily="34" charset="-120"/>
              </a:rPr>
              <a:t>Estimate excludes storage, data egress, and idle-VM billing during setup/data-upload — real spend would run higher in practice</a:t>
            </a:r>
            <a:endParaRPr lang="en-US" sz="1200" dirty="0"/>
          </a:p>
          <a:p>
            <a:pPr marL="177800" indent="-177800">
              <a:lnSpc>
                <a:spcPct val="115000"/>
              </a:lnSpc>
              <a:spcAft>
                <a:spcPts val="600"/>
              </a:spcAft>
              <a:buSzPct val="100000"/>
              <a:buChar char="•"/>
            </a:pPr>
            <a:r>
              <a:rPr lang="en-US" sz="1200" dirty="0">
                <a:solidFill>
                  <a:srgbClr val="CFD9E6"/>
                </a:solidFill>
                <a:latin typeface="Calibri" pitchFamily="34" charset="0"/>
                <a:ea typeface="Calibri" pitchFamily="34" charset="-122"/>
                <a:cs typeface="Calibri" pitchFamily="34" charset="-120"/>
              </a:rPr>
              <a:t>₹70,000 – ₹1,05,000 over just 5 weeks, for an individual MTech project, against $0 marginal cost on already-owned M1 hardware</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A121F"/>
        </a:solidFill>
      </p:bgPr>
    </p:bg>
    <p:spTree>
      <p:nvGrpSpPr>
        <p:cNvPr id="1" name=""/>
        <p:cNvGrpSpPr/>
        <p:nvPr/>
      </p:nvGrpSpPr>
      <p:grpSpPr>
        <a:xfrm>
          <a:off x="0" y="0"/>
          <a:ext cx="0" cy="0"/>
          <a:chOff x="0" y="0"/>
          <a:chExt cx="0" cy="0"/>
        </a:xfrm>
      </p:grpSpPr>
      <p:sp>
        <p:nvSpPr>
          <p:cNvPr id="2" name="Text 0"/>
          <p:cNvSpPr/>
          <p:nvPr/>
        </p:nvSpPr>
        <p:spPr>
          <a:xfrm>
            <a:off x="457200" y="292608"/>
            <a:ext cx="11277295" cy="274320"/>
          </a:xfrm>
          <a:prstGeom prst="rect">
            <a:avLst/>
          </a:prstGeom>
          <a:noFill/>
          <a:ln/>
        </p:spPr>
        <p:txBody>
          <a:bodyPr wrap="square" rtlCol="0" anchor="ctr"/>
          <a:lstStyle/>
          <a:p>
            <a:pPr indent="0" marL="0">
              <a:buNone/>
            </a:pPr>
            <a:r>
              <a:rPr lang="en-US" sz="1100" b="1" spc="150" kern="0" dirty="0">
                <a:solidFill>
                  <a:srgbClr val="5B9BD5"/>
                </a:solidFill>
                <a:latin typeface="Calibri" pitchFamily="34" charset="0"/>
                <a:ea typeface="Calibri" pitchFamily="34" charset="-122"/>
                <a:cs typeface="Calibri" pitchFamily="34" charset="-120"/>
              </a:rPr>
              <a:t>GUIDANCE FOLLOW-UP — DECISION</a:t>
            </a:r>
            <a:endParaRPr lang="en-US" sz="1100" dirty="0"/>
          </a:p>
        </p:txBody>
      </p:sp>
      <p:sp>
        <p:nvSpPr>
          <p:cNvPr id="3" name="Text 1"/>
          <p:cNvSpPr/>
          <p:nvPr/>
        </p:nvSpPr>
        <p:spPr>
          <a:xfrm>
            <a:off x="457200" y="566928"/>
            <a:ext cx="11277295" cy="502920"/>
          </a:xfrm>
          <a:prstGeom prst="rect">
            <a:avLst/>
          </a:prstGeom>
          <a:noFill/>
          <a:ln/>
        </p:spPr>
        <p:txBody>
          <a:bodyPr wrap="square" rtlCol="0" anchor="t"/>
          <a:lstStyle/>
          <a:p>
            <a:pPr indent="0" marL="0">
              <a:buNone/>
            </a:pPr>
            <a:r>
              <a:rPr lang="en-US" sz="2600" b="1" dirty="0">
                <a:solidFill>
                  <a:srgbClr val="E6EDF5"/>
                </a:solidFill>
                <a:latin typeface="Calibri" pitchFamily="34" charset="0"/>
                <a:ea typeface="Calibri" pitchFamily="34" charset="-122"/>
                <a:cs typeface="Calibri" pitchFamily="34" charset="-120"/>
              </a:rPr>
              <a:t>Decision — stay within the original Phase 1 scope</a:t>
            </a:r>
            <a:endParaRPr lang="en-US" sz="2600" dirty="0"/>
          </a:p>
        </p:txBody>
      </p:sp>
      <p:sp>
        <p:nvSpPr>
          <p:cNvPr id="4" name="Shape 2"/>
          <p:cNvSpPr/>
          <p:nvPr/>
        </p:nvSpPr>
        <p:spPr>
          <a:xfrm>
            <a:off x="457200" y="1234440"/>
            <a:ext cx="11277295" cy="1600200"/>
          </a:xfrm>
          <a:prstGeom prst="roundRect">
            <a:avLst>
              <a:gd name="adj" fmla="val 2857"/>
            </a:avLst>
          </a:prstGeom>
          <a:solidFill>
            <a:srgbClr val="142338"/>
          </a:solidFill>
          <a:ln w="15875">
            <a:solidFill>
              <a:srgbClr val="5B9BD5"/>
            </a:solidFill>
            <a:prstDash val="solid"/>
          </a:ln>
        </p:spPr>
      </p:sp>
      <p:sp>
        <p:nvSpPr>
          <p:cNvPr id="5" name="Text 3"/>
          <p:cNvSpPr/>
          <p:nvPr/>
        </p:nvSpPr>
        <p:spPr>
          <a:xfrm>
            <a:off x="713232" y="1371600"/>
            <a:ext cx="10765231" cy="1325880"/>
          </a:xfrm>
          <a:prstGeom prst="rect">
            <a:avLst/>
          </a:prstGeom>
          <a:noFill/>
          <a:ln/>
        </p:spPr>
        <p:txBody>
          <a:bodyPr wrap="square" rtlCol="0" anchor="t"/>
          <a:lstStyle/>
          <a:p>
            <a:pPr indent="0" marL="0">
              <a:lnSpc>
                <a:spcPct val="125000"/>
              </a:lnSpc>
              <a:buNone/>
            </a:pPr>
            <a:r>
              <a:rPr lang="en-US" sz="1250" dirty="0">
                <a:solidFill>
                  <a:srgbClr val="DBE4EE"/>
                </a:solidFill>
                <a:latin typeface="Calibri" pitchFamily="34" charset="0"/>
                <a:ea typeface="Calibri" pitchFamily="34" charset="-122"/>
                <a:cs typeface="Calibri" pitchFamily="34" charset="-120"/>
              </a:rPr>
              <a:t>“The solution is implemented entirely in Python using PyTorch Geometric, without dependency on proprietary CAD software APIs.” — and the dataset curation for this project was explicitly </a:t>
            </a:r>
            <a:pPr indent="0" marL="0">
              <a:lnSpc>
                <a:spcPct val="125000"/>
              </a:lnSpc>
              <a:spcAft>
                <a:spcPts val="600"/>
              </a:spcAft>
              <a:buNone/>
            </a:pPr>
            <a:r>
              <a:rPr lang="en-US" sz="1250" b="1" dirty="0">
                <a:solidFill>
                  <a:srgbClr val="E6EDF5"/>
                </a:solidFill>
                <a:latin typeface="Calibri" pitchFamily="34" charset="0"/>
                <a:ea typeface="Calibri" pitchFamily="34" charset="-122"/>
                <a:cs typeface="Calibri" pitchFamily="34" charset="-120"/>
              </a:rPr>
              <a:t>“sized for M1 MacBook Pro training within individual project submission constraints.”</a:t>
            </a:r>
            <a:endParaRPr lang="en-US" sz="1250" dirty="0"/>
          </a:p>
          <a:p>
            <a:pPr indent="0" marL="0">
              <a:lnSpc>
                <a:spcPct val="125000"/>
              </a:lnSpc>
              <a:buNone/>
            </a:pPr>
            <a:r>
              <a:rPr lang="en-US" sz="1050" dirty="0">
                <a:solidFill>
                  <a:srgbClr val="8AA0B8"/>
                </a:solidFill>
                <a:latin typeface="Calibri" pitchFamily="34" charset="0"/>
                <a:ea typeface="Calibri" pitchFamily="34" charset="-122"/>
                <a:cs typeface="Calibri" pitchFamily="34" charset="-120"/>
              </a:rPr>
              <a:t>— README.md, scope established with Prof. Sagarika Borah during Phase 1</a:t>
            </a:r>
            <a:endParaRPr lang="en-US" sz="1250" dirty="0"/>
          </a:p>
        </p:txBody>
      </p:sp>
      <p:sp>
        <p:nvSpPr>
          <p:cNvPr id="6" name="Shape 4"/>
          <p:cNvSpPr/>
          <p:nvPr/>
        </p:nvSpPr>
        <p:spPr>
          <a:xfrm>
            <a:off x="457200" y="3017520"/>
            <a:ext cx="11277295" cy="3474720"/>
          </a:xfrm>
          <a:prstGeom prst="roundRect">
            <a:avLst>
              <a:gd name="adj" fmla="val 1579"/>
            </a:avLst>
          </a:prstGeom>
          <a:solidFill>
            <a:srgbClr val="142338"/>
          </a:solidFill>
          <a:ln w="12700">
            <a:solidFill>
              <a:srgbClr val="24405F"/>
            </a:solidFill>
            <a:prstDash val="solid"/>
          </a:ln>
        </p:spPr>
      </p:sp>
      <p:sp>
        <p:nvSpPr>
          <p:cNvPr id="7" name="Text 5"/>
          <p:cNvSpPr/>
          <p:nvPr/>
        </p:nvSpPr>
        <p:spPr>
          <a:xfrm>
            <a:off x="621792" y="3182112"/>
            <a:ext cx="10948111" cy="292608"/>
          </a:xfrm>
          <a:prstGeom prst="rect">
            <a:avLst/>
          </a:prstGeom>
          <a:noFill/>
          <a:ln/>
        </p:spPr>
        <p:txBody>
          <a:bodyPr wrap="square" rtlCol="0" anchor="ctr"/>
          <a:lstStyle/>
          <a:p>
            <a:pPr indent="0" marL="0">
              <a:buNone/>
            </a:pPr>
            <a:r>
              <a:rPr lang="en-US" sz="1300" b="1" dirty="0">
                <a:solidFill>
                  <a:srgbClr val="4CAF82"/>
                </a:solidFill>
                <a:latin typeface="Calibri" pitchFamily="34" charset="0"/>
                <a:ea typeface="Calibri" pitchFamily="34" charset="-122"/>
                <a:cs typeface="Calibri" pitchFamily="34" charset="-120"/>
              </a:rPr>
              <a:t>Given the cost research above, staying on local M1 training</a:t>
            </a:r>
            <a:endParaRPr lang="en-US" sz="1300" dirty="0"/>
          </a:p>
        </p:txBody>
      </p:sp>
      <p:sp>
        <p:nvSpPr>
          <p:cNvPr id="8" name="Text 6"/>
          <p:cNvSpPr/>
          <p:nvPr/>
        </p:nvSpPr>
        <p:spPr>
          <a:xfrm>
            <a:off x="621792" y="3511296"/>
            <a:ext cx="10948111" cy="2816352"/>
          </a:xfrm>
          <a:prstGeom prst="rect">
            <a:avLst/>
          </a:prstGeom>
          <a:noFill/>
          <a:ln/>
        </p:spPr>
        <p:txBody>
          <a:bodyPr wrap="square" rtlCol="0" anchor="t"/>
          <a:lstStyle/>
          <a:p>
            <a:pPr marL="177800" indent="-177800">
              <a:lnSpc>
                <a:spcPct val="115000"/>
              </a:lnSpc>
              <a:spcAft>
                <a:spcPts val="600"/>
              </a:spcAft>
              <a:buSzPct val="100000"/>
              <a:buChar char="•"/>
            </a:pPr>
            <a:r>
              <a:rPr lang="en-US" sz="1200" dirty="0">
                <a:solidFill>
                  <a:srgbClr val="CFD9E6"/>
                </a:solidFill>
                <a:latin typeface="Calibri" pitchFamily="34" charset="0"/>
                <a:ea typeface="Calibri" pitchFamily="34" charset="-122"/>
                <a:cs typeface="Calibri" pitchFamily="34" charset="-120"/>
              </a:rPr>
              <a:t>₹70,000–₹1,05,000 for 5 weeks of cloud compute is disproportionate for an individual, self-funded MTech project — the original scope was deliberately sized to run on personal hardware, not a recurring cloud budget</a:t>
            </a:r>
            <a:endParaRPr lang="en-US" sz="1200" dirty="0"/>
          </a:p>
          <a:p>
            <a:pPr marL="177800" indent="-177800">
              <a:lnSpc>
                <a:spcPct val="115000"/>
              </a:lnSpc>
              <a:spcAft>
                <a:spcPts val="600"/>
              </a:spcAft>
              <a:buSzPct val="100000"/>
              <a:buChar char="•"/>
            </a:pPr>
            <a:r>
              <a:rPr lang="en-US" sz="1200" dirty="0">
                <a:solidFill>
                  <a:srgbClr val="CFD9E6"/>
                </a:solidFill>
                <a:latin typeface="Calibri" pitchFamily="34" charset="0"/>
                <a:ea typeface="Calibri" pitchFamily="34" charset="-122"/>
                <a:cs typeface="Calibri" pitchFamily="34" charset="-120"/>
              </a:rPr>
              <a:t>The real lesson from R29→R30→R31 wasn't “we need more compute” — it was “architecture changes help, raw data volume alone doesn't” — a lever we can keep pulling locally without added spend</a:t>
            </a:r>
            <a:endParaRPr lang="en-US" sz="1200" dirty="0"/>
          </a:p>
          <a:p>
            <a:pPr marL="177800" indent="-177800">
              <a:lnSpc>
                <a:spcPct val="115000"/>
              </a:lnSpc>
              <a:spcAft>
                <a:spcPts val="600"/>
              </a:spcAft>
              <a:buSzPct val="100000"/>
              <a:buChar char="•"/>
            </a:pPr>
            <a:r>
              <a:rPr lang="en-US" sz="1200" dirty="0">
                <a:solidFill>
                  <a:srgbClr val="CFD9E6"/>
                </a:solidFill>
                <a:latin typeface="Calibri" pitchFamily="34" charset="0"/>
                <a:ea typeface="Calibri" pitchFamily="34" charset="-122"/>
                <a:cs typeface="Calibri" pitchFamily="34" charset="-120"/>
              </a:rPr>
              <a:t>Cloud compute stays a documented, costed option — not adopted now, but available if a future phase's scope explicitly requires it</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A121F"/>
        </a:solidFill>
      </p:bgPr>
    </p:bg>
    <p:spTree>
      <p:nvGrpSpPr>
        <p:cNvPr id="1" name=""/>
        <p:cNvGrpSpPr/>
        <p:nvPr/>
      </p:nvGrpSpPr>
      <p:grpSpPr>
        <a:xfrm>
          <a:off x="0" y="0"/>
          <a:ext cx="0" cy="0"/>
          <a:chOff x="0" y="0"/>
          <a:chExt cx="0" cy="0"/>
        </a:xfrm>
      </p:grpSpPr>
      <p:sp>
        <p:nvSpPr>
          <p:cNvPr id="2" name="Text 0"/>
          <p:cNvSpPr/>
          <p:nvPr/>
        </p:nvSpPr>
        <p:spPr>
          <a:xfrm>
            <a:off x="457200" y="292608"/>
            <a:ext cx="11277295" cy="274320"/>
          </a:xfrm>
          <a:prstGeom prst="rect">
            <a:avLst/>
          </a:prstGeom>
          <a:noFill/>
          <a:ln/>
        </p:spPr>
        <p:txBody>
          <a:bodyPr wrap="square" rtlCol="0" anchor="ctr"/>
          <a:lstStyle/>
          <a:p>
            <a:pPr indent="0" marL="0">
              <a:buNone/>
            </a:pPr>
            <a:r>
              <a:rPr lang="en-US" sz="1100" b="1" spc="150" kern="0" dirty="0">
                <a:solidFill>
                  <a:srgbClr val="5B9BD5"/>
                </a:solidFill>
                <a:latin typeface="Calibri" pitchFamily="34" charset="0"/>
                <a:ea typeface="Calibri" pitchFamily="34" charset="-122"/>
                <a:cs typeface="Calibri" pitchFamily="34" charset="-120"/>
              </a:rPr>
              <a:t>GUIDANCE FOLLOW-UP</a:t>
            </a:r>
            <a:endParaRPr lang="en-US" sz="1100" dirty="0"/>
          </a:p>
        </p:txBody>
      </p:sp>
      <p:sp>
        <p:nvSpPr>
          <p:cNvPr id="3" name="Text 1"/>
          <p:cNvSpPr/>
          <p:nvPr/>
        </p:nvSpPr>
        <p:spPr>
          <a:xfrm>
            <a:off x="457200" y="566928"/>
            <a:ext cx="11277295" cy="502920"/>
          </a:xfrm>
          <a:prstGeom prst="rect">
            <a:avLst/>
          </a:prstGeom>
          <a:noFill/>
          <a:ln/>
        </p:spPr>
        <p:txBody>
          <a:bodyPr wrap="square" rtlCol="0" anchor="t"/>
          <a:lstStyle/>
          <a:p>
            <a:pPr indent="0" marL="0">
              <a:buNone/>
            </a:pPr>
            <a:r>
              <a:rPr lang="en-US" sz="2600" b="1" dirty="0">
                <a:solidFill>
                  <a:srgbClr val="E6EDF5"/>
                </a:solidFill>
                <a:latin typeface="Calibri" pitchFamily="34" charset="0"/>
                <a:ea typeface="Calibri" pitchFamily="34" charset="-122"/>
                <a:cs typeface="Calibri" pitchFamily="34" charset="-120"/>
              </a:rPr>
              <a:t>Suggestion from Prof. Gaurav Siwal</a:t>
            </a:r>
            <a:endParaRPr lang="en-US" sz="2600" dirty="0"/>
          </a:p>
        </p:txBody>
      </p:sp>
      <p:sp>
        <p:nvSpPr>
          <p:cNvPr id="4" name="Shape 2"/>
          <p:cNvSpPr/>
          <p:nvPr/>
        </p:nvSpPr>
        <p:spPr>
          <a:xfrm>
            <a:off x="457200" y="1234440"/>
            <a:ext cx="11277295" cy="5120640"/>
          </a:xfrm>
          <a:prstGeom prst="roundRect">
            <a:avLst>
              <a:gd name="adj" fmla="val 1071"/>
            </a:avLst>
          </a:prstGeom>
          <a:solidFill>
            <a:srgbClr val="142338"/>
          </a:solidFill>
          <a:ln w="12700">
            <a:solidFill>
              <a:srgbClr val="24405F"/>
            </a:solidFill>
            <a:prstDash val="solid"/>
          </a:ln>
        </p:spPr>
      </p:sp>
      <p:sp>
        <p:nvSpPr>
          <p:cNvPr id="5" name="Text 3"/>
          <p:cNvSpPr/>
          <p:nvPr/>
        </p:nvSpPr>
        <p:spPr>
          <a:xfrm>
            <a:off x="621792" y="1399032"/>
            <a:ext cx="10948111" cy="292608"/>
          </a:xfrm>
          <a:prstGeom prst="rect">
            <a:avLst/>
          </a:prstGeom>
          <a:noFill/>
          <a:ln/>
        </p:spPr>
        <p:txBody>
          <a:bodyPr wrap="square" rtlCol="0" anchor="ctr"/>
          <a:lstStyle/>
          <a:p>
            <a:pPr indent="0" marL="0">
              <a:buNone/>
            </a:pPr>
            <a:r>
              <a:rPr lang="en-US" sz="1300" b="1" dirty="0">
                <a:solidFill>
                  <a:srgbClr val="8B5CF6"/>
                </a:solidFill>
                <a:latin typeface="Calibri" pitchFamily="34" charset="0"/>
                <a:ea typeface="Calibri" pitchFamily="34" charset="-122"/>
                <a:cs typeface="Calibri" pitchFamily="34" charset="-120"/>
              </a:rPr>
              <a:t>From prediction to synthesis</a:t>
            </a:r>
            <a:endParaRPr lang="en-US" sz="1300" dirty="0"/>
          </a:p>
        </p:txBody>
      </p:sp>
      <p:sp>
        <p:nvSpPr>
          <p:cNvPr id="6" name="Text 4"/>
          <p:cNvSpPr/>
          <p:nvPr/>
        </p:nvSpPr>
        <p:spPr>
          <a:xfrm>
            <a:off x="713232" y="1874520"/>
            <a:ext cx="10765231" cy="1188720"/>
          </a:xfrm>
          <a:prstGeom prst="rect">
            <a:avLst/>
          </a:prstGeom>
          <a:noFill/>
          <a:ln/>
        </p:spPr>
        <p:txBody>
          <a:bodyPr wrap="square" rtlCol="0" anchor="t"/>
          <a:lstStyle/>
          <a:p>
            <a:pPr indent="0" marL="0">
              <a:lnSpc>
                <a:spcPct val="130000"/>
              </a:lnSpc>
              <a:buNone/>
            </a:pPr>
            <a:r>
              <a:rPr lang="en-US" sz="1300" dirty="0">
                <a:solidFill>
                  <a:srgbClr val="CFD9E6"/>
                </a:solidFill>
                <a:latin typeface="Calibri" pitchFamily="34" charset="0"/>
                <a:ea typeface="Calibri" pitchFamily="34" charset="-122"/>
                <a:cs typeface="Calibri" pitchFamily="34" charset="-120"/>
              </a:rPr>
              <a:t>During the Phase 2 guidance call, Prof. Siwal raised a natural extension of the current scope: the system today predicts that a component is missing, where it likely belongs, and what type it probably is — but stops short of producing the component itself. The suggestion was to explore whether the project could also generate an actual 3D model of the missing component, not just describe it.</a:t>
            </a:r>
            <a:endParaRPr lang="en-US" sz="1300" dirty="0"/>
          </a:p>
        </p:txBody>
      </p:sp>
      <p:sp>
        <p:nvSpPr>
          <p:cNvPr id="7" name="Text 5"/>
          <p:cNvSpPr/>
          <p:nvPr/>
        </p:nvSpPr>
        <p:spPr>
          <a:xfrm>
            <a:off x="713232" y="3200400"/>
            <a:ext cx="10765231" cy="2926080"/>
          </a:xfrm>
          <a:prstGeom prst="rect">
            <a:avLst/>
          </a:prstGeom>
          <a:noFill/>
          <a:ln/>
        </p:spPr>
        <p:txBody>
          <a:bodyPr wrap="square" rtlCol="0" anchor="t"/>
          <a:lstStyle/>
          <a:p>
            <a:pPr marL="177800" indent="-177800">
              <a:spcAft>
                <a:spcPts val="600"/>
              </a:spcAft>
              <a:buSzPct val="100000"/>
              <a:buChar char="•"/>
            </a:pPr>
            <a:r>
              <a:rPr lang="en-US" sz="1250" dirty="0">
                <a:solidFill>
                  <a:srgbClr val="CFD9E6"/>
                </a:solidFill>
                <a:latin typeface="Calibri" pitchFamily="34" charset="0"/>
                <a:ea typeface="Calibri" pitchFamily="34" charset="-122"/>
                <a:cs typeface="Calibri" pitchFamily="34" charset="-120"/>
              </a:rPr>
              <a:t>Would close the loop: detect → localize → classify → </a:t>
            </a:r>
            <a:endParaRPr lang="en-US" sz="1250" dirty="0"/>
          </a:p>
          <a:p>
            <a:pPr indent="0" marL="0">
              <a:buNone/>
            </a:pPr>
            <a:r>
              <a:rPr lang="en-US" sz="1250" b="1" dirty="0">
                <a:solidFill>
                  <a:srgbClr val="E6EDF5"/>
                </a:solidFill>
                <a:latin typeface="Calibri" pitchFamily="34" charset="0"/>
                <a:ea typeface="Calibri" pitchFamily="34" charset="-122"/>
                <a:cs typeface="Calibri" pitchFamily="34" charset="-120"/>
              </a:rPr>
              <a:t>generate</a:t>
            </a:r>
            <a:pPr indent="0" marL="0">
              <a:buNone/>
            </a:pPr>
            <a:r>
              <a:rPr lang="en-US" sz="1250" dirty="0">
                <a:solidFill>
                  <a:srgbClr val="CFD9E6"/>
                </a:solidFill>
                <a:latin typeface="Calibri" pitchFamily="34" charset="0"/>
                <a:ea typeface="Calibri" pitchFamily="34" charset="-122"/>
                <a:cs typeface="Calibri" pitchFamily="34" charset="-120"/>
              </a:rPr>
              <a:t> → (eventually) insert into the assembly</a:t>
            </a:r>
            <a:endParaRPr lang="en-US" sz="1250" dirty="0"/>
          </a:p>
          <a:p>
            <a:pPr marL="177800" indent="-177800">
              <a:spcAft>
                <a:spcPts val="600"/>
              </a:spcAft>
              <a:buSzPct val="100000"/>
              <a:buChar char="•"/>
            </a:pPr>
            <a:r>
              <a:rPr lang="en-US" sz="1250" dirty="0">
                <a:solidFill>
                  <a:srgbClr val="CFD9E6"/>
                </a:solidFill>
                <a:latin typeface="Calibri" pitchFamily="34" charset="0"/>
                <a:ea typeface="Calibri" pitchFamily="34" charset="-122"/>
                <a:cs typeface="Calibri" pitchFamily="34" charset="-120"/>
              </a:rPr>
              <a:t>A substantial scope increase — geometry synthesis is a different ML problem class (generative 3D modeling) from the graph classification/ranking done so far</a:t>
            </a:r>
            <a:endParaRPr lang="en-US" sz="1250" dirty="0"/>
          </a:p>
          <a:p>
            <a:pPr marL="177800" indent="-177800">
              <a:spcAft>
                <a:spcPts val="600"/>
              </a:spcAft>
              <a:buSzPct val="100000"/>
              <a:buChar char="•"/>
            </a:pPr>
            <a:r>
              <a:rPr lang="en-US" sz="1250" dirty="0">
                <a:solidFill>
                  <a:srgbClr val="CFD9E6"/>
                </a:solidFill>
                <a:latin typeface="Calibri" pitchFamily="34" charset="0"/>
                <a:ea typeface="Calibri" pitchFamily="34" charset="-122"/>
                <a:cs typeface="Calibri" pitchFamily="34" charset="-120"/>
              </a:rPr>
              <a:t>We scoped two candidate technical approaches (Path A / Path B, next slides) and assessed both against the remaining Phase 2 timeline</a:t>
            </a:r>
            <a:endParaRPr lang="en-US" sz="12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A121F"/>
        </a:solidFill>
      </p:bgPr>
    </p:bg>
    <p:spTree>
      <p:nvGrpSpPr>
        <p:cNvPr id="1" name=""/>
        <p:cNvGrpSpPr/>
        <p:nvPr/>
      </p:nvGrpSpPr>
      <p:grpSpPr>
        <a:xfrm>
          <a:off x="0" y="0"/>
          <a:ext cx="0" cy="0"/>
          <a:chOff x="0" y="0"/>
          <a:chExt cx="0" cy="0"/>
        </a:xfrm>
      </p:grpSpPr>
      <p:sp>
        <p:nvSpPr>
          <p:cNvPr id="2" name="Text 0"/>
          <p:cNvSpPr/>
          <p:nvPr/>
        </p:nvSpPr>
        <p:spPr>
          <a:xfrm>
            <a:off x="457200" y="292608"/>
            <a:ext cx="11277295" cy="274320"/>
          </a:xfrm>
          <a:prstGeom prst="rect">
            <a:avLst/>
          </a:prstGeom>
          <a:noFill/>
          <a:ln/>
        </p:spPr>
        <p:txBody>
          <a:bodyPr wrap="square" rtlCol="0" anchor="ctr"/>
          <a:lstStyle/>
          <a:p>
            <a:pPr indent="0" marL="0">
              <a:buNone/>
            </a:pPr>
            <a:r>
              <a:rPr lang="en-US" sz="1100" b="1" spc="150" kern="0" dirty="0">
                <a:solidFill>
                  <a:srgbClr val="5B9BD5"/>
                </a:solidFill>
                <a:latin typeface="Calibri" pitchFamily="34" charset="0"/>
                <a:ea typeface="Calibri" pitchFamily="34" charset="-122"/>
                <a:cs typeface="Calibri" pitchFamily="34" charset="-120"/>
              </a:rPr>
              <a:t>GUIDANCE FOLLOW-UP — PHASE 3 SCOPE</a:t>
            </a:r>
            <a:endParaRPr lang="en-US" sz="1100" dirty="0"/>
          </a:p>
        </p:txBody>
      </p:sp>
      <p:sp>
        <p:nvSpPr>
          <p:cNvPr id="3" name="Text 1"/>
          <p:cNvSpPr/>
          <p:nvPr/>
        </p:nvSpPr>
        <p:spPr>
          <a:xfrm>
            <a:off x="457200" y="566928"/>
            <a:ext cx="11277295" cy="502920"/>
          </a:xfrm>
          <a:prstGeom prst="rect">
            <a:avLst/>
          </a:prstGeom>
          <a:noFill/>
          <a:ln/>
        </p:spPr>
        <p:txBody>
          <a:bodyPr wrap="square" rtlCol="0" anchor="t"/>
          <a:lstStyle/>
          <a:p>
            <a:pPr indent="0" marL="0">
              <a:buNone/>
            </a:pPr>
            <a:r>
              <a:rPr lang="en-US" sz="2600" b="1" dirty="0">
                <a:solidFill>
                  <a:srgbClr val="E6EDF5"/>
                </a:solidFill>
                <a:latin typeface="Calibri" pitchFamily="34" charset="0"/>
                <a:ea typeface="Calibri" pitchFamily="34" charset="-122"/>
                <a:cs typeface="Calibri" pitchFamily="34" charset="-120"/>
              </a:rPr>
              <a:t>Path A vs Path B — architecture options</a:t>
            </a:r>
            <a:endParaRPr lang="en-US" sz="2600" dirty="0"/>
          </a:p>
        </p:txBody>
      </p:sp>
      <p:sp>
        <p:nvSpPr>
          <p:cNvPr id="4" name="Text 2"/>
          <p:cNvSpPr/>
          <p:nvPr/>
        </p:nvSpPr>
        <p:spPr>
          <a:xfrm>
            <a:off x="457200" y="1207008"/>
            <a:ext cx="5455768" cy="320040"/>
          </a:xfrm>
          <a:prstGeom prst="rect">
            <a:avLst/>
          </a:prstGeom>
          <a:noFill/>
          <a:ln/>
        </p:spPr>
        <p:txBody>
          <a:bodyPr wrap="square" rtlCol="0" anchor="ctr"/>
          <a:lstStyle/>
          <a:p>
            <a:pPr indent="0" marL="0">
              <a:buNone/>
            </a:pPr>
            <a:r>
              <a:rPr lang="en-US" sz="1400" b="1" dirty="0">
                <a:solidFill>
                  <a:srgbClr val="5B9BD5"/>
                </a:solidFill>
                <a:latin typeface="Calibri" pitchFamily="34" charset="0"/>
                <a:ea typeface="Calibri" pitchFamily="34" charset="-122"/>
                <a:cs typeface="Calibri" pitchFamily="34" charset="-120"/>
              </a:rPr>
              <a:t>Path A — Retrieval &amp;amp; Parametric Fit</a:t>
            </a:r>
            <a:endParaRPr lang="en-US" sz="1400" dirty="0"/>
          </a:p>
        </p:txBody>
      </p:sp>
      <p:sp>
        <p:nvSpPr>
          <p:cNvPr id="5" name="Shape 3"/>
          <p:cNvSpPr/>
          <p:nvPr/>
        </p:nvSpPr>
        <p:spPr>
          <a:xfrm>
            <a:off x="457200" y="1600200"/>
            <a:ext cx="5455768" cy="566928"/>
          </a:xfrm>
          <a:prstGeom prst="roundRect">
            <a:avLst>
              <a:gd name="adj" fmla="val 8065"/>
            </a:avLst>
          </a:prstGeom>
          <a:solidFill>
            <a:srgbClr val="1E1638"/>
          </a:solidFill>
          <a:ln w="12700">
            <a:solidFill>
              <a:srgbClr val="F0A83C"/>
            </a:solidFill>
            <a:prstDash val="dash"/>
          </a:ln>
        </p:spPr>
      </p:sp>
      <p:sp>
        <p:nvSpPr>
          <p:cNvPr id="6" name="Text 4"/>
          <p:cNvSpPr/>
          <p:nvPr/>
        </p:nvSpPr>
        <p:spPr>
          <a:xfrm>
            <a:off x="502920" y="1600200"/>
            <a:ext cx="5364328" cy="566928"/>
          </a:xfrm>
          <a:prstGeom prst="rect">
            <a:avLst/>
          </a:prstGeom>
          <a:noFill/>
          <a:ln/>
        </p:spPr>
        <p:txBody>
          <a:bodyPr wrap="square" rtlCol="0" anchor="ctr"/>
          <a:lstStyle/>
          <a:p>
            <a:pPr algn="ctr" indent="0" marL="0">
              <a:buNone/>
            </a:pPr>
            <a:r>
              <a:rPr lang="en-US" sz="1050" b="1" dirty="0">
                <a:solidFill>
                  <a:srgbClr val="E6EDF5"/>
                </a:solidFill>
                <a:latin typeface="Calibri" pitchFamily="34" charset="0"/>
                <a:ea typeface="Calibri" pitchFamily="34" charset="-122"/>
                <a:cs typeface="Calibri" pitchFamily="34" charset="-120"/>
              </a:rPr>
              <a:t>Node Ranker output</a:t>
            </a:r>
            <a:endParaRPr lang="en-US" sz="1050" dirty="0"/>
          </a:p>
          <a:p>
            <a:pPr algn="ctr" indent="0" marL="0">
              <a:buNone/>
            </a:pPr>
            <a:r>
              <a:rPr lang="en-US" sz="900" dirty="0">
                <a:solidFill>
                  <a:srgbClr val="8AA0B8"/>
                </a:solidFill>
                <a:latin typeface="Calibri" pitchFamily="34" charset="0"/>
                <a:ea typeface="Calibri" pitchFamily="34" charset="-122"/>
                <a:cs typeface="Calibri" pitchFamily="34" charset="-120"/>
              </a:rPr>
              <a:t>predicted type + context vector</a:t>
            </a:r>
            <a:endParaRPr lang="en-US" sz="1050" dirty="0"/>
          </a:p>
        </p:txBody>
      </p:sp>
      <p:sp>
        <p:nvSpPr>
          <p:cNvPr id="7" name="Text 5"/>
          <p:cNvSpPr/>
          <p:nvPr/>
        </p:nvSpPr>
        <p:spPr>
          <a:xfrm>
            <a:off x="2910764" y="2167128"/>
            <a:ext cx="548640" cy="274320"/>
          </a:xfrm>
          <a:prstGeom prst="rect">
            <a:avLst/>
          </a:prstGeom>
          <a:noFill/>
          <a:ln/>
        </p:spPr>
        <p:txBody>
          <a:bodyPr wrap="square" rtlCol="0" anchor="ctr"/>
          <a:lstStyle/>
          <a:p>
            <a:pPr algn="ctr" indent="0" marL="0">
              <a:buNone/>
            </a:pPr>
            <a:r>
              <a:rPr lang="en-US" sz="1600" dirty="0">
                <a:solidFill>
                  <a:srgbClr val="8AA0B8"/>
                </a:solidFill>
                <a:latin typeface="Calibri" pitchFamily="34" charset="0"/>
                <a:ea typeface="Calibri" pitchFamily="34" charset="-122"/>
                <a:cs typeface="Calibri" pitchFamily="34" charset="-120"/>
              </a:rPr>
              <a:t>↓</a:t>
            </a:r>
            <a:endParaRPr lang="en-US" sz="1600" dirty="0"/>
          </a:p>
        </p:txBody>
      </p:sp>
      <p:sp>
        <p:nvSpPr>
          <p:cNvPr id="8" name="Shape 6"/>
          <p:cNvSpPr/>
          <p:nvPr/>
        </p:nvSpPr>
        <p:spPr>
          <a:xfrm>
            <a:off x="457200" y="2459736"/>
            <a:ext cx="5455768" cy="566928"/>
          </a:xfrm>
          <a:prstGeom prst="roundRect">
            <a:avLst>
              <a:gd name="adj" fmla="val 8065"/>
            </a:avLst>
          </a:prstGeom>
          <a:solidFill>
            <a:srgbClr val="1E1638"/>
          </a:solidFill>
          <a:ln w="12700">
            <a:solidFill>
              <a:srgbClr val="F0A83C"/>
            </a:solidFill>
            <a:prstDash val="dash"/>
          </a:ln>
        </p:spPr>
      </p:sp>
      <p:sp>
        <p:nvSpPr>
          <p:cNvPr id="9" name="Text 7"/>
          <p:cNvSpPr/>
          <p:nvPr/>
        </p:nvSpPr>
        <p:spPr>
          <a:xfrm>
            <a:off x="502920" y="2459736"/>
            <a:ext cx="5364328" cy="566928"/>
          </a:xfrm>
          <a:prstGeom prst="rect">
            <a:avLst/>
          </a:prstGeom>
          <a:noFill/>
          <a:ln/>
        </p:spPr>
        <p:txBody>
          <a:bodyPr wrap="square" rtlCol="0" anchor="ctr"/>
          <a:lstStyle/>
          <a:p>
            <a:pPr algn="ctr" indent="0" marL="0">
              <a:buNone/>
            </a:pPr>
            <a:r>
              <a:rPr lang="en-US" sz="1050" b="1" dirty="0">
                <a:solidFill>
                  <a:srgbClr val="F0A83C"/>
                </a:solidFill>
                <a:latin typeface="Calibri" pitchFamily="34" charset="0"/>
                <a:ea typeface="Calibri" pitchFamily="34" charset="-122"/>
                <a:cs typeface="Calibri" pitchFamily="34" charset="-120"/>
              </a:rPr>
              <a:t>Component library retrieval</a:t>
            </a:r>
            <a:endParaRPr lang="en-US" sz="1050" dirty="0"/>
          </a:p>
          <a:p>
            <a:pPr algn="ctr" indent="0" marL="0">
              <a:buNone/>
            </a:pPr>
            <a:r>
              <a:rPr lang="en-US" sz="900" dirty="0">
                <a:solidFill>
                  <a:srgbClr val="F0A83C"/>
                </a:solidFill>
                <a:latin typeface="Calibri" pitchFamily="34" charset="0"/>
                <a:ea typeface="Calibri" pitchFamily="34" charset="-122"/>
                <a:cs typeface="Calibri" pitchFamily="34" charset="-120"/>
              </a:rPr>
              <a:t>nearest-neighbor match by type + shape descriptor</a:t>
            </a:r>
            <a:endParaRPr lang="en-US" sz="1050" dirty="0"/>
          </a:p>
        </p:txBody>
      </p:sp>
      <p:sp>
        <p:nvSpPr>
          <p:cNvPr id="10" name="Text 8"/>
          <p:cNvSpPr/>
          <p:nvPr/>
        </p:nvSpPr>
        <p:spPr>
          <a:xfrm>
            <a:off x="2910764" y="3026664"/>
            <a:ext cx="548640" cy="274320"/>
          </a:xfrm>
          <a:prstGeom prst="rect">
            <a:avLst/>
          </a:prstGeom>
          <a:noFill/>
          <a:ln/>
        </p:spPr>
        <p:txBody>
          <a:bodyPr wrap="square" rtlCol="0" anchor="ctr"/>
          <a:lstStyle/>
          <a:p>
            <a:pPr algn="ctr" indent="0" marL="0">
              <a:buNone/>
            </a:pPr>
            <a:r>
              <a:rPr lang="en-US" sz="1600" dirty="0">
                <a:solidFill>
                  <a:srgbClr val="8AA0B8"/>
                </a:solidFill>
                <a:latin typeface="Calibri" pitchFamily="34" charset="0"/>
                <a:ea typeface="Calibri" pitchFamily="34" charset="-122"/>
                <a:cs typeface="Calibri" pitchFamily="34" charset="-120"/>
              </a:rPr>
              <a:t>↓</a:t>
            </a:r>
            <a:endParaRPr lang="en-US" sz="1600" dirty="0"/>
          </a:p>
        </p:txBody>
      </p:sp>
      <p:sp>
        <p:nvSpPr>
          <p:cNvPr id="11" name="Shape 9"/>
          <p:cNvSpPr/>
          <p:nvPr/>
        </p:nvSpPr>
        <p:spPr>
          <a:xfrm>
            <a:off x="457200" y="3319272"/>
            <a:ext cx="5455768" cy="566928"/>
          </a:xfrm>
          <a:prstGeom prst="roundRect">
            <a:avLst>
              <a:gd name="adj" fmla="val 8065"/>
            </a:avLst>
          </a:prstGeom>
          <a:solidFill>
            <a:srgbClr val="1E1638"/>
          </a:solidFill>
          <a:ln w="12700">
            <a:solidFill>
              <a:srgbClr val="F0A83C"/>
            </a:solidFill>
            <a:prstDash val="dash"/>
          </a:ln>
        </p:spPr>
      </p:sp>
      <p:sp>
        <p:nvSpPr>
          <p:cNvPr id="12" name="Text 10"/>
          <p:cNvSpPr/>
          <p:nvPr/>
        </p:nvSpPr>
        <p:spPr>
          <a:xfrm>
            <a:off x="502920" y="3319272"/>
            <a:ext cx="5364328" cy="566928"/>
          </a:xfrm>
          <a:prstGeom prst="rect">
            <a:avLst/>
          </a:prstGeom>
          <a:noFill/>
          <a:ln/>
        </p:spPr>
        <p:txBody>
          <a:bodyPr wrap="square" rtlCol="0" anchor="ctr"/>
          <a:lstStyle/>
          <a:p>
            <a:pPr algn="ctr" indent="0" marL="0">
              <a:buNone/>
            </a:pPr>
            <a:r>
              <a:rPr lang="en-US" sz="1050" b="1" dirty="0">
                <a:solidFill>
                  <a:srgbClr val="F0A83C"/>
                </a:solidFill>
                <a:latin typeface="Calibri" pitchFamily="34" charset="0"/>
                <a:ea typeface="Calibri" pitchFamily="34" charset="-122"/>
                <a:cs typeface="Calibri" pitchFamily="34" charset="-120"/>
              </a:rPr>
              <a:t>Parametric fit</a:t>
            </a:r>
            <a:endParaRPr lang="en-US" sz="1050" dirty="0"/>
          </a:p>
          <a:p>
            <a:pPr algn="ctr" indent="0" marL="0">
              <a:buNone/>
            </a:pPr>
            <a:r>
              <a:rPr lang="en-US" sz="900" dirty="0">
                <a:solidFill>
                  <a:srgbClr val="F0A83C"/>
                </a:solidFill>
                <a:latin typeface="Calibri" pitchFamily="34" charset="0"/>
                <a:ea typeface="Calibri" pitchFamily="34" charset="-122"/>
                <a:cs typeface="Calibri" pitchFamily="34" charset="-120"/>
              </a:rPr>
              <a:t>scale/orient to bbox + mate-point regression</a:t>
            </a:r>
            <a:endParaRPr lang="en-US" sz="1050" dirty="0"/>
          </a:p>
        </p:txBody>
      </p:sp>
      <p:sp>
        <p:nvSpPr>
          <p:cNvPr id="13" name="Text 11"/>
          <p:cNvSpPr/>
          <p:nvPr/>
        </p:nvSpPr>
        <p:spPr>
          <a:xfrm>
            <a:off x="2910764" y="3886200"/>
            <a:ext cx="548640" cy="274320"/>
          </a:xfrm>
          <a:prstGeom prst="rect">
            <a:avLst/>
          </a:prstGeom>
          <a:noFill/>
          <a:ln/>
        </p:spPr>
        <p:txBody>
          <a:bodyPr wrap="square" rtlCol="0" anchor="ctr"/>
          <a:lstStyle/>
          <a:p>
            <a:pPr algn="ctr" indent="0" marL="0">
              <a:buNone/>
            </a:pPr>
            <a:r>
              <a:rPr lang="en-US" sz="1600" dirty="0">
                <a:solidFill>
                  <a:srgbClr val="8AA0B8"/>
                </a:solidFill>
                <a:latin typeface="Calibri" pitchFamily="34" charset="0"/>
                <a:ea typeface="Calibri" pitchFamily="34" charset="-122"/>
                <a:cs typeface="Calibri" pitchFamily="34" charset="-120"/>
              </a:rPr>
              <a:t>↓</a:t>
            </a:r>
            <a:endParaRPr lang="en-US" sz="1600" dirty="0"/>
          </a:p>
        </p:txBody>
      </p:sp>
      <p:sp>
        <p:nvSpPr>
          <p:cNvPr id="14" name="Shape 12"/>
          <p:cNvSpPr/>
          <p:nvPr/>
        </p:nvSpPr>
        <p:spPr>
          <a:xfrm>
            <a:off x="457200" y="4178808"/>
            <a:ext cx="5455768" cy="566928"/>
          </a:xfrm>
          <a:prstGeom prst="roundRect">
            <a:avLst>
              <a:gd name="adj" fmla="val 8065"/>
            </a:avLst>
          </a:prstGeom>
          <a:solidFill>
            <a:srgbClr val="1E1638"/>
          </a:solidFill>
          <a:ln w="12700">
            <a:solidFill>
              <a:srgbClr val="F0A83C"/>
            </a:solidFill>
            <a:prstDash val="dash"/>
          </a:ln>
        </p:spPr>
      </p:sp>
      <p:sp>
        <p:nvSpPr>
          <p:cNvPr id="15" name="Text 13"/>
          <p:cNvSpPr/>
          <p:nvPr/>
        </p:nvSpPr>
        <p:spPr>
          <a:xfrm>
            <a:off x="502920" y="4178808"/>
            <a:ext cx="5364328" cy="566928"/>
          </a:xfrm>
          <a:prstGeom prst="rect">
            <a:avLst/>
          </a:prstGeom>
          <a:noFill/>
          <a:ln/>
        </p:spPr>
        <p:txBody>
          <a:bodyPr wrap="square" rtlCol="0" anchor="ctr"/>
          <a:lstStyle/>
          <a:p>
            <a:pPr algn="ctr" indent="0" marL="0">
              <a:buNone/>
            </a:pPr>
            <a:r>
              <a:rPr lang="en-US" sz="1050" b="1" dirty="0">
                <a:solidFill>
                  <a:srgbClr val="E6EDF5"/>
                </a:solidFill>
                <a:latin typeface="Calibri" pitchFamily="34" charset="0"/>
                <a:ea typeface="Calibri" pitchFamily="34" charset="-122"/>
                <a:cs typeface="Calibri" pitchFamily="34" charset="-120"/>
              </a:rPr>
              <a:t>Fitted STEP/BREP geometry</a:t>
            </a:r>
            <a:endParaRPr lang="en-US" sz="1050" dirty="0"/>
          </a:p>
        </p:txBody>
      </p:sp>
      <p:sp>
        <p:nvSpPr>
          <p:cNvPr id="16" name="Shape 14"/>
          <p:cNvSpPr/>
          <p:nvPr/>
        </p:nvSpPr>
        <p:spPr>
          <a:xfrm>
            <a:off x="457200" y="4855464"/>
            <a:ext cx="5455768" cy="1545336"/>
          </a:xfrm>
          <a:prstGeom prst="roundRect">
            <a:avLst>
              <a:gd name="adj" fmla="val 3550"/>
            </a:avLst>
          </a:prstGeom>
          <a:solidFill>
            <a:srgbClr val="142338"/>
          </a:solidFill>
          <a:ln w="12700">
            <a:solidFill>
              <a:srgbClr val="24405F"/>
            </a:solidFill>
            <a:prstDash val="solid"/>
          </a:ln>
        </p:spPr>
      </p:sp>
      <p:sp>
        <p:nvSpPr>
          <p:cNvPr id="17" name="Text 15"/>
          <p:cNvSpPr/>
          <p:nvPr/>
        </p:nvSpPr>
        <p:spPr>
          <a:xfrm>
            <a:off x="621792" y="5020056"/>
            <a:ext cx="5126584" cy="1216152"/>
          </a:xfrm>
          <a:prstGeom prst="rect">
            <a:avLst/>
          </a:prstGeom>
          <a:noFill/>
          <a:ln/>
        </p:spPr>
        <p:txBody>
          <a:bodyPr wrap="square" rtlCol="0" anchor="t"/>
          <a:lstStyle/>
          <a:p>
            <a:pPr marL="177800" indent="-177800">
              <a:lnSpc>
                <a:spcPct val="115000"/>
              </a:lnSpc>
              <a:spcAft>
                <a:spcPts val="600"/>
              </a:spcAft>
              <a:buSzPct val="100000"/>
              <a:buChar char="•"/>
            </a:pPr>
            <a:r>
              <a:rPr lang="en-US" sz="1200" dirty="0">
                <a:solidFill>
                  <a:srgbClr val="CFD9E6"/>
                </a:solidFill>
                <a:latin typeface="Calibri" pitchFamily="34" charset="0"/>
                <a:ea typeface="Calibri" pitchFamily="34" charset="-122"/>
                <a:cs typeface="Calibri" pitchFamily="34" charset="-120"/>
              </a:rPr>
              <a:t>Lower risk — reuses existing template DB + real CAD geometry (always valid BREP, no mesh cleanup)</a:t>
            </a:r>
            <a:endParaRPr lang="en-US" sz="1200" dirty="0"/>
          </a:p>
          <a:p>
            <a:pPr marL="177800" indent="-177800">
              <a:lnSpc>
                <a:spcPct val="115000"/>
              </a:lnSpc>
              <a:spcAft>
                <a:spcPts val="600"/>
              </a:spcAft>
              <a:buSzPct val="100000"/>
              <a:buChar char="•"/>
            </a:pPr>
            <a:r>
              <a:rPr lang="en-US" sz="1200" dirty="0">
                <a:solidFill>
                  <a:srgbClr val="CFD9E6"/>
                </a:solidFill>
                <a:latin typeface="Calibri" pitchFamily="34" charset="0"/>
                <a:ea typeface="Calibri" pitchFamily="34" charset="-122"/>
                <a:cs typeface="Calibri" pitchFamily="34" charset="-120"/>
              </a:rPr>
              <a:t>Ceiling capped by library coverage — novel/unusual components won't retrieve well</a:t>
            </a:r>
            <a:endParaRPr lang="en-US" sz="1200" dirty="0"/>
          </a:p>
        </p:txBody>
      </p:sp>
      <p:sp>
        <p:nvSpPr>
          <p:cNvPr id="18" name="Text 16"/>
          <p:cNvSpPr/>
          <p:nvPr/>
        </p:nvSpPr>
        <p:spPr>
          <a:xfrm>
            <a:off x="6278728" y="1207008"/>
            <a:ext cx="5455768" cy="320040"/>
          </a:xfrm>
          <a:prstGeom prst="rect">
            <a:avLst/>
          </a:prstGeom>
          <a:noFill/>
          <a:ln/>
        </p:spPr>
        <p:txBody>
          <a:bodyPr wrap="square" rtlCol="0" anchor="ctr"/>
          <a:lstStyle/>
          <a:p>
            <a:pPr indent="0" marL="0">
              <a:buNone/>
            </a:pPr>
            <a:r>
              <a:rPr lang="en-US" sz="1400" b="1" dirty="0">
                <a:solidFill>
                  <a:srgbClr val="8B5CF6"/>
                </a:solidFill>
                <a:latin typeface="Calibri" pitchFamily="34" charset="0"/>
                <a:ea typeface="Calibri" pitchFamily="34" charset="-122"/>
                <a:cs typeface="Calibri" pitchFamily="34" charset="-120"/>
              </a:rPr>
              <a:t>Path B — Generative 3D Synthesis</a:t>
            </a:r>
            <a:endParaRPr lang="en-US" sz="1400" dirty="0"/>
          </a:p>
        </p:txBody>
      </p:sp>
      <p:sp>
        <p:nvSpPr>
          <p:cNvPr id="19" name="Shape 17"/>
          <p:cNvSpPr/>
          <p:nvPr/>
        </p:nvSpPr>
        <p:spPr>
          <a:xfrm>
            <a:off x="6278728" y="1600200"/>
            <a:ext cx="5455768" cy="566928"/>
          </a:xfrm>
          <a:prstGeom prst="roundRect">
            <a:avLst>
              <a:gd name="adj" fmla="val 8065"/>
            </a:avLst>
          </a:prstGeom>
          <a:solidFill>
            <a:srgbClr val="1E1638"/>
          </a:solidFill>
          <a:ln w="12700">
            <a:solidFill>
              <a:srgbClr val="F0A83C"/>
            </a:solidFill>
            <a:prstDash val="dash"/>
          </a:ln>
        </p:spPr>
      </p:sp>
      <p:sp>
        <p:nvSpPr>
          <p:cNvPr id="20" name="Text 18"/>
          <p:cNvSpPr/>
          <p:nvPr/>
        </p:nvSpPr>
        <p:spPr>
          <a:xfrm>
            <a:off x="6324448" y="1600200"/>
            <a:ext cx="5364328" cy="566928"/>
          </a:xfrm>
          <a:prstGeom prst="rect">
            <a:avLst/>
          </a:prstGeom>
          <a:noFill/>
          <a:ln/>
        </p:spPr>
        <p:txBody>
          <a:bodyPr wrap="square" rtlCol="0" anchor="ctr"/>
          <a:lstStyle/>
          <a:p>
            <a:pPr algn="ctr" indent="0" marL="0">
              <a:buNone/>
            </a:pPr>
            <a:r>
              <a:rPr lang="en-US" sz="1050" b="1" dirty="0">
                <a:solidFill>
                  <a:srgbClr val="E6EDF5"/>
                </a:solidFill>
                <a:latin typeface="Calibri" pitchFamily="34" charset="0"/>
                <a:ea typeface="Calibri" pitchFamily="34" charset="-122"/>
                <a:cs typeface="Calibri" pitchFamily="34" charset="-120"/>
              </a:rPr>
              <a:t>Node Ranker output</a:t>
            </a:r>
            <a:endParaRPr lang="en-US" sz="1050" dirty="0"/>
          </a:p>
          <a:p>
            <a:pPr algn="ctr" indent="0" marL="0">
              <a:buNone/>
            </a:pPr>
            <a:r>
              <a:rPr lang="en-US" sz="900" dirty="0">
                <a:solidFill>
                  <a:srgbClr val="8AA0B8"/>
                </a:solidFill>
                <a:latin typeface="Calibri" pitchFamily="34" charset="0"/>
                <a:ea typeface="Calibri" pitchFamily="34" charset="-122"/>
                <a:cs typeface="Calibri" pitchFamily="34" charset="-120"/>
              </a:rPr>
              <a:t>predicted type + context vector</a:t>
            </a:r>
            <a:endParaRPr lang="en-US" sz="1050" dirty="0"/>
          </a:p>
        </p:txBody>
      </p:sp>
      <p:sp>
        <p:nvSpPr>
          <p:cNvPr id="21" name="Text 19"/>
          <p:cNvSpPr/>
          <p:nvPr/>
        </p:nvSpPr>
        <p:spPr>
          <a:xfrm>
            <a:off x="8732291" y="2167128"/>
            <a:ext cx="548640" cy="274320"/>
          </a:xfrm>
          <a:prstGeom prst="rect">
            <a:avLst/>
          </a:prstGeom>
          <a:noFill/>
          <a:ln/>
        </p:spPr>
        <p:txBody>
          <a:bodyPr wrap="square" rtlCol="0" anchor="ctr"/>
          <a:lstStyle/>
          <a:p>
            <a:pPr algn="ctr" indent="0" marL="0">
              <a:buNone/>
            </a:pPr>
            <a:r>
              <a:rPr lang="en-US" sz="1600" dirty="0">
                <a:solidFill>
                  <a:srgbClr val="8AA0B8"/>
                </a:solidFill>
                <a:latin typeface="Calibri" pitchFamily="34" charset="0"/>
                <a:ea typeface="Calibri" pitchFamily="34" charset="-122"/>
                <a:cs typeface="Calibri" pitchFamily="34" charset="-120"/>
              </a:rPr>
              <a:t>↓</a:t>
            </a:r>
            <a:endParaRPr lang="en-US" sz="1600" dirty="0"/>
          </a:p>
        </p:txBody>
      </p:sp>
      <p:sp>
        <p:nvSpPr>
          <p:cNvPr id="22" name="Shape 20"/>
          <p:cNvSpPr/>
          <p:nvPr/>
        </p:nvSpPr>
        <p:spPr>
          <a:xfrm>
            <a:off x="6278728" y="2459736"/>
            <a:ext cx="5455768" cy="566928"/>
          </a:xfrm>
          <a:prstGeom prst="roundRect">
            <a:avLst>
              <a:gd name="adj" fmla="val 8065"/>
            </a:avLst>
          </a:prstGeom>
          <a:solidFill>
            <a:srgbClr val="1E1638"/>
          </a:solidFill>
          <a:ln w="12700">
            <a:solidFill>
              <a:srgbClr val="F0A83C"/>
            </a:solidFill>
            <a:prstDash val="dash"/>
          </a:ln>
        </p:spPr>
      </p:sp>
      <p:sp>
        <p:nvSpPr>
          <p:cNvPr id="23" name="Text 21"/>
          <p:cNvSpPr/>
          <p:nvPr/>
        </p:nvSpPr>
        <p:spPr>
          <a:xfrm>
            <a:off x="6324448" y="2459736"/>
            <a:ext cx="5364328" cy="566928"/>
          </a:xfrm>
          <a:prstGeom prst="rect">
            <a:avLst/>
          </a:prstGeom>
          <a:noFill/>
          <a:ln/>
        </p:spPr>
        <p:txBody>
          <a:bodyPr wrap="square" rtlCol="0" anchor="ctr"/>
          <a:lstStyle/>
          <a:p>
            <a:pPr algn="ctr" indent="0" marL="0">
              <a:buNone/>
            </a:pPr>
            <a:r>
              <a:rPr lang="en-US" sz="1050" b="1" dirty="0">
                <a:solidFill>
                  <a:srgbClr val="F0A83C"/>
                </a:solidFill>
                <a:latin typeface="Calibri" pitchFamily="34" charset="0"/>
                <a:ea typeface="Calibri" pitchFamily="34" charset="-122"/>
                <a:cs typeface="Calibri" pitchFamily="34" charset="-120"/>
              </a:rPr>
              <a:t>Conditional generative model</a:t>
            </a:r>
            <a:endParaRPr lang="en-US" sz="1050" dirty="0"/>
          </a:p>
          <a:p>
            <a:pPr algn="ctr" indent="0" marL="0">
              <a:buNone/>
            </a:pPr>
            <a:r>
              <a:rPr lang="en-US" sz="900" dirty="0">
                <a:solidFill>
                  <a:srgbClr val="F0A83C"/>
                </a:solidFill>
                <a:latin typeface="Calibri" pitchFamily="34" charset="0"/>
                <a:ea typeface="Calibri" pitchFamily="34" charset="-122"/>
                <a:cs typeface="Calibri" pitchFamily="34" charset="-120"/>
              </a:rPr>
              <a:t>SDF/voxel VAE or diffusion, conditioned on context vector</a:t>
            </a:r>
            <a:endParaRPr lang="en-US" sz="1050" dirty="0"/>
          </a:p>
        </p:txBody>
      </p:sp>
      <p:sp>
        <p:nvSpPr>
          <p:cNvPr id="24" name="Text 22"/>
          <p:cNvSpPr/>
          <p:nvPr/>
        </p:nvSpPr>
        <p:spPr>
          <a:xfrm>
            <a:off x="8732291" y="3026664"/>
            <a:ext cx="548640" cy="274320"/>
          </a:xfrm>
          <a:prstGeom prst="rect">
            <a:avLst/>
          </a:prstGeom>
          <a:noFill/>
          <a:ln/>
        </p:spPr>
        <p:txBody>
          <a:bodyPr wrap="square" rtlCol="0" anchor="ctr"/>
          <a:lstStyle/>
          <a:p>
            <a:pPr algn="ctr" indent="0" marL="0">
              <a:buNone/>
            </a:pPr>
            <a:r>
              <a:rPr lang="en-US" sz="1600" dirty="0">
                <a:solidFill>
                  <a:srgbClr val="8AA0B8"/>
                </a:solidFill>
                <a:latin typeface="Calibri" pitchFamily="34" charset="0"/>
                <a:ea typeface="Calibri" pitchFamily="34" charset="-122"/>
                <a:cs typeface="Calibri" pitchFamily="34" charset="-120"/>
              </a:rPr>
              <a:t>↓</a:t>
            </a:r>
            <a:endParaRPr lang="en-US" sz="1600" dirty="0"/>
          </a:p>
        </p:txBody>
      </p:sp>
      <p:sp>
        <p:nvSpPr>
          <p:cNvPr id="25" name="Shape 23"/>
          <p:cNvSpPr/>
          <p:nvPr/>
        </p:nvSpPr>
        <p:spPr>
          <a:xfrm>
            <a:off x="6278728" y="3319272"/>
            <a:ext cx="5455768" cy="566928"/>
          </a:xfrm>
          <a:prstGeom prst="roundRect">
            <a:avLst>
              <a:gd name="adj" fmla="val 8065"/>
            </a:avLst>
          </a:prstGeom>
          <a:solidFill>
            <a:srgbClr val="1E1638"/>
          </a:solidFill>
          <a:ln w="12700">
            <a:solidFill>
              <a:srgbClr val="F0A83C"/>
            </a:solidFill>
            <a:prstDash val="dash"/>
          </a:ln>
        </p:spPr>
      </p:sp>
      <p:sp>
        <p:nvSpPr>
          <p:cNvPr id="26" name="Text 24"/>
          <p:cNvSpPr/>
          <p:nvPr/>
        </p:nvSpPr>
        <p:spPr>
          <a:xfrm>
            <a:off x="6324448" y="3319272"/>
            <a:ext cx="5364328" cy="566928"/>
          </a:xfrm>
          <a:prstGeom prst="rect">
            <a:avLst/>
          </a:prstGeom>
          <a:noFill/>
          <a:ln/>
        </p:spPr>
        <p:txBody>
          <a:bodyPr wrap="square" rtlCol="0" anchor="ctr"/>
          <a:lstStyle/>
          <a:p>
            <a:pPr algn="ctr" indent="0" marL="0">
              <a:buNone/>
            </a:pPr>
            <a:r>
              <a:rPr lang="en-US" sz="1050" b="1" dirty="0">
                <a:solidFill>
                  <a:srgbClr val="F0A83C"/>
                </a:solidFill>
                <a:latin typeface="Calibri" pitchFamily="34" charset="0"/>
                <a:ea typeface="Calibri" pitchFamily="34" charset="-122"/>
                <a:cs typeface="Calibri" pitchFamily="34" charset="-120"/>
              </a:rPr>
              <a:t>Implicit surface → mesh</a:t>
            </a:r>
            <a:endParaRPr lang="en-US" sz="1050" dirty="0"/>
          </a:p>
          <a:p>
            <a:pPr algn="ctr" indent="0" marL="0">
              <a:buNone/>
            </a:pPr>
            <a:r>
              <a:rPr lang="en-US" sz="900" dirty="0">
                <a:solidFill>
                  <a:srgbClr val="F0A83C"/>
                </a:solidFill>
                <a:latin typeface="Calibri" pitchFamily="34" charset="0"/>
                <a:ea typeface="Calibri" pitchFamily="34" charset="-122"/>
                <a:cs typeface="Calibri" pitchFamily="34" charset="-120"/>
              </a:rPr>
              <a:t>marching cubes</a:t>
            </a:r>
            <a:endParaRPr lang="en-US" sz="1050" dirty="0"/>
          </a:p>
        </p:txBody>
      </p:sp>
      <p:sp>
        <p:nvSpPr>
          <p:cNvPr id="27" name="Text 25"/>
          <p:cNvSpPr/>
          <p:nvPr/>
        </p:nvSpPr>
        <p:spPr>
          <a:xfrm>
            <a:off x="8732291" y="3886200"/>
            <a:ext cx="548640" cy="274320"/>
          </a:xfrm>
          <a:prstGeom prst="rect">
            <a:avLst/>
          </a:prstGeom>
          <a:noFill/>
          <a:ln/>
        </p:spPr>
        <p:txBody>
          <a:bodyPr wrap="square" rtlCol="0" anchor="ctr"/>
          <a:lstStyle/>
          <a:p>
            <a:pPr algn="ctr" indent="0" marL="0">
              <a:buNone/>
            </a:pPr>
            <a:r>
              <a:rPr lang="en-US" sz="1600" dirty="0">
                <a:solidFill>
                  <a:srgbClr val="8AA0B8"/>
                </a:solidFill>
                <a:latin typeface="Calibri" pitchFamily="34" charset="0"/>
                <a:ea typeface="Calibri" pitchFamily="34" charset="-122"/>
                <a:cs typeface="Calibri" pitchFamily="34" charset="-120"/>
              </a:rPr>
              <a:t>↓</a:t>
            </a:r>
            <a:endParaRPr lang="en-US" sz="1600" dirty="0"/>
          </a:p>
        </p:txBody>
      </p:sp>
      <p:sp>
        <p:nvSpPr>
          <p:cNvPr id="28" name="Shape 26"/>
          <p:cNvSpPr/>
          <p:nvPr/>
        </p:nvSpPr>
        <p:spPr>
          <a:xfrm>
            <a:off x="6278728" y="4178808"/>
            <a:ext cx="5455768" cy="566928"/>
          </a:xfrm>
          <a:prstGeom prst="roundRect">
            <a:avLst>
              <a:gd name="adj" fmla="val 8065"/>
            </a:avLst>
          </a:prstGeom>
          <a:solidFill>
            <a:srgbClr val="1E1638"/>
          </a:solidFill>
          <a:ln w="12700">
            <a:solidFill>
              <a:srgbClr val="F0A83C"/>
            </a:solidFill>
            <a:prstDash val="dash"/>
          </a:ln>
        </p:spPr>
      </p:sp>
      <p:sp>
        <p:nvSpPr>
          <p:cNvPr id="29" name="Text 27"/>
          <p:cNvSpPr/>
          <p:nvPr/>
        </p:nvSpPr>
        <p:spPr>
          <a:xfrm>
            <a:off x="6324448" y="4178808"/>
            <a:ext cx="5364328" cy="566928"/>
          </a:xfrm>
          <a:prstGeom prst="rect">
            <a:avLst/>
          </a:prstGeom>
          <a:noFill/>
          <a:ln/>
        </p:spPr>
        <p:txBody>
          <a:bodyPr wrap="square" rtlCol="0" anchor="ctr"/>
          <a:lstStyle/>
          <a:p>
            <a:pPr algn="ctr" indent="0" marL="0">
              <a:buNone/>
            </a:pPr>
            <a:r>
              <a:rPr lang="en-US" sz="1050" b="1" dirty="0">
                <a:solidFill>
                  <a:srgbClr val="E6EDF5"/>
                </a:solidFill>
                <a:latin typeface="Calibri" pitchFamily="34" charset="0"/>
                <a:ea typeface="Calibri" pitchFamily="34" charset="-122"/>
                <a:cs typeface="Calibri" pitchFamily="34" charset="-120"/>
              </a:rPr>
              <a:t>Novel mesh geometry</a:t>
            </a:r>
            <a:endParaRPr lang="en-US" sz="1050" dirty="0"/>
          </a:p>
        </p:txBody>
      </p:sp>
      <p:sp>
        <p:nvSpPr>
          <p:cNvPr id="30" name="Shape 28"/>
          <p:cNvSpPr/>
          <p:nvPr/>
        </p:nvSpPr>
        <p:spPr>
          <a:xfrm>
            <a:off x="6278728" y="4855464"/>
            <a:ext cx="5455768" cy="1545336"/>
          </a:xfrm>
          <a:prstGeom prst="roundRect">
            <a:avLst>
              <a:gd name="adj" fmla="val 3550"/>
            </a:avLst>
          </a:prstGeom>
          <a:solidFill>
            <a:srgbClr val="142338"/>
          </a:solidFill>
          <a:ln w="12700">
            <a:solidFill>
              <a:srgbClr val="24405F"/>
            </a:solidFill>
            <a:prstDash val="solid"/>
          </a:ln>
        </p:spPr>
      </p:sp>
      <p:sp>
        <p:nvSpPr>
          <p:cNvPr id="31" name="Text 29"/>
          <p:cNvSpPr/>
          <p:nvPr/>
        </p:nvSpPr>
        <p:spPr>
          <a:xfrm>
            <a:off x="6443320" y="5020056"/>
            <a:ext cx="5126584" cy="1216152"/>
          </a:xfrm>
          <a:prstGeom prst="rect">
            <a:avLst/>
          </a:prstGeom>
          <a:noFill/>
          <a:ln/>
        </p:spPr>
        <p:txBody>
          <a:bodyPr wrap="square" rtlCol="0" anchor="t"/>
          <a:lstStyle/>
          <a:p>
            <a:pPr marL="177800" indent="-177800">
              <a:lnSpc>
                <a:spcPct val="115000"/>
              </a:lnSpc>
              <a:spcAft>
                <a:spcPts val="600"/>
              </a:spcAft>
              <a:buSzPct val="100000"/>
              <a:buChar char="•"/>
            </a:pPr>
            <a:r>
              <a:rPr lang="en-US" sz="1200" dirty="0">
                <a:solidFill>
                  <a:srgbClr val="CFD9E6"/>
                </a:solidFill>
                <a:latin typeface="Calibri" pitchFamily="34" charset="0"/>
                <a:ea typeface="Calibri" pitchFamily="34" charset="-122"/>
                <a:cs typeface="Calibri" pitchFamily="34" charset="-120"/>
              </a:rPr>
              <a:t>Can produce genuinely novel shapes, not limited to a fixed library</a:t>
            </a:r>
            <a:endParaRPr lang="en-US" sz="1200" dirty="0"/>
          </a:p>
          <a:p>
            <a:pPr marL="177800" indent="-177800">
              <a:lnSpc>
                <a:spcPct val="115000"/>
              </a:lnSpc>
              <a:spcAft>
                <a:spcPts val="600"/>
              </a:spcAft>
              <a:buSzPct val="100000"/>
              <a:buChar char="•"/>
            </a:pPr>
            <a:r>
              <a:rPr lang="en-US" sz="1200" dirty="0">
                <a:solidFill>
                  <a:srgbClr val="CFD9E6"/>
                </a:solidFill>
                <a:latin typeface="Calibri" pitchFamily="34" charset="0"/>
                <a:ea typeface="Calibri" pitchFamily="34" charset="-122"/>
                <a:cs typeface="Calibri" pitchFamily="34" charset="-120"/>
              </a:rPr>
              <a:t>Higher risk — needs a component-level shape dataset, training compute, and mesh→BREP repair before it's usable in real CAD; open research problem on its own</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A121F"/>
        </a:solidFill>
      </p:bgPr>
    </p:bg>
    <p:spTree>
      <p:nvGrpSpPr>
        <p:cNvPr id="1" name=""/>
        <p:cNvGrpSpPr/>
        <p:nvPr/>
      </p:nvGrpSpPr>
      <p:grpSpPr>
        <a:xfrm>
          <a:off x="0" y="0"/>
          <a:ext cx="0" cy="0"/>
          <a:chOff x="0" y="0"/>
          <a:chExt cx="0" cy="0"/>
        </a:xfrm>
      </p:grpSpPr>
      <p:sp>
        <p:nvSpPr>
          <p:cNvPr id="2" name="Text 0"/>
          <p:cNvSpPr/>
          <p:nvPr/>
        </p:nvSpPr>
        <p:spPr>
          <a:xfrm>
            <a:off x="457200" y="292608"/>
            <a:ext cx="11277295" cy="274320"/>
          </a:xfrm>
          <a:prstGeom prst="rect">
            <a:avLst/>
          </a:prstGeom>
          <a:noFill/>
          <a:ln/>
        </p:spPr>
        <p:txBody>
          <a:bodyPr wrap="square" rtlCol="0" anchor="ctr"/>
          <a:lstStyle/>
          <a:p>
            <a:pPr indent="0" marL="0">
              <a:buNone/>
            </a:pPr>
            <a:r>
              <a:rPr lang="en-US" sz="1100" b="1" spc="150" kern="0" dirty="0">
                <a:solidFill>
                  <a:srgbClr val="5B9BD5"/>
                </a:solidFill>
                <a:latin typeface="Calibri" pitchFamily="34" charset="0"/>
                <a:ea typeface="Calibri" pitchFamily="34" charset="-122"/>
                <a:cs typeface="Calibri" pitchFamily="34" charset="-120"/>
              </a:rPr>
              <a:t>GUIDANCE FOLLOW-UP — PHASE 3 SCOPE</a:t>
            </a:r>
            <a:endParaRPr lang="en-US" sz="1100" dirty="0"/>
          </a:p>
        </p:txBody>
      </p:sp>
      <p:sp>
        <p:nvSpPr>
          <p:cNvPr id="3" name="Text 1"/>
          <p:cNvSpPr/>
          <p:nvPr/>
        </p:nvSpPr>
        <p:spPr>
          <a:xfrm>
            <a:off x="457200" y="566928"/>
            <a:ext cx="11277295" cy="502920"/>
          </a:xfrm>
          <a:prstGeom prst="rect">
            <a:avLst/>
          </a:prstGeom>
          <a:noFill/>
          <a:ln/>
        </p:spPr>
        <p:txBody>
          <a:bodyPr wrap="square" rtlCol="0" anchor="t"/>
          <a:lstStyle/>
          <a:p>
            <a:pPr indent="0" marL="0">
              <a:buNone/>
            </a:pPr>
            <a:r>
              <a:rPr lang="en-US" sz="2600" b="1" dirty="0">
                <a:solidFill>
                  <a:srgbClr val="E6EDF5"/>
                </a:solidFill>
                <a:latin typeface="Calibri" pitchFamily="34" charset="0"/>
                <a:ea typeface="Calibri" pitchFamily="34" charset="-122"/>
                <a:cs typeface="Calibri" pitchFamily="34" charset="-120"/>
              </a:rPr>
              <a:t>High-level timeline if pursued as Phase 3</a:t>
            </a:r>
            <a:pPr indent="0" marL="0">
              <a:buNone/>
            </a:pPr>
            <a:r>
              <a:rPr lang="en-US" sz="1200" b="1" dirty="0">
                <a:solidFill>
                  <a:srgbClr val="F0A83C"/>
                </a:solidFill>
                <a:latin typeface="Calibri" pitchFamily="34" charset="0"/>
                <a:ea typeface="Calibri" pitchFamily="34" charset="-122"/>
                <a:cs typeface="Calibri" pitchFamily="34" charset="-120"/>
              </a:rPr>
              <a:t>  NOT COMMITTED — ILLUSTRATIVE</a:t>
            </a:r>
            <a:endParaRPr lang="en-US" sz="2600" dirty="0"/>
          </a:p>
        </p:txBody>
      </p:sp>
      <p:sp>
        <p:nvSpPr>
          <p:cNvPr id="4" name="Text 2"/>
          <p:cNvSpPr/>
          <p:nvPr/>
        </p:nvSpPr>
        <p:spPr>
          <a:xfrm>
            <a:off x="457200" y="1371600"/>
            <a:ext cx="1051560" cy="475488"/>
          </a:xfrm>
          <a:prstGeom prst="rect">
            <a:avLst/>
          </a:prstGeom>
          <a:noFill/>
          <a:ln/>
        </p:spPr>
        <p:txBody>
          <a:bodyPr wrap="square" rtlCol="0" anchor="ctr"/>
          <a:lstStyle/>
          <a:p>
            <a:pPr algn="r" indent="0" marL="0">
              <a:buNone/>
            </a:pPr>
            <a:r>
              <a:rPr lang="en-US" sz="1000" dirty="0">
                <a:solidFill>
                  <a:srgbClr val="8AA0B8"/>
                </a:solidFill>
                <a:latin typeface="Calibri" pitchFamily="34" charset="0"/>
                <a:ea typeface="Calibri" pitchFamily="34" charset="-122"/>
                <a:cs typeface="Calibri" pitchFamily="34" charset="-120"/>
              </a:rPr>
              <a:t>Month 1</a:t>
            </a:r>
            <a:endParaRPr lang="en-US" sz="1000" dirty="0"/>
          </a:p>
        </p:txBody>
      </p:sp>
      <p:sp>
        <p:nvSpPr>
          <p:cNvPr id="5" name="Shape 3"/>
          <p:cNvSpPr/>
          <p:nvPr/>
        </p:nvSpPr>
        <p:spPr>
          <a:xfrm>
            <a:off x="1645920" y="1371600"/>
            <a:ext cx="10088575" cy="438912"/>
          </a:xfrm>
          <a:prstGeom prst="roundRect">
            <a:avLst>
              <a:gd name="adj" fmla="val 8333"/>
            </a:avLst>
          </a:prstGeom>
          <a:solidFill>
            <a:srgbClr val="1A2740"/>
          </a:solidFill>
          <a:ln/>
        </p:spPr>
      </p:sp>
      <p:sp>
        <p:nvSpPr>
          <p:cNvPr id="6" name="Shape 4"/>
          <p:cNvSpPr/>
          <p:nvPr/>
        </p:nvSpPr>
        <p:spPr>
          <a:xfrm>
            <a:off x="1645920" y="1371600"/>
            <a:ext cx="10088575" cy="438912"/>
          </a:xfrm>
          <a:prstGeom prst="roundRect">
            <a:avLst>
              <a:gd name="adj" fmla="val 8333"/>
            </a:avLst>
          </a:prstGeom>
          <a:solidFill>
            <a:srgbClr val="5B9BD5"/>
          </a:solidFill>
          <a:ln/>
        </p:spPr>
      </p:sp>
      <p:sp>
        <p:nvSpPr>
          <p:cNvPr id="7" name="Text 5"/>
          <p:cNvSpPr/>
          <p:nvPr/>
        </p:nvSpPr>
        <p:spPr>
          <a:xfrm>
            <a:off x="1719072" y="1371600"/>
            <a:ext cx="9942271" cy="438912"/>
          </a:xfrm>
          <a:prstGeom prst="rect">
            <a:avLst/>
          </a:prstGeom>
          <a:noFill/>
          <a:ln/>
        </p:spPr>
        <p:txBody>
          <a:bodyPr wrap="square" rtlCol="0" anchor="ctr"/>
          <a:lstStyle/>
          <a:p>
            <a:pPr indent="0" marL="0">
              <a:buNone/>
            </a:pPr>
            <a:r>
              <a:rPr lang="en-US" sz="850" b="1" dirty="0">
                <a:solidFill>
                  <a:srgbClr val="071019"/>
                </a:solidFill>
                <a:latin typeface="Calibri" pitchFamily="34" charset="0"/>
                <a:ea typeface="Calibri" pitchFamily="34" charset="-122"/>
                <a:cs typeface="Calibri" pitchFamily="34" charset="-120"/>
              </a:rPr>
              <a:t>Literature review + component-level shape dataset curation (both paths)</a:t>
            </a:r>
            <a:endParaRPr lang="en-US" sz="850" dirty="0"/>
          </a:p>
        </p:txBody>
      </p:sp>
      <p:sp>
        <p:nvSpPr>
          <p:cNvPr id="8" name="Text 6"/>
          <p:cNvSpPr/>
          <p:nvPr/>
        </p:nvSpPr>
        <p:spPr>
          <a:xfrm>
            <a:off x="457200" y="1938528"/>
            <a:ext cx="1051560" cy="475488"/>
          </a:xfrm>
          <a:prstGeom prst="rect">
            <a:avLst/>
          </a:prstGeom>
          <a:noFill/>
          <a:ln/>
        </p:spPr>
        <p:txBody>
          <a:bodyPr wrap="square" rtlCol="0" anchor="ctr"/>
          <a:lstStyle/>
          <a:p>
            <a:pPr algn="r" indent="0" marL="0">
              <a:buNone/>
            </a:pPr>
            <a:r>
              <a:rPr lang="en-US" sz="1000" dirty="0">
                <a:solidFill>
                  <a:srgbClr val="8AA0B8"/>
                </a:solidFill>
                <a:latin typeface="Calibri" pitchFamily="34" charset="0"/>
                <a:ea typeface="Calibri" pitchFamily="34" charset="-122"/>
                <a:cs typeface="Calibri" pitchFamily="34" charset="-120"/>
              </a:rPr>
              <a:t>Month 2</a:t>
            </a:r>
            <a:endParaRPr lang="en-US" sz="1000" dirty="0"/>
          </a:p>
        </p:txBody>
      </p:sp>
      <p:sp>
        <p:nvSpPr>
          <p:cNvPr id="9" name="Shape 7"/>
          <p:cNvSpPr/>
          <p:nvPr/>
        </p:nvSpPr>
        <p:spPr>
          <a:xfrm>
            <a:off x="1645920" y="1938528"/>
            <a:ext cx="10088575" cy="438912"/>
          </a:xfrm>
          <a:prstGeom prst="roundRect">
            <a:avLst>
              <a:gd name="adj" fmla="val 8333"/>
            </a:avLst>
          </a:prstGeom>
          <a:solidFill>
            <a:srgbClr val="1A2740"/>
          </a:solidFill>
          <a:ln/>
        </p:spPr>
      </p:sp>
      <p:sp>
        <p:nvSpPr>
          <p:cNvPr id="10" name="Shape 8"/>
          <p:cNvSpPr/>
          <p:nvPr/>
        </p:nvSpPr>
        <p:spPr>
          <a:xfrm>
            <a:off x="1645920" y="1938528"/>
            <a:ext cx="6053145" cy="438912"/>
          </a:xfrm>
          <a:prstGeom prst="roundRect">
            <a:avLst>
              <a:gd name="adj" fmla="val 8333"/>
            </a:avLst>
          </a:prstGeom>
          <a:solidFill>
            <a:srgbClr val="5B9BD5"/>
          </a:solidFill>
          <a:ln/>
        </p:spPr>
      </p:sp>
      <p:sp>
        <p:nvSpPr>
          <p:cNvPr id="11" name="Text 9"/>
          <p:cNvSpPr/>
          <p:nvPr/>
        </p:nvSpPr>
        <p:spPr>
          <a:xfrm>
            <a:off x="1719072" y="1938528"/>
            <a:ext cx="5906841" cy="438912"/>
          </a:xfrm>
          <a:prstGeom prst="rect">
            <a:avLst/>
          </a:prstGeom>
          <a:noFill/>
          <a:ln/>
        </p:spPr>
        <p:txBody>
          <a:bodyPr wrap="square" rtlCol="0" anchor="ctr"/>
          <a:lstStyle/>
          <a:p>
            <a:pPr indent="0" marL="0">
              <a:buNone/>
            </a:pPr>
            <a:r>
              <a:rPr lang="en-US" sz="850" b="1" dirty="0">
                <a:solidFill>
                  <a:srgbClr val="071019"/>
                </a:solidFill>
                <a:latin typeface="Calibri" pitchFamily="34" charset="0"/>
                <a:ea typeface="Calibri" pitchFamily="34" charset="-122"/>
                <a:cs typeface="Calibri" pitchFamily="34" charset="-120"/>
              </a:rPr>
              <a:t>Path A: retrieval + parametric fit prototype</a:t>
            </a:r>
            <a:endParaRPr lang="en-US" sz="850" dirty="0"/>
          </a:p>
        </p:txBody>
      </p:sp>
      <p:sp>
        <p:nvSpPr>
          <p:cNvPr id="12" name="Text 10"/>
          <p:cNvSpPr/>
          <p:nvPr/>
        </p:nvSpPr>
        <p:spPr>
          <a:xfrm>
            <a:off x="457200" y="2505456"/>
            <a:ext cx="1051560" cy="475488"/>
          </a:xfrm>
          <a:prstGeom prst="rect">
            <a:avLst/>
          </a:prstGeom>
          <a:noFill/>
          <a:ln/>
        </p:spPr>
        <p:txBody>
          <a:bodyPr wrap="square" rtlCol="0" anchor="ctr"/>
          <a:lstStyle/>
          <a:p>
            <a:pPr algn="r" indent="0" marL="0">
              <a:buNone/>
            </a:pPr>
            <a:r>
              <a:rPr lang="en-US" sz="1000" dirty="0">
                <a:solidFill>
                  <a:srgbClr val="8AA0B8"/>
                </a:solidFill>
                <a:latin typeface="Calibri" pitchFamily="34" charset="0"/>
                <a:ea typeface="Calibri" pitchFamily="34" charset="-122"/>
                <a:cs typeface="Calibri" pitchFamily="34" charset="-120"/>
              </a:rPr>
              <a:t>Month 3</a:t>
            </a:r>
            <a:endParaRPr lang="en-US" sz="1000" dirty="0"/>
          </a:p>
        </p:txBody>
      </p:sp>
      <p:sp>
        <p:nvSpPr>
          <p:cNvPr id="13" name="Shape 11"/>
          <p:cNvSpPr/>
          <p:nvPr/>
        </p:nvSpPr>
        <p:spPr>
          <a:xfrm>
            <a:off x="1645920" y="2505456"/>
            <a:ext cx="10088575" cy="438912"/>
          </a:xfrm>
          <a:prstGeom prst="roundRect">
            <a:avLst>
              <a:gd name="adj" fmla="val 8333"/>
            </a:avLst>
          </a:prstGeom>
          <a:solidFill>
            <a:srgbClr val="1A2740"/>
          </a:solidFill>
          <a:ln/>
        </p:spPr>
      </p:sp>
      <p:sp>
        <p:nvSpPr>
          <p:cNvPr id="14" name="Shape 12"/>
          <p:cNvSpPr/>
          <p:nvPr/>
        </p:nvSpPr>
        <p:spPr>
          <a:xfrm>
            <a:off x="1645920" y="2505456"/>
            <a:ext cx="4539859" cy="438912"/>
          </a:xfrm>
          <a:prstGeom prst="roundRect">
            <a:avLst>
              <a:gd name="adj" fmla="val 8333"/>
            </a:avLst>
          </a:prstGeom>
          <a:solidFill>
            <a:srgbClr val="5B9BD5"/>
          </a:solidFill>
          <a:ln/>
        </p:spPr>
      </p:sp>
      <p:sp>
        <p:nvSpPr>
          <p:cNvPr id="15" name="Text 13"/>
          <p:cNvSpPr/>
          <p:nvPr/>
        </p:nvSpPr>
        <p:spPr>
          <a:xfrm>
            <a:off x="1719072" y="2505456"/>
            <a:ext cx="4393555" cy="438912"/>
          </a:xfrm>
          <a:prstGeom prst="rect">
            <a:avLst/>
          </a:prstGeom>
          <a:noFill/>
          <a:ln/>
        </p:spPr>
        <p:txBody>
          <a:bodyPr wrap="square" rtlCol="0" anchor="ctr"/>
          <a:lstStyle/>
          <a:p>
            <a:pPr indent="0" marL="0">
              <a:buNone/>
            </a:pPr>
            <a:r>
              <a:rPr lang="en-US" sz="850" b="1" dirty="0">
                <a:solidFill>
                  <a:srgbClr val="071019"/>
                </a:solidFill>
                <a:latin typeface="Calibri" pitchFamily="34" charset="0"/>
                <a:ea typeface="Calibri" pitchFamily="34" charset="-122"/>
                <a:cs typeface="Calibri" pitchFamily="34" charset="-120"/>
              </a:rPr>
              <a:t>Path A: metric re-eval</a:t>
            </a:r>
            <a:endParaRPr lang="en-US" sz="850" dirty="0"/>
          </a:p>
        </p:txBody>
      </p:sp>
      <p:sp>
        <p:nvSpPr>
          <p:cNvPr id="16" name="Shape 14"/>
          <p:cNvSpPr/>
          <p:nvPr/>
        </p:nvSpPr>
        <p:spPr>
          <a:xfrm>
            <a:off x="6690208" y="2505456"/>
            <a:ext cx="5044288" cy="438912"/>
          </a:xfrm>
          <a:prstGeom prst="roundRect">
            <a:avLst>
              <a:gd name="adj" fmla="val 8333"/>
            </a:avLst>
          </a:prstGeom>
          <a:solidFill>
            <a:srgbClr val="8B5CF6"/>
          </a:solidFill>
          <a:ln/>
        </p:spPr>
      </p:sp>
      <p:sp>
        <p:nvSpPr>
          <p:cNvPr id="17" name="Text 15"/>
          <p:cNvSpPr/>
          <p:nvPr/>
        </p:nvSpPr>
        <p:spPr>
          <a:xfrm>
            <a:off x="6763360" y="2505456"/>
            <a:ext cx="4897984" cy="438912"/>
          </a:xfrm>
          <a:prstGeom prst="rect">
            <a:avLst/>
          </a:prstGeom>
          <a:noFill/>
          <a:ln/>
        </p:spPr>
        <p:txBody>
          <a:bodyPr wrap="square" rtlCol="0" anchor="ctr"/>
          <a:lstStyle/>
          <a:p>
            <a:pPr indent="0" marL="0">
              <a:buNone/>
            </a:pPr>
            <a:r>
              <a:rPr lang="en-US" sz="850" b="1" dirty="0">
                <a:solidFill>
                  <a:srgbClr val="F5F0FF"/>
                </a:solidFill>
                <a:latin typeface="Calibri" pitchFamily="34" charset="0"/>
                <a:ea typeface="Calibri" pitchFamily="34" charset="-122"/>
                <a:cs typeface="Calibri" pitchFamily="34" charset="-120"/>
              </a:rPr>
              <a:t>Path B: generative model — first training pass</a:t>
            </a:r>
            <a:endParaRPr lang="en-US" sz="850" dirty="0"/>
          </a:p>
        </p:txBody>
      </p:sp>
      <p:sp>
        <p:nvSpPr>
          <p:cNvPr id="18" name="Text 16"/>
          <p:cNvSpPr/>
          <p:nvPr/>
        </p:nvSpPr>
        <p:spPr>
          <a:xfrm>
            <a:off x="457200" y="3072384"/>
            <a:ext cx="1051560" cy="475488"/>
          </a:xfrm>
          <a:prstGeom prst="rect">
            <a:avLst/>
          </a:prstGeom>
          <a:noFill/>
          <a:ln/>
        </p:spPr>
        <p:txBody>
          <a:bodyPr wrap="square" rtlCol="0" anchor="ctr"/>
          <a:lstStyle/>
          <a:p>
            <a:pPr algn="r" indent="0" marL="0">
              <a:buNone/>
            </a:pPr>
            <a:r>
              <a:rPr lang="en-US" sz="1000" dirty="0">
                <a:solidFill>
                  <a:srgbClr val="8AA0B8"/>
                </a:solidFill>
                <a:latin typeface="Calibri" pitchFamily="34" charset="0"/>
                <a:ea typeface="Calibri" pitchFamily="34" charset="-122"/>
                <a:cs typeface="Calibri" pitchFamily="34" charset="-120"/>
              </a:rPr>
              <a:t>Month 4</a:t>
            </a:r>
            <a:endParaRPr lang="en-US" sz="1000" dirty="0"/>
          </a:p>
        </p:txBody>
      </p:sp>
      <p:sp>
        <p:nvSpPr>
          <p:cNvPr id="19" name="Shape 17"/>
          <p:cNvSpPr/>
          <p:nvPr/>
        </p:nvSpPr>
        <p:spPr>
          <a:xfrm>
            <a:off x="1645920" y="3072384"/>
            <a:ext cx="10088575" cy="438912"/>
          </a:xfrm>
          <a:prstGeom prst="roundRect">
            <a:avLst>
              <a:gd name="adj" fmla="val 8333"/>
            </a:avLst>
          </a:prstGeom>
          <a:solidFill>
            <a:srgbClr val="1A2740"/>
          </a:solidFill>
          <a:ln/>
        </p:spPr>
      </p:sp>
      <p:sp>
        <p:nvSpPr>
          <p:cNvPr id="20" name="Shape 18"/>
          <p:cNvSpPr/>
          <p:nvPr/>
        </p:nvSpPr>
        <p:spPr>
          <a:xfrm>
            <a:off x="1645920" y="3072384"/>
            <a:ext cx="7062003" cy="438912"/>
          </a:xfrm>
          <a:prstGeom prst="roundRect">
            <a:avLst>
              <a:gd name="adj" fmla="val 8333"/>
            </a:avLst>
          </a:prstGeom>
          <a:solidFill>
            <a:srgbClr val="8B5CF6"/>
          </a:solidFill>
          <a:ln/>
        </p:spPr>
      </p:sp>
      <p:sp>
        <p:nvSpPr>
          <p:cNvPr id="21" name="Text 19"/>
          <p:cNvSpPr/>
          <p:nvPr/>
        </p:nvSpPr>
        <p:spPr>
          <a:xfrm>
            <a:off x="1719072" y="3072384"/>
            <a:ext cx="6915699" cy="438912"/>
          </a:xfrm>
          <a:prstGeom prst="rect">
            <a:avLst/>
          </a:prstGeom>
          <a:noFill/>
          <a:ln/>
        </p:spPr>
        <p:txBody>
          <a:bodyPr wrap="square" rtlCol="0" anchor="ctr"/>
          <a:lstStyle/>
          <a:p>
            <a:pPr indent="0" marL="0">
              <a:buNone/>
            </a:pPr>
            <a:r>
              <a:rPr lang="en-US" sz="850" b="1" dirty="0">
                <a:solidFill>
                  <a:srgbClr val="F5F0FF"/>
                </a:solidFill>
                <a:latin typeface="Calibri" pitchFamily="34" charset="0"/>
                <a:ea typeface="Calibri" pitchFamily="34" charset="-122"/>
                <a:cs typeface="Calibri" pitchFamily="34" charset="-120"/>
              </a:rPr>
              <a:t>Path B: mesh→BREP repair + metric re-eval (IoU, Chamfer dist.)</a:t>
            </a:r>
            <a:endParaRPr lang="en-US" sz="850" dirty="0"/>
          </a:p>
        </p:txBody>
      </p:sp>
      <p:sp>
        <p:nvSpPr>
          <p:cNvPr id="22" name="Text 20"/>
          <p:cNvSpPr/>
          <p:nvPr/>
        </p:nvSpPr>
        <p:spPr>
          <a:xfrm>
            <a:off x="457200" y="3639312"/>
            <a:ext cx="1051560" cy="475488"/>
          </a:xfrm>
          <a:prstGeom prst="rect">
            <a:avLst/>
          </a:prstGeom>
          <a:noFill/>
          <a:ln/>
        </p:spPr>
        <p:txBody>
          <a:bodyPr wrap="square" rtlCol="0" anchor="ctr"/>
          <a:lstStyle/>
          <a:p>
            <a:pPr algn="r" indent="0" marL="0">
              <a:buNone/>
            </a:pPr>
            <a:r>
              <a:rPr lang="en-US" sz="1000" dirty="0">
                <a:solidFill>
                  <a:srgbClr val="8AA0B8"/>
                </a:solidFill>
                <a:latin typeface="Calibri" pitchFamily="34" charset="0"/>
                <a:ea typeface="Calibri" pitchFamily="34" charset="-122"/>
                <a:cs typeface="Calibri" pitchFamily="34" charset="-120"/>
              </a:rPr>
              <a:t>Month 5</a:t>
            </a:r>
            <a:endParaRPr lang="en-US" sz="1000" dirty="0"/>
          </a:p>
        </p:txBody>
      </p:sp>
      <p:sp>
        <p:nvSpPr>
          <p:cNvPr id="23" name="Shape 21"/>
          <p:cNvSpPr/>
          <p:nvPr/>
        </p:nvSpPr>
        <p:spPr>
          <a:xfrm>
            <a:off x="1645920" y="3639312"/>
            <a:ext cx="10088575" cy="438912"/>
          </a:xfrm>
          <a:prstGeom prst="roundRect">
            <a:avLst>
              <a:gd name="adj" fmla="val 8333"/>
            </a:avLst>
          </a:prstGeom>
          <a:solidFill>
            <a:srgbClr val="1A2740"/>
          </a:solidFill>
          <a:ln/>
        </p:spPr>
      </p:sp>
      <p:sp>
        <p:nvSpPr>
          <p:cNvPr id="24" name="Shape 22"/>
          <p:cNvSpPr/>
          <p:nvPr/>
        </p:nvSpPr>
        <p:spPr>
          <a:xfrm>
            <a:off x="1645920" y="3639312"/>
            <a:ext cx="8070860" cy="438912"/>
          </a:xfrm>
          <a:prstGeom prst="roundRect">
            <a:avLst>
              <a:gd name="adj" fmla="val 8333"/>
            </a:avLst>
          </a:prstGeom>
          <a:solidFill>
            <a:srgbClr val="5B9BD5"/>
          </a:solidFill>
          <a:ln/>
        </p:spPr>
      </p:sp>
      <p:sp>
        <p:nvSpPr>
          <p:cNvPr id="25" name="Text 23"/>
          <p:cNvSpPr/>
          <p:nvPr/>
        </p:nvSpPr>
        <p:spPr>
          <a:xfrm>
            <a:off x="1719072" y="3639312"/>
            <a:ext cx="7924556" cy="438912"/>
          </a:xfrm>
          <a:prstGeom prst="rect">
            <a:avLst/>
          </a:prstGeom>
          <a:noFill/>
          <a:ln/>
        </p:spPr>
        <p:txBody>
          <a:bodyPr wrap="square" rtlCol="0" anchor="ctr"/>
          <a:lstStyle/>
          <a:p>
            <a:pPr indent="0" marL="0">
              <a:buNone/>
            </a:pPr>
            <a:r>
              <a:rPr lang="en-US" sz="850" b="1" dirty="0">
                <a:solidFill>
                  <a:srgbClr val="071019"/>
                </a:solidFill>
                <a:latin typeface="Calibri" pitchFamily="34" charset="0"/>
                <a:ea typeface="Calibri" pitchFamily="34" charset="-122"/>
                <a:cs typeface="Calibri" pitchFamily="34" charset="-120"/>
              </a:rPr>
              <a:t>Integrate winning/complementary path(s) into Streamlit deployment</a:t>
            </a:r>
            <a:endParaRPr lang="en-US" sz="850" dirty="0"/>
          </a:p>
        </p:txBody>
      </p:sp>
      <p:sp>
        <p:nvSpPr>
          <p:cNvPr id="26" name="Text 24"/>
          <p:cNvSpPr/>
          <p:nvPr/>
        </p:nvSpPr>
        <p:spPr>
          <a:xfrm>
            <a:off x="457200" y="4206240"/>
            <a:ext cx="1051560" cy="475488"/>
          </a:xfrm>
          <a:prstGeom prst="rect">
            <a:avLst/>
          </a:prstGeom>
          <a:noFill/>
          <a:ln/>
        </p:spPr>
        <p:txBody>
          <a:bodyPr wrap="square" rtlCol="0" anchor="ctr"/>
          <a:lstStyle/>
          <a:p>
            <a:pPr algn="r" indent="0" marL="0">
              <a:buNone/>
            </a:pPr>
            <a:r>
              <a:rPr lang="en-US" sz="1000" dirty="0">
                <a:solidFill>
                  <a:srgbClr val="8AA0B8"/>
                </a:solidFill>
                <a:latin typeface="Calibri" pitchFamily="34" charset="0"/>
                <a:ea typeface="Calibri" pitchFamily="34" charset="-122"/>
                <a:cs typeface="Calibri" pitchFamily="34" charset="-120"/>
              </a:rPr>
              <a:t>Month 6</a:t>
            </a:r>
            <a:endParaRPr lang="en-US" sz="1000" dirty="0"/>
          </a:p>
        </p:txBody>
      </p:sp>
      <p:sp>
        <p:nvSpPr>
          <p:cNvPr id="27" name="Shape 25"/>
          <p:cNvSpPr/>
          <p:nvPr/>
        </p:nvSpPr>
        <p:spPr>
          <a:xfrm>
            <a:off x="1645920" y="4206240"/>
            <a:ext cx="10088575" cy="438912"/>
          </a:xfrm>
          <a:prstGeom prst="roundRect">
            <a:avLst>
              <a:gd name="adj" fmla="val 8333"/>
            </a:avLst>
          </a:prstGeom>
          <a:solidFill>
            <a:srgbClr val="1A2740"/>
          </a:solidFill>
          <a:ln/>
        </p:spPr>
      </p:sp>
      <p:sp>
        <p:nvSpPr>
          <p:cNvPr id="28" name="Shape 26"/>
          <p:cNvSpPr/>
          <p:nvPr/>
        </p:nvSpPr>
        <p:spPr>
          <a:xfrm>
            <a:off x="1645920" y="4206240"/>
            <a:ext cx="5548716" cy="438912"/>
          </a:xfrm>
          <a:prstGeom prst="roundRect">
            <a:avLst>
              <a:gd name="adj" fmla="val 8333"/>
            </a:avLst>
          </a:prstGeom>
          <a:solidFill>
            <a:srgbClr val="5B9BD5"/>
          </a:solidFill>
          <a:ln/>
        </p:spPr>
      </p:sp>
      <p:sp>
        <p:nvSpPr>
          <p:cNvPr id="29" name="Text 27"/>
          <p:cNvSpPr/>
          <p:nvPr/>
        </p:nvSpPr>
        <p:spPr>
          <a:xfrm>
            <a:off x="1719072" y="4206240"/>
            <a:ext cx="5402412" cy="438912"/>
          </a:xfrm>
          <a:prstGeom prst="rect">
            <a:avLst/>
          </a:prstGeom>
          <a:noFill/>
          <a:ln/>
        </p:spPr>
        <p:txBody>
          <a:bodyPr wrap="square" rtlCol="0" anchor="ctr"/>
          <a:lstStyle/>
          <a:p>
            <a:pPr indent="0" marL="0">
              <a:buNone/>
            </a:pPr>
            <a:r>
              <a:rPr lang="en-US" sz="850" b="1" dirty="0">
                <a:solidFill>
                  <a:srgbClr val="071019"/>
                </a:solidFill>
                <a:latin typeface="Calibri" pitchFamily="34" charset="0"/>
                <a:ea typeface="Calibri" pitchFamily="34" charset="-122"/>
                <a:cs typeface="Calibri" pitchFamily="34" charset="-120"/>
              </a:rPr>
              <a:t>Final evaluation + report</a:t>
            </a:r>
            <a:endParaRPr lang="en-US" sz="850" dirty="0"/>
          </a:p>
        </p:txBody>
      </p:sp>
      <p:sp>
        <p:nvSpPr>
          <p:cNvPr id="30" name="Text 28"/>
          <p:cNvSpPr/>
          <p:nvPr/>
        </p:nvSpPr>
        <p:spPr>
          <a:xfrm>
            <a:off x="457200" y="4910328"/>
            <a:ext cx="11277295" cy="640080"/>
          </a:xfrm>
          <a:prstGeom prst="rect">
            <a:avLst/>
          </a:prstGeom>
          <a:noFill/>
          <a:ln/>
        </p:spPr>
        <p:txBody>
          <a:bodyPr wrap="square" rtlCol="0" anchor="t"/>
          <a:lstStyle/>
          <a:p>
            <a:pPr indent="0" marL="0">
              <a:lnSpc>
                <a:spcPct val="120000"/>
              </a:lnSpc>
              <a:buNone/>
            </a:pPr>
            <a:r>
              <a:rPr lang="en-US" sz="1100" dirty="0">
                <a:solidFill>
                  <a:srgbClr val="8AA0B8"/>
                </a:solidFill>
                <a:latin typeface="Calibri" pitchFamily="34" charset="0"/>
                <a:ea typeface="Calibri" pitchFamily="34" charset="-122"/>
                <a:cs typeface="Calibri" pitchFamily="34" charset="-120"/>
              </a:rPr>
              <a:t>Path A alone fits within a focused window; Path B realistically needs its own dataset + compute budget. Both together, done properly, span roughly a full additional phase — hence proposed as Phase 3, not squeezed into the remaining Phase 2 window.</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A121F"/>
        </a:solidFill>
      </p:bgPr>
    </p:bg>
    <p:spTree>
      <p:nvGrpSpPr>
        <p:cNvPr id="1" name=""/>
        <p:cNvGrpSpPr/>
        <p:nvPr/>
      </p:nvGrpSpPr>
      <p:grpSpPr>
        <a:xfrm>
          <a:off x="0" y="0"/>
          <a:ext cx="0" cy="0"/>
          <a:chOff x="0" y="0"/>
          <a:chExt cx="0" cy="0"/>
        </a:xfrm>
      </p:grpSpPr>
      <p:sp>
        <p:nvSpPr>
          <p:cNvPr id="2" name="Text 0"/>
          <p:cNvSpPr/>
          <p:nvPr/>
        </p:nvSpPr>
        <p:spPr>
          <a:xfrm>
            <a:off x="457200" y="292608"/>
            <a:ext cx="11277295" cy="274320"/>
          </a:xfrm>
          <a:prstGeom prst="rect">
            <a:avLst/>
          </a:prstGeom>
          <a:noFill/>
          <a:ln/>
        </p:spPr>
        <p:txBody>
          <a:bodyPr wrap="square" rtlCol="0" anchor="ctr"/>
          <a:lstStyle/>
          <a:p>
            <a:pPr indent="0" marL="0">
              <a:buNone/>
            </a:pPr>
            <a:r>
              <a:rPr lang="en-US" sz="1100" b="1" spc="150" kern="0" dirty="0">
                <a:solidFill>
                  <a:srgbClr val="5B9BD5"/>
                </a:solidFill>
                <a:latin typeface="Calibri" pitchFamily="34" charset="0"/>
                <a:ea typeface="Calibri" pitchFamily="34" charset="-122"/>
                <a:cs typeface="Calibri" pitchFamily="34" charset="-120"/>
              </a:rPr>
              <a:t>RECOMMENDATION</a:t>
            </a:r>
            <a:endParaRPr lang="en-US" sz="1100" dirty="0"/>
          </a:p>
        </p:txBody>
      </p:sp>
      <p:sp>
        <p:nvSpPr>
          <p:cNvPr id="3" name="Text 1"/>
          <p:cNvSpPr/>
          <p:nvPr/>
        </p:nvSpPr>
        <p:spPr>
          <a:xfrm>
            <a:off x="457200" y="566928"/>
            <a:ext cx="11277295" cy="502920"/>
          </a:xfrm>
          <a:prstGeom prst="rect">
            <a:avLst/>
          </a:prstGeom>
          <a:noFill/>
          <a:ln/>
        </p:spPr>
        <p:txBody>
          <a:bodyPr wrap="square" rtlCol="0" anchor="t"/>
          <a:lstStyle/>
          <a:p>
            <a:pPr indent="0" marL="0">
              <a:buNone/>
            </a:pPr>
            <a:r>
              <a:rPr lang="en-US" sz="2600" b="1" dirty="0">
                <a:solidFill>
                  <a:srgbClr val="E6EDF5"/>
                </a:solidFill>
                <a:latin typeface="Calibri" pitchFamily="34" charset="0"/>
                <a:ea typeface="Calibri" pitchFamily="34" charset="-122"/>
                <a:cs typeface="Calibri" pitchFamily="34" charset="-120"/>
              </a:rPr>
              <a:t>Recommendation for the remaining Phase 2 window</a:t>
            </a:r>
            <a:endParaRPr lang="en-US" sz="2600" dirty="0"/>
          </a:p>
        </p:txBody>
      </p:sp>
      <p:sp>
        <p:nvSpPr>
          <p:cNvPr id="4" name="Shape 2"/>
          <p:cNvSpPr/>
          <p:nvPr/>
        </p:nvSpPr>
        <p:spPr>
          <a:xfrm>
            <a:off x="457200" y="1234440"/>
            <a:ext cx="11277295" cy="3246120"/>
          </a:xfrm>
          <a:prstGeom prst="roundRect">
            <a:avLst>
              <a:gd name="adj" fmla="val 1690"/>
            </a:avLst>
          </a:prstGeom>
          <a:solidFill>
            <a:srgbClr val="142338"/>
          </a:solidFill>
          <a:ln w="12700">
            <a:solidFill>
              <a:srgbClr val="24405F"/>
            </a:solidFill>
            <a:prstDash val="solid"/>
          </a:ln>
        </p:spPr>
      </p:sp>
      <p:sp>
        <p:nvSpPr>
          <p:cNvPr id="5" name="Text 3"/>
          <p:cNvSpPr/>
          <p:nvPr/>
        </p:nvSpPr>
        <p:spPr>
          <a:xfrm>
            <a:off x="621792" y="1399032"/>
            <a:ext cx="10948111" cy="292608"/>
          </a:xfrm>
          <a:prstGeom prst="rect">
            <a:avLst/>
          </a:prstGeom>
          <a:noFill/>
          <a:ln/>
        </p:spPr>
        <p:txBody>
          <a:bodyPr wrap="square" rtlCol="0" anchor="ctr"/>
          <a:lstStyle/>
          <a:p>
            <a:pPr indent="0" marL="0">
              <a:buNone/>
            </a:pPr>
            <a:r>
              <a:rPr lang="en-US" sz="1300" b="1" dirty="0">
                <a:solidFill>
                  <a:srgbClr val="4CAF82"/>
                </a:solidFill>
                <a:latin typeface="Calibri" pitchFamily="34" charset="0"/>
                <a:ea typeface="Calibri" pitchFamily="34" charset="-122"/>
                <a:cs typeface="Calibri" pitchFamily="34" charset="-120"/>
              </a:rPr>
              <a:t>Stay focused on what Phase 2 already committed to</a:t>
            </a:r>
            <a:endParaRPr lang="en-US" sz="1300" dirty="0"/>
          </a:p>
        </p:txBody>
      </p:sp>
      <p:sp>
        <p:nvSpPr>
          <p:cNvPr id="6" name="Text 4"/>
          <p:cNvSpPr/>
          <p:nvPr/>
        </p:nvSpPr>
        <p:spPr>
          <a:xfrm>
            <a:off x="621792" y="1728216"/>
            <a:ext cx="10948111" cy="2587752"/>
          </a:xfrm>
          <a:prstGeom prst="rect">
            <a:avLst/>
          </a:prstGeom>
          <a:noFill/>
          <a:ln/>
        </p:spPr>
        <p:txBody>
          <a:bodyPr wrap="square" rtlCol="0" anchor="t"/>
          <a:lstStyle/>
          <a:p>
            <a:pPr marL="177800" indent="-177800">
              <a:lnSpc>
                <a:spcPct val="115000"/>
              </a:lnSpc>
              <a:spcAft>
                <a:spcPts val="600"/>
              </a:spcAft>
              <a:buSzPct val="100000"/>
              <a:buChar char="•"/>
            </a:pPr>
            <a:r>
              <a:rPr lang="en-US" sz="1200" dirty="0">
                <a:solidFill>
                  <a:srgbClr val="CFD9E6"/>
                </a:solidFill>
                <a:latin typeface="Calibri" pitchFamily="34" charset="0"/>
                <a:ea typeface="Calibri" pitchFamily="34" charset="-122"/>
                <a:cs typeface="Calibri" pitchFamily="34" charset="-120"/>
              </a:rPr>
              <a:t>Re-run </a:t>
            </a:r>
            <a:endParaRPr lang="en-US" sz="1200" dirty="0"/>
          </a:p>
          <a:p>
            <a:pPr indent="0" marL="0">
              <a:lnSpc>
                <a:spcPct val="115000"/>
              </a:lnSpc>
              <a:buNone/>
            </a:pPr>
            <a:r>
              <a:rPr lang="en-US" sz="1200" dirty="0">
                <a:solidFill>
                  <a:srgbClr val="FFD9A0"/>
                </a:solidFill>
                <a:latin typeface="Consolas" pitchFamily="34" charset="0"/>
                <a:ea typeface="Consolas" pitchFamily="34" charset="-122"/>
                <a:cs typeface="Consolas" pitchFamily="34" charset="-120"/>
              </a:rPr>
              <a:t>train_ranker.py</a:t>
            </a:r>
            <a:pPr indent="0" marL="0">
              <a:lnSpc>
                <a:spcPct val="115000"/>
              </a:lnSpc>
              <a:buNone/>
            </a:pPr>
            <a:r>
              <a:rPr lang="en-US" sz="1200" dirty="0">
                <a:solidFill>
                  <a:srgbClr val="CFD9E6"/>
                </a:solidFill>
                <a:latin typeface="Calibri" pitchFamily="34" charset="0"/>
                <a:ea typeface="Calibri" pitchFamily="34" charset="-122"/>
                <a:cs typeface="Calibri" pitchFamily="34" charset="-120"/>
              </a:rPr>
              <a:t> against R30's heterogeneous encoder — current Node Ranker metrics are stale (trained on a superseded encoder)</a:t>
            </a:r>
            <a:endParaRPr lang="en-US" sz="1200" dirty="0"/>
          </a:p>
          <a:p>
            <a:pPr marL="177800" indent="-177800">
              <a:lnSpc>
                <a:spcPct val="115000"/>
              </a:lnSpc>
              <a:spcAft>
                <a:spcPts val="600"/>
              </a:spcAft>
              <a:buSzPct val="100000"/>
              <a:buChar char="•"/>
            </a:pPr>
            <a:r>
              <a:rPr lang="en-US" sz="1200" dirty="0">
                <a:solidFill>
                  <a:srgbClr val="CFD9E6"/>
                </a:solidFill>
                <a:latin typeface="Calibri" pitchFamily="34" charset="0"/>
                <a:ea typeface="Calibri" pitchFamily="34" charset="-122"/>
                <a:cs typeface="Calibri" pitchFamily="34" charset="-120"/>
              </a:rPr>
              <a:t>Keep iterating on encoder retraining (R32+) toward the AUC ≥ 0.85 target — the architecture lever (R29→R30) is proven real; the next lever to try is per-category data quality/yield, not just raw volume (R31's lesson)</a:t>
            </a:r>
            <a:endParaRPr lang="en-US" sz="1200" dirty="0"/>
          </a:p>
          <a:p>
            <a:pPr marL="177800" indent="-177800">
              <a:lnSpc>
                <a:spcPct val="115000"/>
              </a:lnSpc>
              <a:spcAft>
                <a:spcPts val="600"/>
              </a:spcAft>
              <a:buSzPct val="100000"/>
              <a:buChar char="•"/>
            </a:pPr>
            <a:r>
              <a:rPr lang="en-US" sz="1200" dirty="0">
                <a:solidFill>
                  <a:srgbClr val="CFD9E6"/>
                </a:solidFill>
                <a:latin typeface="Calibri" pitchFamily="34" charset="0"/>
                <a:ea typeface="Calibri" pitchFamily="34" charset="-122"/>
                <a:cs typeface="Calibri" pitchFamily="34" charset="-120"/>
              </a:rPr>
              <a:t>Finish the two items already committed in the Phase 1 report but not yet started: heterogeneous edge-type ablation follow-ups and GNNExplainer integration for interpretability</a:t>
            </a:r>
            <a:endParaRPr lang="en-US" sz="1200" dirty="0"/>
          </a:p>
          <a:p>
            <a:pPr marL="177800" indent="-177800">
              <a:lnSpc>
                <a:spcPct val="115000"/>
              </a:lnSpc>
              <a:spcAft>
                <a:spcPts val="600"/>
              </a:spcAft>
              <a:buSzPct val="100000"/>
              <a:buChar char="•"/>
            </a:pPr>
            <a:r>
              <a:rPr lang="en-US" sz="1200" dirty="0">
                <a:solidFill>
                  <a:srgbClr val="CFD9E6"/>
                </a:solidFill>
                <a:latin typeface="Calibri" pitchFamily="34" charset="0"/>
                <a:ea typeface="Calibri" pitchFamily="34" charset="-122"/>
                <a:cs typeface="Calibri" pitchFamily="34" charset="-120"/>
              </a:rPr>
              <a:t>Continue training locally on M1 — cloud GPU compute was costed (≈₹70,000–₹1,05,000 for 5 weeks) and consciously not adopted, staying within the scope defined with Prof. Sagarika Borah in Phase 1</a:t>
            </a:r>
            <a:endParaRPr lang="en-US" sz="1200" dirty="0"/>
          </a:p>
        </p:txBody>
      </p:sp>
      <p:sp>
        <p:nvSpPr>
          <p:cNvPr id="7" name="Shape 5"/>
          <p:cNvSpPr/>
          <p:nvPr/>
        </p:nvSpPr>
        <p:spPr>
          <a:xfrm>
            <a:off x="457200" y="4617720"/>
            <a:ext cx="11277295" cy="1737360"/>
          </a:xfrm>
          <a:prstGeom prst="roundRect">
            <a:avLst>
              <a:gd name="adj" fmla="val 3158"/>
            </a:avLst>
          </a:prstGeom>
          <a:solidFill>
            <a:srgbClr val="142338"/>
          </a:solidFill>
          <a:ln w="12700">
            <a:solidFill>
              <a:srgbClr val="24405F"/>
            </a:solidFill>
            <a:prstDash val="solid"/>
          </a:ln>
        </p:spPr>
      </p:sp>
      <p:sp>
        <p:nvSpPr>
          <p:cNvPr id="8" name="Text 6"/>
          <p:cNvSpPr/>
          <p:nvPr/>
        </p:nvSpPr>
        <p:spPr>
          <a:xfrm>
            <a:off x="621792" y="4782312"/>
            <a:ext cx="10948111" cy="292608"/>
          </a:xfrm>
          <a:prstGeom prst="rect">
            <a:avLst/>
          </a:prstGeom>
          <a:noFill/>
          <a:ln/>
        </p:spPr>
        <p:txBody>
          <a:bodyPr wrap="square" rtlCol="0" anchor="ctr"/>
          <a:lstStyle/>
          <a:p>
            <a:pPr indent="0" marL="0">
              <a:buNone/>
            </a:pPr>
            <a:r>
              <a:rPr lang="en-US" sz="1300" b="1" dirty="0">
                <a:solidFill>
                  <a:srgbClr val="F0A83C"/>
                </a:solidFill>
                <a:latin typeface="Calibri" pitchFamily="34" charset="0"/>
                <a:ea typeface="Calibri" pitchFamily="34" charset="-122"/>
                <a:cs typeface="Calibri" pitchFamily="34" charset="-120"/>
              </a:rPr>
              <a:t>Defer 3D generative completion to Phase 3</a:t>
            </a:r>
            <a:endParaRPr lang="en-US" sz="1300" dirty="0"/>
          </a:p>
        </p:txBody>
      </p:sp>
      <p:sp>
        <p:nvSpPr>
          <p:cNvPr id="9" name="Text 7"/>
          <p:cNvSpPr/>
          <p:nvPr/>
        </p:nvSpPr>
        <p:spPr>
          <a:xfrm>
            <a:off x="621792" y="5111496"/>
            <a:ext cx="10948111" cy="1078992"/>
          </a:xfrm>
          <a:prstGeom prst="rect">
            <a:avLst/>
          </a:prstGeom>
          <a:noFill/>
          <a:ln/>
        </p:spPr>
        <p:txBody>
          <a:bodyPr wrap="square" rtlCol="0" anchor="t"/>
          <a:lstStyle/>
          <a:p>
            <a:pPr marL="177800" indent="-177800">
              <a:lnSpc>
                <a:spcPct val="115000"/>
              </a:lnSpc>
              <a:spcAft>
                <a:spcPts val="600"/>
              </a:spcAft>
              <a:buSzPct val="100000"/>
              <a:buChar char="•"/>
            </a:pPr>
            <a:r>
              <a:rPr lang="en-US" sz="1200" dirty="0">
                <a:solidFill>
                  <a:srgbClr val="CFD9E6"/>
                </a:solidFill>
                <a:latin typeface="Calibri" pitchFamily="34" charset="0"/>
                <a:ea typeface="Calibri" pitchFamily="34" charset="-122"/>
                <a:cs typeface="Calibri" pitchFamily="34" charset="-120"/>
              </a:rPr>
              <a:t>Path A / Path B are real, scoped options — but both require dataset work and evaluation infrastructure that would crowd out finishing Node Ranker and the AUC push if started now</a:t>
            </a:r>
            <a:endParaRPr lang="en-US" sz="1200" dirty="0"/>
          </a:p>
          <a:p>
            <a:pPr marL="177800" indent="-177800">
              <a:lnSpc>
                <a:spcPct val="115000"/>
              </a:lnSpc>
              <a:spcAft>
                <a:spcPts val="600"/>
              </a:spcAft>
              <a:buSzPct val="100000"/>
              <a:buChar char="•"/>
            </a:pPr>
            <a:r>
              <a:rPr lang="en-US" sz="1200" dirty="0">
                <a:solidFill>
                  <a:srgbClr val="CFD9E6"/>
                </a:solidFill>
                <a:latin typeface="Calibri" pitchFamily="34" charset="0"/>
                <a:ea typeface="Calibri" pitchFamily="34" charset="-122"/>
                <a:cs typeface="Calibri" pitchFamily="34" charset="-120"/>
              </a:rPr>
              <a:t>Proposing this explicitly rather than silently dropping it, so it's on record as a deliberate sequencing decision, not an oversight</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A121F"/>
        </a:solidFill>
      </p:bgPr>
    </p:bg>
    <p:spTree>
      <p:nvGrpSpPr>
        <p:cNvPr id="1" name=""/>
        <p:cNvGrpSpPr/>
        <p:nvPr/>
      </p:nvGrpSpPr>
      <p:grpSpPr>
        <a:xfrm>
          <a:off x="0" y="0"/>
          <a:ext cx="0" cy="0"/>
          <a:chOff x="0" y="0"/>
          <a:chExt cx="0" cy="0"/>
        </a:xfrm>
      </p:grpSpPr>
      <p:sp>
        <p:nvSpPr>
          <p:cNvPr id="2" name="Text 0"/>
          <p:cNvSpPr/>
          <p:nvPr/>
        </p:nvSpPr>
        <p:spPr>
          <a:xfrm>
            <a:off x="457200" y="292608"/>
            <a:ext cx="11277295" cy="274320"/>
          </a:xfrm>
          <a:prstGeom prst="rect">
            <a:avLst/>
          </a:prstGeom>
          <a:noFill/>
          <a:ln/>
        </p:spPr>
        <p:txBody>
          <a:bodyPr wrap="square" rtlCol="0" anchor="ctr"/>
          <a:lstStyle/>
          <a:p>
            <a:pPr indent="0" marL="0">
              <a:buNone/>
            </a:pPr>
            <a:r>
              <a:rPr lang="en-US" sz="1100" b="1" spc="150" kern="0" dirty="0">
                <a:solidFill>
                  <a:srgbClr val="5B9BD5"/>
                </a:solidFill>
                <a:latin typeface="Calibri" pitchFamily="34" charset="0"/>
                <a:ea typeface="Calibri" pitchFamily="34" charset="-122"/>
                <a:cs typeface="Calibri" pitchFamily="34" charset="-120"/>
              </a:rPr>
              <a:t>6 · EXPECTED OUTCOMES</a:t>
            </a:r>
            <a:endParaRPr lang="en-US" sz="1100" dirty="0"/>
          </a:p>
        </p:txBody>
      </p:sp>
      <p:sp>
        <p:nvSpPr>
          <p:cNvPr id="3" name="Text 1"/>
          <p:cNvSpPr/>
          <p:nvPr/>
        </p:nvSpPr>
        <p:spPr>
          <a:xfrm>
            <a:off x="457200" y="566928"/>
            <a:ext cx="11277295" cy="502920"/>
          </a:xfrm>
          <a:prstGeom prst="rect">
            <a:avLst/>
          </a:prstGeom>
          <a:noFill/>
          <a:ln/>
        </p:spPr>
        <p:txBody>
          <a:bodyPr wrap="square" rtlCol="0" anchor="t"/>
          <a:lstStyle/>
          <a:p>
            <a:pPr indent="0" marL="0">
              <a:buNone/>
            </a:pPr>
            <a:r>
              <a:rPr lang="en-US" sz="2600" b="1" dirty="0">
                <a:solidFill>
                  <a:srgbClr val="E6EDF5"/>
                </a:solidFill>
                <a:latin typeface="Calibri" pitchFamily="34" charset="0"/>
                <a:ea typeface="Calibri" pitchFamily="34" charset="-122"/>
                <a:cs typeface="Calibri" pitchFamily="34" charset="-120"/>
              </a:rPr>
              <a:t>Expected outcomes — end of Phase 2</a:t>
            </a:r>
            <a:endParaRPr lang="en-US" sz="26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11277295" cy="914400"/>
        </p:xfrm>
        <a:graphic>
          <a:graphicData uri="http://schemas.openxmlformats.org/drawingml/2006/table">
            <a:tbl>
              <a:tblPr/>
              <a:tblGrid>
                <a:gridCol w="6949440"/>
                <a:gridCol w="5239512"/>
              </a:tblGrid>
              <a:tr h="566928">
                <a:tc>
                  <a:txBody>
                    <a:bodyPr/>
                    <a:lstStyle/>
                    <a:p>
                      <a:pPr indent="0" marL="0">
                        <a:buNone/>
                      </a:pPr>
                      <a:r>
                        <a:rPr lang="en-US" sz="1000" b="1" dirty="0">
                          <a:solidFill>
                            <a:srgbClr val="8AA0B8"/>
                          </a:solidFill>
                          <a:latin typeface="Calibri" pitchFamily="34" charset="0"/>
                          <a:ea typeface="Calibri" pitchFamily="34" charset="-122"/>
                          <a:cs typeface="Calibri" pitchFamily="34" charset="-120"/>
                        </a:rPr>
                        <a:t>Deliverable</a:t>
                      </a:r>
                      <a:endParaRPr lang="en-US" sz="1200" dirty="0"/>
                    </a:p>
                  </a:txBody>
                  <a:tcPr marL="91440" marR="91440" marT="45720" marB="45720" anchor="ctr">
                    <a:lnL w="9525" cap="flat" cmpd="sng" algn="ctr">
                      <a:solidFill>
                        <a:srgbClr val="24405F"/>
                      </a:solidFill>
                      <a:prstDash val="solid"/>
                      <a:round/>
                      <a:headEnd type="none" w="med" len="med"/>
                      <a:tailEnd type="none" w="med" len="med"/>
                    </a:lnL>
                    <a:lnR w="9525" cap="flat" cmpd="sng" algn="ctr">
                      <a:solidFill>
                        <a:srgbClr val="24405F"/>
                      </a:solidFill>
                      <a:prstDash val="solid"/>
                      <a:round/>
                      <a:headEnd type="none" w="med" len="med"/>
                      <a:tailEnd type="none" w="med" len="med"/>
                    </a:lnR>
                    <a:lnT w="9525" cap="flat" cmpd="sng" algn="ctr">
                      <a:solidFill>
                        <a:srgbClr val="24405F"/>
                      </a:solidFill>
                      <a:prstDash val="solid"/>
                      <a:round/>
                      <a:headEnd type="none" w="med" len="med"/>
                      <a:tailEnd type="none" w="med" len="med"/>
                    </a:lnT>
                    <a:lnB w="9525" cap="flat" cmpd="sng" algn="ctr">
                      <a:solidFill>
                        <a:srgbClr val="24405F"/>
                      </a:solidFill>
                      <a:prstDash val="solid"/>
                      <a:round/>
                      <a:headEnd type="none" w="med" len="med"/>
                      <a:tailEnd type="none" w="med" len="med"/>
                    </a:lnB>
                    <a:solidFill>
                      <a:srgbClr val="101C30"/>
                    </a:solidFill>
                  </a:tcPr>
                </a:tc>
                <a:tc>
                  <a:txBody>
                    <a:bodyPr/>
                    <a:lstStyle/>
                    <a:p>
                      <a:pPr indent="0" marL="0">
                        <a:buNone/>
                      </a:pPr>
                      <a:r>
                        <a:rPr lang="en-US" sz="1000" b="1" dirty="0">
                          <a:solidFill>
                            <a:srgbClr val="8AA0B8"/>
                          </a:solidFill>
                          <a:latin typeface="Calibri" pitchFamily="34" charset="0"/>
                          <a:ea typeface="Calibri" pitchFamily="34" charset="-122"/>
                          <a:cs typeface="Calibri" pitchFamily="34" charset="-120"/>
                        </a:rPr>
                        <a:t>Status / Target</a:t>
                      </a:r>
                      <a:endParaRPr lang="en-US" sz="1200" dirty="0"/>
                    </a:p>
                  </a:txBody>
                  <a:tcPr marL="91440" marR="91440" marT="45720" marB="45720" anchor="ctr">
                    <a:lnL w="9525" cap="flat" cmpd="sng" algn="ctr">
                      <a:solidFill>
                        <a:srgbClr val="24405F"/>
                      </a:solidFill>
                      <a:prstDash val="solid"/>
                      <a:round/>
                      <a:headEnd type="none" w="med" len="med"/>
                      <a:tailEnd type="none" w="med" len="med"/>
                    </a:lnL>
                    <a:lnR w="9525" cap="flat" cmpd="sng" algn="ctr">
                      <a:solidFill>
                        <a:srgbClr val="24405F"/>
                      </a:solidFill>
                      <a:prstDash val="solid"/>
                      <a:round/>
                      <a:headEnd type="none" w="med" len="med"/>
                      <a:tailEnd type="none" w="med" len="med"/>
                    </a:lnR>
                    <a:lnT w="9525" cap="flat" cmpd="sng" algn="ctr">
                      <a:solidFill>
                        <a:srgbClr val="24405F"/>
                      </a:solidFill>
                      <a:prstDash val="solid"/>
                      <a:round/>
                      <a:headEnd type="none" w="med" len="med"/>
                      <a:tailEnd type="none" w="med" len="med"/>
                    </a:lnT>
                    <a:lnB w="9525" cap="flat" cmpd="sng" algn="ctr">
                      <a:solidFill>
                        <a:srgbClr val="24405F"/>
                      </a:solidFill>
                      <a:prstDash val="solid"/>
                      <a:round/>
                      <a:headEnd type="none" w="med" len="med"/>
                      <a:tailEnd type="none" w="med" len="med"/>
                    </a:lnB>
                    <a:solidFill>
                      <a:srgbClr val="101C30"/>
                    </a:solidFill>
                  </a:tcPr>
                </a:tc>
              </a:tr>
              <a:tr h="566928">
                <a:tc>
                  <a:txBody>
                    <a:bodyPr/>
                    <a:lstStyle/>
                    <a:p>
                      <a:pPr indent="0" marL="0">
                        <a:buNone/>
                      </a:pPr>
                      <a:r>
                        <a:rPr lang="en-US" sz="1100" dirty="0">
                          <a:solidFill>
                            <a:srgbClr val="CFD9E6"/>
                          </a:solidFill>
                          <a:latin typeface="Calibri" pitchFamily="34" charset="0"/>
                          <a:ea typeface="Calibri" pitchFamily="34" charset="-122"/>
                          <a:cs typeface="Calibri" pitchFamily="34" charset="-120"/>
                        </a:rPr>
                        <a:t>Heterogeneous encoder (RGATConv + TypedLinear)</a:t>
                      </a:r>
                      <a:endParaRPr lang="en-US" sz="1200" dirty="0"/>
                    </a:p>
                  </a:txBody>
                  <a:tcPr marL="91440" marR="91440" marT="45720" marB="45720" anchor="ctr">
                    <a:lnL w="9525" cap="flat" cmpd="sng" algn="ctr">
                      <a:solidFill>
                        <a:srgbClr val="24405F"/>
                      </a:solidFill>
                      <a:prstDash val="solid"/>
                      <a:round/>
                      <a:headEnd type="none" w="med" len="med"/>
                      <a:tailEnd type="none" w="med" len="med"/>
                    </a:lnL>
                    <a:lnR w="9525" cap="flat" cmpd="sng" algn="ctr">
                      <a:solidFill>
                        <a:srgbClr val="24405F"/>
                      </a:solidFill>
                      <a:prstDash val="solid"/>
                      <a:round/>
                      <a:headEnd type="none" w="med" len="med"/>
                      <a:tailEnd type="none" w="med" len="med"/>
                    </a:lnR>
                    <a:lnT w="9525" cap="flat" cmpd="sng" algn="ctr">
                      <a:solidFill>
                        <a:srgbClr val="24405F"/>
                      </a:solidFill>
                      <a:prstDash val="solid"/>
                      <a:round/>
                      <a:headEnd type="none" w="med" len="med"/>
                      <a:tailEnd type="none" w="med" len="med"/>
                    </a:lnT>
                    <a:lnB w="9525" cap="flat" cmpd="sng" algn="ctr">
                      <a:solidFill>
                        <a:srgbClr val="24405F"/>
                      </a:solidFill>
                      <a:prstDash val="solid"/>
                      <a:round/>
                      <a:headEnd type="none" w="med" len="med"/>
                      <a:tailEnd type="none" w="med" len="med"/>
                    </a:lnB>
                    <a:solidFill>
                      <a:srgbClr val="142338"/>
                    </a:solidFill>
                  </a:tcPr>
                </a:tc>
                <a:tc>
                  <a:txBody>
                    <a:bodyPr/>
                    <a:lstStyle/>
                    <a:p>
                      <a:pPr indent="0" marL="0">
                        <a:buNone/>
                      </a:pPr>
                      <a:r>
                        <a:rPr lang="en-US" sz="1100" dirty="0">
                          <a:solidFill>
                            <a:srgbClr val="4CAF82"/>
                          </a:solidFill>
                          <a:latin typeface="Calibri" pitchFamily="34" charset="0"/>
                          <a:ea typeface="Calibri" pitchFamily="34" charset="-122"/>
                          <a:cs typeface="Calibri" pitchFamily="34" charset="-120"/>
                        </a:rPr>
                        <a:t>Done — R30 serving, AUC 0.599 ± 0.112</a:t>
                      </a:r>
                      <a:endParaRPr lang="en-US" sz="1200" dirty="0"/>
                    </a:p>
                  </a:txBody>
                  <a:tcPr marL="91440" marR="91440" marT="45720" marB="45720" anchor="ctr">
                    <a:lnL w="9525" cap="flat" cmpd="sng" algn="ctr">
                      <a:solidFill>
                        <a:srgbClr val="24405F"/>
                      </a:solidFill>
                      <a:prstDash val="solid"/>
                      <a:round/>
                      <a:headEnd type="none" w="med" len="med"/>
                      <a:tailEnd type="none" w="med" len="med"/>
                    </a:lnL>
                    <a:lnR w="9525" cap="flat" cmpd="sng" algn="ctr">
                      <a:solidFill>
                        <a:srgbClr val="24405F"/>
                      </a:solidFill>
                      <a:prstDash val="solid"/>
                      <a:round/>
                      <a:headEnd type="none" w="med" len="med"/>
                      <a:tailEnd type="none" w="med" len="med"/>
                    </a:lnR>
                    <a:lnT w="9525" cap="flat" cmpd="sng" algn="ctr">
                      <a:solidFill>
                        <a:srgbClr val="24405F"/>
                      </a:solidFill>
                      <a:prstDash val="solid"/>
                      <a:round/>
                      <a:headEnd type="none" w="med" len="med"/>
                      <a:tailEnd type="none" w="med" len="med"/>
                    </a:lnT>
                    <a:lnB w="9525" cap="flat" cmpd="sng" algn="ctr">
                      <a:solidFill>
                        <a:srgbClr val="24405F"/>
                      </a:solidFill>
                      <a:prstDash val="solid"/>
                      <a:round/>
                      <a:headEnd type="none" w="med" len="med"/>
                      <a:tailEnd type="none" w="med" len="med"/>
                    </a:lnB>
                    <a:solidFill>
                      <a:srgbClr val="142338"/>
                    </a:solidFill>
                  </a:tcPr>
                </a:tc>
              </a:tr>
              <a:tr h="566928">
                <a:tc>
                  <a:txBody>
                    <a:bodyPr/>
                    <a:lstStyle/>
                    <a:p>
                      <a:pPr indent="0" marL="0">
                        <a:buNone/>
                      </a:pPr>
                      <a:r>
                        <a:rPr lang="en-US" sz="1100" dirty="0">
                          <a:solidFill>
                            <a:srgbClr val="CFD9E6"/>
                          </a:solidFill>
                          <a:latin typeface="Calibri" pitchFamily="34" charset="0"/>
                          <a:ea typeface="Calibri" pitchFamily="34" charset="-122"/>
                          <a:cs typeface="Calibri" pitchFamily="34" charset="-120"/>
                        </a:rPr>
                        <a:t>Node Ranker wired end-to-end (train/infer/API/UI)</a:t>
                      </a:r>
                      <a:endParaRPr lang="en-US" sz="1200" dirty="0"/>
                    </a:p>
                  </a:txBody>
                  <a:tcPr marL="91440" marR="91440" marT="45720" marB="45720" anchor="ctr">
                    <a:lnL w="9525" cap="flat" cmpd="sng" algn="ctr">
                      <a:solidFill>
                        <a:srgbClr val="24405F"/>
                      </a:solidFill>
                      <a:prstDash val="solid"/>
                      <a:round/>
                      <a:headEnd type="none" w="med" len="med"/>
                      <a:tailEnd type="none" w="med" len="med"/>
                    </a:lnL>
                    <a:lnR w="9525" cap="flat" cmpd="sng" algn="ctr">
                      <a:solidFill>
                        <a:srgbClr val="24405F"/>
                      </a:solidFill>
                      <a:prstDash val="solid"/>
                      <a:round/>
                      <a:headEnd type="none" w="med" len="med"/>
                      <a:tailEnd type="none" w="med" len="med"/>
                    </a:lnR>
                    <a:lnT w="9525" cap="flat" cmpd="sng" algn="ctr">
                      <a:solidFill>
                        <a:srgbClr val="24405F"/>
                      </a:solidFill>
                      <a:prstDash val="solid"/>
                      <a:round/>
                      <a:headEnd type="none" w="med" len="med"/>
                      <a:tailEnd type="none" w="med" len="med"/>
                    </a:lnT>
                    <a:lnB w="9525" cap="flat" cmpd="sng" algn="ctr">
                      <a:solidFill>
                        <a:srgbClr val="24405F"/>
                      </a:solidFill>
                      <a:prstDash val="solid"/>
                      <a:round/>
                      <a:headEnd type="none" w="med" len="med"/>
                      <a:tailEnd type="none" w="med" len="med"/>
                    </a:lnB>
                    <a:solidFill>
                      <a:srgbClr val="142338"/>
                    </a:solidFill>
                  </a:tcPr>
                </a:tc>
                <a:tc>
                  <a:txBody>
                    <a:bodyPr/>
                    <a:lstStyle/>
                    <a:p>
                      <a:pPr indent="0" marL="0">
                        <a:buNone/>
                      </a:pPr>
                      <a:r>
                        <a:rPr lang="en-US" sz="1100" dirty="0">
                          <a:solidFill>
                            <a:srgbClr val="4CAF82"/>
                          </a:solidFill>
                          <a:latin typeface="Calibri" pitchFamily="34" charset="0"/>
                          <a:ea typeface="Calibri" pitchFamily="34" charset="-122"/>
                          <a:cs typeface="Calibri" pitchFamily="34" charset="-120"/>
                        </a:rPr>
                        <a:t>Done</a:t>
                      </a:r>
                      <a:endParaRPr lang="en-US" sz="1200" dirty="0"/>
                    </a:p>
                  </a:txBody>
                  <a:tcPr marL="91440" marR="91440" marT="45720" marB="45720" anchor="ctr">
                    <a:lnL w="9525" cap="flat" cmpd="sng" algn="ctr">
                      <a:solidFill>
                        <a:srgbClr val="24405F"/>
                      </a:solidFill>
                      <a:prstDash val="solid"/>
                      <a:round/>
                      <a:headEnd type="none" w="med" len="med"/>
                      <a:tailEnd type="none" w="med" len="med"/>
                    </a:lnL>
                    <a:lnR w="9525" cap="flat" cmpd="sng" algn="ctr">
                      <a:solidFill>
                        <a:srgbClr val="24405F"/>
                      </a:solidFill>
                      <a:prstDash val="solid"/>
                      <a:round/>
                      <a:headEnd type="none" w="med" len="med"/>
                      <a:tailEnd type="none" w="med" len="med"/>
                    </a:lnR>
                    <a:lnT w="9525" cap="flat" cmpd="sng" algn="ctr">
                      <a:solidFill>
                        <a:srgbClr val="24405F"/>
                      </a:solidFill>
                      <a:prstDash val="solid"/>
                      <a:round/>
                      <a:headEnd type="none" w="med" len="med"/>
                      <a:tailEnd type="none" w="med" len="med"/>
                    </a:lnT>
                    <a:lnB w="9525" cap="flat" cmpd="sng" algn="ctr">
                      <a:solidFill>
                        <a:srgbClr val="24405F"/>
                      </a:solidFill>
                      <a:prstDash val="solid"/>
                      <a:round/>
                      <a:headEnd type="none" w="med" len="med"/>
                      <a:tailEnd type="none" w="med" len="med"/>
                    </a:lnB>
                    <a:solidFill>
                      <a:srgbClr val="142338"/>
                    </a:solidFill>
                  </a:tcPr>
                </a:tc>
              </a:tr>
              <a:tr h="566928">
                <a:tc>
                  <a:txBody>
                    <a:bodyPr/>
                    <a:lstStyle/>
                    <a:p>
                      <a:pPr indent="0" marL="0">
                        <a:buNone/>
                      </a:pPr>
                      <a:r>
                        <a:rPr lang="en-US" sz="1100" dirty="0">
                          <a:solidFill>
                            <a:srgbClr val="CFD9E6"/>
                          </a:solidFill>
                          <a:latin typeface="Calibri" pitchFamily="34" charset="0"/>
                          <a:ea typeface="Calibri" pitchFamily="34" charset="-122"/>
                          <a:cs typeface="Calibri" pitchFamily="34" charset="-120"/>
                        </a:rPr>
                        <a:t>Node Ranker re-trained against current (R30) encoder</a:t>
                      </a:r>
                      <a:endParaRPr lang="en-US" sz="1200" dirty="0"/>
                    </a:p>
                  </a:txBody>
                  <a:tcPr marL="91440" marR="91440" marT="45720" marB="45720" anchor="ctr">
                    <a:lnL w="9525" cap="flat" cmpd="sng" algn="ctr">
                      <a:solidFill>
                        <a:srgbClr val="24405F"/>
                      </a:solidFill>
                      <a:prstDash val="solid"/>
                      <a:round/>
                      <a:headEnd type="none" w="med" len="med"/>
                      <a:tailEnd type="none" w="med" len="med"/>
                    </a:lnL>
                    <a:lnR w="9525" cap="flat" cmpd="sng" algn="ctr">
                      <a:solidFill>
                        <a:srgbClr val="24405F"/>
                      </a:solidFill>
                      <a:prstDash val="solid"/>
                      <a:round/>
                      <a:headEnd type="none" w="med" len="med"/>
                      <a:tailEnd type="none" w="med" len="med"/>
                    </a:lnR>
                    <a:lnT w="9525" cap="flat" cmpd="sng" algn="ctr">
                      <a:solidFill>
                        <a:srgbClr val="24405F"/>
                      </a:solidFill>
                      <a:prstDash val="solid"/>
                      <a:round/>
                      <a:headEnd type="none" w="med" len="med"/>
                      <a:tailEnd type="none" w="med" len="med"/>
                    </a:lnT>
                    <a:lnB w="9525" cap="flat" cmpd="sng" algn="ctr">
                      <a:solidFill>
                        <a:srgbClr val="24405F"/>
                      </a:solidFill>
                      <a:prstDash val="solid"/>
                      <a:round/>
                      <a:headEnd type="none" w="med" len="med"/>
                      <a:tailEnd type="none" w="med" len="med"/>
                    </a:lnB>
                    <a:solidFill>
                      <a:srgbClr val="142338"/>
                    </a:solidFill>
                  </a:tcPr>
                </a:tc>
                <a:tc>
                  <a:txBody>
                    <a:bodyPr/>
                    <a:lstStyle/>
                    <a:p>
                      <a:pPr indent="0" marL="0">
                        <a:buNone/>
                      </a:pPr>
                      <a:r>
                        <a:rPr lang="en-US" sz="1100" dirty="0">
                          <a:solidFill>
                            <a:srgbClr val="F0A83C"/>
                          </a:solidFill>
                          <a:latin typeface="Calibri" pitchFamily="34" charset="0"/>
                          <a:ea typeface="Calibri" pitchFamily="34" charset="-122"/>
                          <a:cs typeface="Calibri" pitchFamily="34" charset="-120"/>
                        </a:rPr>
                        <a:t>Pending — next action</a:t>
                      </a:r>
                      <a:endParaRPr lang="en-US" sz="1200" dirty="0"/>
                    </a:p>
                  </a:txBody>
                  <a:tcPr marL="91440" marR="91440" marT="45720" marB="45720" anchor="ctr">
                    <a:lnL w="9525" cap="flat" cmpd="sng" algn="ctr">
                      <a:solidFill>
                        <a:srgbClr val="24405F"/>
                      </a:solidFill>
                      <a:prstDash val="solid"/>
                      <a:round/>
                      <a:headEnd type="none" w="med" len="med"/>
                      <a:tailEnd type="none" w="med" len="med"/>
                    </a:lnL>
                    <a:lnR w="9525" cap="flat" cmpd="sng" algn="ctr">
                      <a:solidFill>
                        <a:srgbClr val="24405F"/>
                      </a:solidFill>
                      <a:prstDash val="solid"/>
                      <a:round/>
                      <a:headEnd type="none" w="med" len="med"/>
                      <a:tailEnd type="none" w="med" len="med"/>
                    </a:lnR>
                    <a:lnT w="9525" cap="flat" cmpd="sng" algn="ctr">
                      <a:solidFill>
                        <a:srgbClr val="24405F"/>
                      </a:solidFill>
                      <a:prstDash val="solid"/>
                      <a:round/>
                      <a:headEnd type="none" w="med" len="med"/>
                      <a:tailEnd type="none" w="med" len="med"/>
                    </a:lnT>
                    <a:lnB w="9525" cap="flat" cmpd="sng" algn="ctr">
                      <a:solidFill>
                        <a:srgbClr val="24405F"/>
                      </a:solidFill>
                      <a:prstDash val="solid"/>
                      <a:round/>
                      <a:headEnd type="none" w="med" len="med"/>
                      <a:tailEnd type="none" w="med" len="med"/>
                    </a:lnB>
                    <a:solidFill>
                      <a:srgbClr val="142338"/>
                    </a:solidFill>
                  </a:tcPr>
                </a:tc>
              </a:tr>
              <a:tr h="566928">
                <a:tc>
                  <a:txBody>
                    <a:bodyPr/>
                    <a:lstStyle/>
                    <a:p>
                      <a:pPr indent="0" marL="0">
                        <a:buNone/>
                      </a:pPr>
                      <a:r>
                        <a:rPr lang="en-US" sz="1100" dirty="0">
                          <a:solidFill>
                            <a:srgbClr val="CFD9E6"/>
                          </a:solidFill>
                          <a:latin typeface="Calibri" pitchFamily="34" charset="0"/>
                          <a:ea typeface="Calibri" pitchFamily="34" charset="-122"/>
                          <a:cs typeface="Calibri" pitchFamily="34" charset="-120"/>
                        </a:rPr>
                        <a:t>Encoder AUC ≥ 0.85 (Phase 1 target, carried forward)</a:t>
                      </a:r>
                      <a:endParaRPr lang="en-US" sz="1200" dirty="0"/>
                    </a:p>
                  </a:txBody>
                  <a:tcPr marL="91440" marR="91440" marT="45720" marB="45720" anchor="ctr">
                    <a:lnL w="9525" cap="flat" cmpd="sng" algn="ctr">
                      <a:solidFill>
                        <a:srgbClr val="24405F"/>
                      </a:solidFill>
                      <a:prstDash val="solid"/>
                      <a:round/>
                      <a:headEnd type="none" w="med" len="med"/>
                      <a:tailEnd type="none" w="med" len="med"/>
                    </a:lnL>
                    <a:lnR w="9525" cap="flat" cmpd="sng" algn="ctr">
                      <a:solidFill>
                        <a:srgbClr val="24405F"/>
                      </a:solidFill>
                      <a:prstDash val="solid"/>
                      <a:round/>
                      <a:headEnd type="none" w="med" len="med"/>
                      <a:tailEnd type="none" w="med" len="med"/>
                    </a:lnR>
                    <a:lnT w="9525" cap="flat" cmpd="sng" algn="ctr">
                      <a:solidFill>
                        <a:srgbClr val="24405F"/>
                      </a:solidFill>
                      <a:prstDash val="solid"/>
                      <a:round/>
                      <a:headEnd type="none" w="med" len="med"/>
                      <a:tailEnd type="none" w="med" len="med"/>
                    </a:lnT>
                    <a:lnB w="9525" cap="flat" cmpd="sng" algn="ctr">
                      <a:solidFill>
                        <a:srgbClr val="24405F"/>
                      </a:solidFill>
                      <a:prstDash val="solid"/>
                      <a:round/>
                      <a:headEnd type="none" w="med" len="med"/>
                      <a:tailEnd type="none" w="med" len="med"/>
                    </a:lnB>
                    <a:solidFill>
                      <a:srgbClr val="142338"/>
                    </a:solidFill>
                  </a:tcPr>
                </a:tc>
                <a:tc>
                  <a:txBody>
                    <a:bodyPr/>
                    <a:lstStyle/>
                    <a:p>
                      <a:pPr indent="0" marL="0">
                        <a:buNone/>
                      </a:pPr>
                      <a:r>
                        <a:rPr lang="en-US" sz="1100" dirty="0">
                          <a:solidFill>
                            <a:srgbClr val="8AA0B8"/>
                          </a:solidFill>
                          <a:latin typeface="Calibri" pitchFamily="34" charset="0"/>
                          <a:ea typeface="Calibri" pitchFamily="34" charset="-122"/>
                          <a:cs typeface="Calibri" pitchFamily="34" charset="-120"/>
                        </a:rPr>
                        <a:t>Open — R29→R30→R31 trend informs next lever</a:t>
                      </a:r>
                      <a:endParaRPr lang="en-US" sz="1200" dirty="0"/>
                    </a:p>
                  </a:txBody>
                  <a:tcPr marL="91440" marR="91440" marT="45720" marB="45720" anchor="ctr">
                    <a:lnL w="9525" cap="flat" cmpd="sng" algn="ctr">
                      <a:solidFill>
                        <a:srgbClr val="24405F"/>
                      </a:solidFill>
                      <a:prstDash val="solid"/>
                      <a:round/>
                      <a:headEnd type="none" w="med" len="med"/>
                      <a:tailEnd type="none" w="med" len="med"/>
                    </a:lnL>
                    <a:lnR w="9525" cap="flat" cmpd="sng" algn="ctr">
                      <a:solidFill>
                        <a:srgbClr val="24405F"/>
                      </a:solidFill>
                      <a:prstDash val="solid"/>
                      <a:round/>
                      <a:headEnd type="none" w="med" len="med"/>
                      <a:tailEnd type="none" w="med" len="med"/>
                    </a:lnR>
                    <a:lnT w="9525" cap="flat" cmpd="sng" algn="ctr">
                      <a:solidFill>
                        <a:srgbClr val="24405F"/>
                      </a:solidFill>
                      <a:prstDash val="solid"/>
                      <a:round/>
                      <a:headEnd type="none" w="med" len="med"/>
                      <a:tailEnd type="none" w="med" len="med"/>
                    </a:lnT>
                    <a:lnB w="9525" cap="flat" cmpd="sng" algn="ctr">
                      <a:solidFill>
                        <a:srgbClr val="24405F"/>
                      </a:solidFill>
                      <a:prstDash val="solid"/>
                      <a:round/>
                      <a:headEnd type="none" w="med" len="med"/>
                      <a:tailEnd type="none" w="med" len="med"/>
                    </a:lnB>
                    <a:solidFill>
                      <a:srgbClr val="142338"/>
                    </a:solidFill>
                  </a:tcPr>
                </a:tc>
              </a:tr>
              <a:tr h="566928">
                <a:tc>
                  <a:txBody>
                    <a:bodyPr/>
                    <a:lstStyle/>
                    <a:p>
                      <a:pPr indent="0" marL="0">
                        <a:buNone/>
                      </a:pPr>
                      <a:r>
                        <a:rPr lang="en-US" sz="1100" dirty="0">
                          <a:solidFill>
                            <a:srgbClr val="CFD9E6"/>
                          </a:solidFill>
                          <a:latin typeface="Calibri" pitchFamily="34" charset="0"/>
                          <a:ea typeface="Calibri" pitchFamily="34" charset="-122"/>
                          <a:cs typeface="Calibri" pitchFamily="34" charset="-120"/>
                        </a:rPr>
                        <a:t>Node Ranker Hit@1/MRR/NDCG@5 above baseline, re-verified</a:t>
                      </a:r>
                      <a:endParaRPr lang="en-US" sz="1200" dirty="0"/>
                    </a:p>
                  </a:txBody>
                  <a:tcPr marL="91440" marR="91440" marT="45720" marB="45720" anchor="ctr">
                    <a:lnL w="9525" cap="flat" cmpd="sng" algn="ctr">
                      <a:solidFill>
                        <a:srgbClr val="24405F"/>
                      </a:solidFill>
                      <a:prstDash val="solid"/>
                      <a:round/>
                      <a:headEnd type="none" w="med" len="med"/>
                      <a:tailEnd type="none" w="med" len="med"/>
                    </a:lnL>
                    <a:lnR w="9525" cap="flat" cmpd="sng" algn="ctr">
                      <a:solidFill>
                        <a:srgbClr val="24405F"/>
                      </a:solidFill>
                      <a:prstDash val="solid"/>
                      <a:round/>
                      <a:headEnd type="none" w="med" len="med"/>
                      <a:tailEnd type="none" w="med" len="med"/>
                    </a:lnR>
                    <a:lnT w="9525" cap="flat" cmpd="sng" algn="ctr">
                      <a:solidFill>
                        <a:srgbClr val="24405F"/>
                      </a:solidFill>
                      <a:prstDash val="solid"/>
                      <a:round/>
                      <a:headEnd type="none" w="med" len="med"/>
                      <a:tailEnd type="none" w="med" len="med"/>
                    </a:lnT>
                    <a:lnB w="9525" cap="flat" cmpd="sng" algn="ctr">
                      <a:solidFill>
                        <a:srgbClr val="24405F"/>
                      </a:solidFill>
                      <a:prstDash val="solid"/>
                      <a:round/>
                      <a:headEnd type="none" w="med" len="med"/>
                      <a:tailEnd type="none" w="med" len="med"/>
                    </a:lnB>
                    <a:solidFill>
                      <a:srgbClr val="142338"/>
                    </a:solidFill>
                  </a:tcPr>
                </a:tc>
                <a:tc>
                  <a:txBody>
                    <a:bodyPr/>
                    <a:lstStyle/>
                    <a:p>
                      <a:pPr indent="0" marL="0">
                        <a:buNone/>
                      </a:pPr>
                      <a:r>
                        <a:rPr lang="en-US" sz="1100" dirty="0">
                          <a:solidFill>
                            <a:srgbClr val="8AA0B8"/>
                          </a:solidFill>
                          <a:latin typeface="Calibri" pitchFamily="34" charset="0"/>
                          <a:ea typeface="Calibri" pitchFamily="34" charset="-122"/>
                          <a:cs typeface="Calibri" pitchFamily="34" charset="-120"/>
                        </a:rPr>
                        <a:t>To re-confirm after re-training</a:t>
                      </a:r>
                      <a:endParaRPr lang="en-US" sz="1200" dirty="0"/>
                    </a:p>
                  </a:txBody>
                  <a:tcPr marL="91440" marR="91440" marT="45720" marB="45720" anchor="ctr">
                    <a:lnL w="9525" cap="flat" cmpd="sng" algn="ctr">
                      <a:solidFill>
                        <a:srgbClr val="24405F"/>
                      </a:solidFill>
                      <a:prstDash val="solid"/>
                      <a:round/>
                      <a:headEnd type="none" w="med" len="med"/>
                      <a:tailEnd type="none" w="med" len="med"/>
                    </a:lnL>
                    <a:lnR w="9525" cap="flat" cmpd="sng" algn="ctr">
                      <a:solidFill>
                        <a:srgbClr val="24405F"/>
                      </a:solidFill>
                      <a:prstDash val="solid"/>
                      <a:round/>
                      <a:headEnd type="none" w="med" len="med"/>
                      <a:tailEnd type="none" w="med" len="med"/>
                    </a:lnR>
                    <a:lnT w="9525" cap="flat" cmpd="sng" algn="ctr">
                      <a:solidFill>
                        <a:srgbClr val="24405F"/>
                      </a:solidFill>
                      <a:prstDash val="solid"/>
                      <a:round/>
                      <a:headEnd type="none" w="med" len="med"/>
                      <a:tailEnd type="none" w="med" len="med"/>
                    </a:lnT>
                    <a:lnB w="9525" cap="flat" cmpd="sng" algn="ctr">
                      <a:solidFill>
                        <a:srgbClr val="24405F"/>
                      </a:solidFill>
                      <a:prstDash val="solid"/>
                      <a:round/>
                      <a:headEnd type="none" w="med" len="med"/>
                      <a:tailEnd type="none" w="med" len="med"/>
                    </a:lnB>
                    <a:solidFill>
                      <a:srgbClr val="142338"/>
                    </a:solidFill>
                  </a:tcPr>
                </a:tc>
              </a:tr>
              <a:tr h="566928">
                <a:tc>
                  <a:txBody>
                    <a:bodyPr/>
                    <a:lstStyle/>
                    <a:p>
                      <a:pPr indent="0" marL="0">
                        <a:buNone/>
                      </a:pPr>
                      <a:r>
                        <a:rPr lang="en-US" sz="1100" dirty="0">
                          <a:solidFill>
                            <a:srgbClr val="CFD9E6"/>
                          </a:solidFill>
                          <a:latin typeface="Calibri" pitchFamily="34" charset="0"/>
                          <a:ea typeface="Calibri" pitchFamily="34" charset="-122"/>
                          <a:cs typeface="Calibri" pitchFamily="34" charset="-120"/>
                        </a:rPr>
                        <a:t>GNNExplainer interpretability integration</a:t>
                      </a:r>
                      <a:endParaRPr lang="en-US" sz="1200" dirty="0"/>
                    </a:p>
                  </a:txBody>
                  <a:tcPr marL="91440" marR="91440" marT="45720" marB="45720" anchor="ctr">
                    <a:lnL w="9525" cap="flat" cmpd="sng" algn="ctr">
                      <a:solidFill>
                        <a:srgbClr val="24405F"/>
                      </a:solidFill>
                      <a:prstDash val="solid"/>
                      <a:round/>
                      <a:headEnd type="none" w="med" len="med"/>
                      <a:tailEnd type="none" w="med" len="med"/>
                    </a:lnL>
                    <a:lnR w="9525" cap="flat" cmpd="sng" algn="ctr">
                      <a:solidFill>
                        <a:srgbClr val="24405F"/>
                      </a:solidFill>
                      <a:prstDash val="solid"/>
                      <a:round/>
                      <a:headEnd type="none" w="med" len="med"/>
                      <a:tailEnd type="none" w="med" len="med"/>
                    </a:lnR>
                    <a:lnT w="9525" cap="flat" cmpd="sng" algn="ctr">
                      <a:solidFill>
                        <a:srgbClr val="24405F"/>
                      </a:solidFill>
                      <a:prstDash val="solid"/>
                      <a:round/>
                      <a:headEnd type="none" w="med" len="med"/>
                      <a:tailEnd type="none" w="med" len="med"/>
                    </a:lnT>
                    <a:lnB w="9525" cap="flat" cmpd="sng" algn="ctr">
                      <a:solidFill>
                        <a:srgbClr val="24405F"/>
                      </a:solidFill>
                      <a:prstDash val="solid"/>
                      <a:round/>
                      <a:headEnd type="none" w="med" len="med"/>
                      <a:tailEnd type="none" w="med" len="med"/>
                    </a:lnB>
                    <a:solidFill>
                      <a:srgbClr val="142338"/>
                    </a:solidFill>
                  </a:tcPr>
                </a:tc>
                <a:tc>
                  <a:txBody>
                    <a:bodyPr/>
                    <a:lstStyle/>
                    <a:p>
                      <a:pPr indent="0" marL="0">
                        <a:buNone/>
                      </a:pPr>
                      <a:r>
                        <a:rPr lang="en-US" sz="1100" dirty="0">
                          <a:solidFill>
                            <a:srgbClr val="8AA0B8"/>
                          </a:solidFill>
                          <a:latin typeface="Calibri" pitchFamily="34" charset="0"/>
                          <a:ea typeface="Calibri" pitchFamily="34" charset="-122"/>
                          <a:cs typeface="Calibri" pitchFamily="34" charset="-120"/>
                        </a:rPr>
                        <a:t>Planned, not started</a:t>
                      </a:r>
                      <a:endParaRPr lang="en-US" sz="1200" dirty="0"/>
                    </a:p>
                  </a:txBody>
                  <a:tcPr marL="91440" marR="91440" marT="45720" marB="45720" anchor="ctr">
                    <a:lnL w="9525" cap="flat" cmpd="sng" algn="ctr">
                      <a:solidFill>
                        <a:srgbClr val="24405F"/>
                      </a:solidFill>
                      <a:prstDash val="solid"/>
                      <a:round/>
                      <a:headEnd type="none" w="med" len="med"/>
                      <a:tailEnd type="none" w="med" len="med"/>
                    </a:lnL>
                    <a:lnR w="9525" cap="flat" cmpd="sng" algn="ctr">
                      <a:solidFill>
                        <a:srgbClr val="24405F"/>
                      </a:solidFill>
                      <a:prstDash val="solid"/>
                      <a:round/>
                      <a:headEnd type="none" w="med" len="med"/>
                      <a:tailEnd type="none" w="med" len="med"/>
                    </a:lnR>
                    <a:lnT w="9525" cap="flat" cmpd="sng" algn="ctr">
                      <a:solidFill>
                        <a:srgbClr val="24405F"/>
                      </a:solidFill>
                      <a:prstDash val="solid"/>
                      <a:round/>
                      <a:headEnd type="none" w="med" len="med"/>
                      <a:tailEnd type="none" w="med" len="med"/>
                    </a:lnT>
                    <a:lnB w="9525" cap="flat" cmpd="sng" algn="ctr">
                      <a:solidFill>
                        <a:srgbClr val="24405F"/>
                      </a:solidFill>
                      <a:prstDash val="solid"/>
                      <a:round/>
                      <a:headEnd type="none" w="med" len="med"/>
                      <a:tailEnd type="none" w="med" len="med"/>
                    </a:lnB>
                    <a:solidFill>
                      <a:srgbClr val="142338"/>
                    </a:solidFill>
                  </a:tcPr>
                </a:tc>
              </a:tr>
              <a:tr h="566928">
                <a:tc>
                  <a:txBody>
                    <a:bodyPr/>
                    <a:lstStyle/>
                    <a:p>
                      <a:pPr indent="0" marL="0">
                        <a:buNone/>
                      </a:pPr>
                      <a:r>
                        <a:rPr lang="en-US" sz="1100" dirty="0">
                          <a:solidFill>
                            <a:srgbClr val="CFD9E6"/>
                          </a:solidFill>
                          <a:latin typeface="Calibri" pitchFamily="34" charset="0"/>
                          <a:ea typeface="Calibri" pitchFamily="34" charset="-122"/>
                          <a:cs typeface="Calibri" pitchFamily="34" charset="-120"/>
                        </a:rPr>
                        <a:t>3D generative component completion (Path A/B)</a:t>
                      </a:r>
                      <a:endParaRPr lang="en-US" sz="1200" dirty="0"/>
                    </a:p>
                  </a:txBody>
                  <a:tcPr marL="91440" marR="91440" marT="45720" marB="45720" anchor="ctr">
                    <a:lnL w="9525" cap="flat" cmpd="sng" algn="ctr">
                      <a:solidFill>
                        <a:srgbClr val="24405F"/>
                      </a:solidFill>
                      <a:prstDash val="solid"/>
                      <a:round/>
                      <a:headEnd type="none" w="med" len="med"/>
                      <a:tailEnd type="none" w="med" len="med"/>
                    </a:lnL>
                    <a:lnR w="9525" cap="flat" cmpd="sng" algn="ctr">
                      <a:solidFill>
                        <a:srgbClr val="24405F"/>
                      </a:solidFill>
                      <a:prstDash val="solid"/>
                      <a:round/>
                      <a:headEnd type="none" w="med" len="med"/>
                      <a:tailEnd type="none" w="med" len="med"/>
                    </a:lnR>
                    <a:lnT w="9525" cap="flat" cmpd="sng" algn="ctr">
                      <a:solidFill>
                        <a:srgbClr val="24405F"/>
                      </a:solidFill>
                      <a:prstDash val="solid"/>
                      <a:round/>
                      <a:headEnd type="none" w="med" len="med"/>
                      <a:tailEnd type="none" w="med" len="med"/>
                    </a:lnT>
                    <a:lnB w="9525" cap="flat" cmpd="sng" algn="ctr">
                      <a:solidFill>
                        <a:srgbClr val="24405F"/>
                      </a:solidFill>
                      <a:prstDash val="solid"/>
                      <a:round/>
                      <a:headEnd type="none" w="med" len="med"/>
                      <a:tailEnd type="none" w="med" len="med"/>
                    </a:lnB>
                    <a:solidFill>
                      <a:srgbClr val="142338"/>
                    </a:solidFill>
                  </a:tcPr>
                </a:tc>
                <a:tc>
                  <a:txBody>
                    <a:bodyPr/>
                    <a:lstStyle/>
                    <a:p>
                      <a:pPr indent="0" marL="0">
                        <a:buNone/>
                      </a:pPr>
                      <a:r>
                        <a:rPr lang="en-US" sz="1100" dirty="0">
                          <a:solidFill>
                            <a:srgbClr val="8B5CF6"/>
                          </a:solidFill>
                          <a:latin typeface="Calibri" pitchFamily="34" charset="0"/>
                          <a:ea typeface="Calibri" pitchFamily="34" charset="-122"/>
                          <a:cs typeface="Calibri" pitchFamily="34" charset="-120"/>
                        </a:rPr>
                        <a:t>Phase 3</a:t>
                      </a:r>
                      <a:endParaRPr lang="en-US" sz="1200" dirty="0"/>
                    </a:p>
                  </a:txBody>
                  <a:tcPr marL="91440" marR="91440" marT="45720" marB="45720" anchor="ctr">
                    <a:lnL w="9525" cap="flat" cmpd="sng" algn="ctr">
                      <a:solidFill>
                        <a:srgbClr val="24405F"/>
                      </a:solidFill>
                      <a:prstDash val="solid"/>
                      <a:round/>
                      <a:headEnd type="none" w="med" len="med"/>
                      <a:tailEnd type="none" w="med" len="med"/>
                    </a:lnL>
                    <a:lnR w="9525" cap="flat" cmpd="sng" algn="ctr">
                      <a:solidFill>
                        <a:srgbClr val="24405F"/>
                      </a:solidFill>
                      <a:prstDash val="solid"/>
                      <a:round/>
                      <a:headEnd type="none" w="med" len="med"/>
                      <a:tailEnd type="none" w="med" len="med"/>
                    </a:lnR>
                    <a:lnT w="9525" cap="flat" cmpd="sng" algn="ctr">
                      <a:solidFill>
                        <a:srgbClr val="24405F"/>
                      </a:solidFill>
                      <a:prstDash val="solid"/>
                      <a:round/>
                      <a:headEnd type="none" w="med" len="med"/>
                      <a:tailEnd type="none" w="med" len="med"/>
                    </a:lnT>
                    <a:lnB w="9525" cap="flat" cmpd="sng" algn="ctr">
                      <a:solidFill>
                        <a:srgbClr val="24405F"/>
                      </a:solidFill>
                      <a:prstDash val="solid"/>
                      <a:round/>
                      <a:headEnd type="none" w="med" len="med"/>
                      <a:tailEnd type="none" w="med" len="med"/>
                    </a:lnB>
                    <a:solidFill>
                      <a:srgbClr val="142338"/>
                    </a:solidFill>
                  </a:tcPr>
                </a:tc>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A121F"/>
        </a:solidFill>
      </p:bgPr>
    </p:bg>
    <p:spTree>
      <p:nvGrpSpPr>
        <p:cNvPr id="1" name=""/>
        <p:cNvGrpSpPr/>
        <p:nvPr/>
      </p:nvGrpSpPr>
      <p:grpSpPr>
        <a:xfrm>
          <a:off x="0" y="0"/>
          <a:ext cx="0" cy="0"/>
          <a:chOff x="0" y="0"/>
          <a:chExt cx="0" cy="0"/>
        </a:xfrm>
      </p:grpSpPr>
      <p:sp>
        <p:nvSpPr>
          <p:cNvPr id="2" name="Text 0"/>
          <p:cNvSpPr/>
          <p:nvPr/>
        </p:nvSpPr>
        <p:spPr>
          <a:xfrm>
            <a:off x="457200" y="292608"/>
            <a:ext cx="11277295" cy="274320"/>
          </a:xfrm>
          <a:prstGeom prst="rect">
            <a:avLst/>
          </a:prstGeom>
          <a:noFill/>
          <a:ln/>
        </p:spPr>
        <p:txBody>
          <a:bodyPr wrap="square" rtlCol="0" anchor="ctr"/>
          <a:lstStyle/>
          <a:p>
            <a:pPr indent="0" marL="0">
              <a:buNone/>
            </a:pPr>
            <a:r>
              <a:rPr lang="en-US" sz="1100" b="1" spc="150" kern="0" dirty="0">
                <a:solidFill>
                  <a:srgbClr val="5B9BD5"/>
                </a:solidFill>
                <a:latin typeface="Calibri" pitchFamily="34" charset="0"/>
                <a:ea typeface="Calibri" pitchFamily="34" charset="-122"/>
                <a:cs typeface="Calibri" pitchFamily="34" charset="-120"/>
              </a:rPr>
              <a:t>7 · REFERENCES</a:t>
            </a:r>
            <a:endParaRPr lang="en-US" sz="1100" dirty="0"/>
          </a:p>
        </p:txBody>
      </p:sp>
      <p:sp>
        <p:nvSpPr>
          <p:cNvPr id="3" name="Text 1"/>
          <p:cNvSpPr/>
          <p:nvPr/>
        </p:nvSpPr>
        <p:spPr>
          <a:xfrm>
            <a:off x="457200" y="566928"/>
            <a:ext cx="11277295" cy="502920"/>
          </a:xfrm>
          <a:prstGeom prst="rect">
            <a:avLst/>
          </a:prstGeom>
          <a:noFill/>
          <a:ln/>
        </p:spPr>
        <p:txBody>
          <a:bodyPr wrap="square" rtlCol="0" anchor="t"/>
          <a:lstStyle/>
          <a:p>
            <a:pPr indent="0" marL="0">
              <a:buNone/>
            </a:pPr>
            <a:r>
              <a:rPr lang="en-US" sz="2600" b="1" dirty="0">
                <a:solidFill>
                  <a:srgbClr val="E6EDF5"/>
                </a:solidFill>
                <a:latin typeface="Calibri" pitchFamily="34" charset="0"/>
                <a:ea typeface="Calibri" pitchFamily="34" charset="-122"/>
                <a:cs typeface="Calibri" pitchFamily="34" charset="-120"/>
              </a:rPr>
              <a:t>References</a:t>
            </a:r>
            <a:endParaRPr lang="en-US" sz="2600" dirty="0"/>
          </a:p>
        </p:txBody>
      </p:sp>
      <p:sp>
        <p:nvSpPr>
          <p:cNvPr id="4" name="Shape 2"/>
          <p:cNvSpPr/>
          <p:nvPr/>
        </p:nvSpPr>
        <p:spPr>
          <a:xfrm>
            <a:off x="457200" y="1234440"/>
            <a:ext cx="5486400" cy="5120640"/>
          </a:xfrm>
          <a:prstGeom prst="roundRect">
            <a:avLst>
              <a:gd name="adj" fmla="val 1071"/>
            </a:avLst>
          </a:prstGeom>
          <a:solidFill>
            <a:srgbClr val="142338"/>
          </a:solidFill>
          <a:ln w="12700">
            <a:solidFill>
              <a:srgbClr val="24405F"/>
            </a:solidFill>
            <a:prstDash val="solid"/>
          </a:ln>
        </p:spPr>
      </p:sp>
      <p:sp>
        <p:nvSpPr>
          <p:cNvPr id="5" name="Text 3"/>
          <p:cNvSpPr/>
          <p:nvPr/>
        </p:nvSpPr>
        <p:spPr>
          <a:xfrm>
            <a:off x="621792" y="1399032"/>
            <a:ext cx="5157216" cy="292608"/>
          </a:xfrm>
          <a:prstGeom prst="rect">
            <a:avLst/>
          </a:prstGeom>
          <a:noFill/>
          <a:ln/>
        </p:spPr>
        <p:txBody>
          <a:bodyPr wrap="square" rtlCol="0" anchor="ctr"/>
          <a:lstStyle/>
          <a:p>
            <a:pPr indent="0" marL="0">
              <a:buNone/>
            </a:pPr>
            <a:r>
              <a:rPr lang="en-US" sz="1300" b="1" dirty="0">
                <a:solidFill>
                  <a:srgbClr val="5B9BD5"/>
                </a:solidFill>
                <a:latin typeface="Calibri" pitchFamily="34" charset="0"/>
                <a:ea typeface="Calibri" pitchFamily="34" charset="-122"/>
                <a:cs typeface="Calibri" pitchFamily="34" charset="-120"/>
              </a:rPr>
              <a:t>Core methods</a:t>
            </a:r>
            <a:endParaRPr lang="en-US" sz="1300" dirty="0"/>
          </a:p>
        </p:txBody>
      </p:sp>
      <p:sp>
        <p:nvSpPr>
          <p:cNvPr id="6" name="Text 4"/>
          <p:cNvSpPr/>
          <p:nvPr/>
        </p:nvSpPr>
        <p:spPr>
          <a:xfrm>
            <a:off x="621792" y="1728216"/>
            <a:ext cx="5157216" cy="4462272"/>
          </a:xfrm>
          <a:prstGeom prst="rect">
            <a:avLst/>
          </a:prstGeom>
          <a:noFill/>
          <a:ln/>
        </p:spPr>
        <p:txBody>
          <a:bodyPr wrap="square" rtlCol="0" anchor="t"/>
          <a:lstStyle/>
          <a:p>
            <a:pPr marL="177800" indent="-177800">
              <a:lnSpc>
                <a:spcPct val="115000"/>
              </a:lnSpc>
              <a:spcAft>
                <a:spcPts val="600"/>
              </a:spcAft>
              <a:buSzPct val="100000"/>
              <a:buChar char="•"/>
            </a:pPr>
            <a:r>
              <a:rPr lang="en-US" sz="1200" dirty="0">
                <a:solidFill>
                  <a:srgbClr val="CFD9E6"/>
                </a:solidFill>
                <a:latin typeface="Calibri" pitchFamily="34" charset="0"/>
                <a:ea typeface="Calibri" pitchFamily="34" charset="-122"/>
                <a:cs typeface="Calibri" pitchFamily="34" charset="-120"/>
              </a:rPr>
              <a:t>Veličković et al., “Graph Attention Networks,” ICLR 2018</a:t>
            </a:r>
            <a:endParaRPr lang="en-US" sz="1200" dirty="0"/>
          </a:p>
          <a:p>
            <a:pPr marL="177800" indent="-177800">
              <a:lnSpc>
                <a:spcPct val="115000"/>
              </a:lnSpc>
              <a:spcAft>
                <a:spcPts val="600"/>
              </a:spcAft>
              <a:buSzPct val="100000"/>
              <a:buChar char="•"/>
            </a:pPr>
            <a:r>
              <a:rPr lang="en-US" sz="1200" dirty="0">
                <a:solidFill>
                  <a:srgbClr val="CFD9E6"/>
                </a:solidFill>
                <a:latin typeface="Calibri" pitchFamily="34" charset="0"/>
                <a:ea typeface="Calibri" pitchFamily="34" charset="-122"/>
                <a:cs typeface="Calibri" pitchFamily="34" charset="-120"/>
              </a:rPr>
              <a:t>Schlichtkrull et al., “Modeling Relational Data with Graph Convolutional Networks” (R-GCN), ESWC 2018</a:t>
            </a:r>
            <a:endParaRPr lang="en-US" sz="1200" dirty="0"/>
          </a:p>
          <a:p>
            <a:pPr marL="177800" indent="-177800">
              <a:lnSpc>
                <a:spcPct val="115000"/>
              </a:lnSpc>
              <a:spcAft>
                <a:spcPts val="600"/>
              </a:spcAft>
              <a:buSzPct val="100000"/>
              <a:buChar char="•"/>
            </a:pPr>
            <a:r>
              <a:rPr lang="en-US" sz="1200" dirty="0">
                <a:solidFill>
                  <a:srgbClr val="CFD9E6"/>
                </a:solidFill>
                <a:latin typeface="Calibri" pitchFamily="34" charset="0"/>
                <a:ea typeface="Calibri" pitchFamily="34" charset="-122"/>
                <a:cs typeface="Calibri" pitchFamily="34" charset="-120"/>
              </a:rPr>
              <a:t>Rendle et al., “BPR: Bayesian Personalized Ranking from Implicit Feedback,” UAI 2009</a:t>
            </a:r>
            <a:endParaRPr lang="en-US" sz="1200" dirty="0"/>
          </a:p>
          <a:p>
            <a:pPr marL="177800" indent="-177800">
              <a:lnSpc>
                <a:spcPct val="115000"/>
              </a:lnSpc>
              <a:spcAft>
                <a:spcPts val="600"/>
              </a:spcAft>
              <a:buSzPct val="100000"/>
              <a:buChar char="•"/>
            </a:pPr>
            <a:r>
              <a:rPr lang="en-US" sz="1200" dirty="0">
                <a:solidFill>
                  <a:srgbClr val="CFD9E6"/>
                </a:solidFill>
                <a:latin typeface="Calibri" pitchFamily="34" charset="0"/>
                <a:ea typeface="Calibri" pitchFamily="34" charset="-122"/>
                <a:cs typeface="Calibri" pitchFamily="34" charset="-120"/>
              </a:rPr>
              <a:t>Ying et al., “GNNExplainer: Generating Explanations for Graph Neural Networks,” NeurIPS 2019</a:t>
            </a:r>
            <a:endParaRPr lang="en-US" sz="1200" dirty="0"/>
          </a:p>
        </p:txBody>
      </p:sp>
      <p:sp>
        <p:nvSpPr>
          <p:cNvPr id="7" name="Shape 5"/>
          <p:cNvSpPr/>
          <p:nvPr/>
        </p:nvSpPr>
        <p:spPr>
          <a:xfrm>
            <a:off x="6126480" y="1234440"/>
            <a:ext cx="5605272" cy="5120640"/>
          </a:xfrm>
          <a:prstGeom prst="roundRect">
            <a:avLst>
              <a:gd name="adj" fmla="val 1071"/>
            </a:avLst>
          </a:prstGeom>
          <a:solidFill>
            <a:srgbClr val="142338"/>
          </a:solidFill>
          <a:ln w="12700">
            <a:solidFill>
              <a:srgbClr val="24405F"/>
            </a:solidFill>
            <a:prstDash val="solid"/>
          </a:ln>
        </p:spPr>
      </p:sp>
      <p:sp>
        <p:nvSpPr>
          <p:cNvPr id="8" name="Text 6"/>
          <p:cNvSpPr/>
          <p:nvPr/>
        </p:nvSpPr>
        <p:spPr>
          <a:xfrm>
            <a:off x="6291072" y="1399032"/>
            <a:ext cx="5276088" cy="292608"/>
          </a:xfrm>
          <a:prstGeom prst="rect">
            <a:avLst/>
          </a:prstGeom>
          <a:noFill/>
          <a:ln/>
        </p:spPr>
        <p:txBody>
          <a:bodyPr wrap="square" rtlCol="0" anchor="ctr"/>
          <a:lstStyle/>
          <a:p>
            <a:pPr indent="0" marL="0">
              <a:buNone/>
            </a:pPr>
            <a:r>
              <a:rPr lang="en-US" sz="1300" b="1" dirty="0">
                <a:solidFill>
                  <a:srgbClr val="5B9BD5"/>
                </a:solidFill>
                <a:latin typeface="Calibri" pitchFamily="34" charset="0"/>
                <a:ea typeface="Calibri" pitchFamily="34" charset="-122"/>
                <a:cs typeface="Calibri" pitchFamily="34" charset="-120"/>
              </a:rPr>
              <a:t>Tooling &amp;amp; data</a:t>
            </a:r>
            <a:endParaRPr lang="en-US" sz="1300" dirty="0"/>
          </a:p>
        </p:txBody>
      </p:sp>
      <p:sp>
        <p:nvSpPr>
          <p:cNvPr id="9" name="Text 7"/>
          <p:cNvSpPr/>
          <p:nvPr/>
        </p:nvSpPr>
        <p:spPr>
          <a:xfrm>
            <a:off x="6291072" y="1728216"/>
            <a:ext cx="5276088" cy="4462272"/>
          </a:xfrm>
          <a:prstGeom prst="rect">
            <a:avLst/>
          </a:prstGeom>
          <a:noFill/>
          <a:ln/>
        </p:spPr>
        <p:txBody>
          <a:bodyPr wrap="square" rtlCol="0" anchor="t"/>
          <a:lstStyle/>
          <a:p>
            <a:pPr marL="177800" indent="-177800">
              <a:lnSpc>
                <a:spcPct val="115000"/>
              </a:lnSpc>
              <a:spcAft>
                <a:spcPts val="600"/>
              </a:spcAft>
              <a:buSzPct val="100000"/>
              <a:buChar char="•"/>
            </a:pPr>
            <a:r>
              <a:rPr lang="en-US" sz="1200" dirty="0">
                <a:solidFill>
                  <a:srgbClr val="CFD9E6"/>
                </a:solidFill>
                <a:latin typeface="Calibri" pitchFamily="34" charset="0"/>
                <a:ea typeface="Calibri" pitchFamily="34" charset="-122"/>
                <a:cs typeface="Calibri" pitchFamily="34" charset="-120"/>
              </a:rPr>
              <a:t>Fey &amp;amp; Lenssen, “Fast Graph Representation Learning with PyTorch Geometric,” ICLR-W 2019</a:t>
            </a:r>
            <a:endParaRPr lang="en-US" sz="1200" dirty="0"/>
          </a:p>
          <a:p>
            <a:pPr marL="177800" indent="-177800">
              <a:lnSpc>
                <a:spcPct val="115000"/>
              </a:lnSpc>
              <a:spcAft>
                <a:spcPts val="600"/>
              </a:spcAft>
              <a:buSzPct val="100000"/>
              <a:buChar char="•"/>
            </a:pPr>
            <a:r>
              <a:rPr lang="en-US" sz="1200" dirty="0">
                <a:solidFill>
                  <a:srgbClr val="CFD9E6"/>
                </a:solidFill>
                <a:latin typeface="Calibri" pitchFamily="34" charset="0"/>
                <a:ea typeface="Calibri" pitchFamily="34" charset="-122"/>
                <a:cs typeface="Calibri" pitchFamily="34" charset="-120"/>
              </a:rPr>
              <a:t>Open CASCADE Technology (OCCT) — B-Rep CAD kernel used for STEP parsing</a:t>
            </a:r>
            <a:endParaRPr lang="en-US" sz="1200" dirty="0"/>
          </a:p>
          <a:p>
            <a:pPr marL="177800" indent="-177800">
              <a:lnSpc>
                <a:spcPct val="115000"/>
              </a:lnSpc>
              <a:spcAft>
                <a:spcPts val="600"/>
              </a:spcAft>
              <a:buSzPct val="100000"/>
              <a:buChar char="•"/>
            </a:pPr>
            <a:r>
              <a:rPr lang="en-US" sz="1200" dirty="0">
                <a:solidFill>
                  <a:srgbClr val="CFD9E6"/>
                </a:solidFill>
                <a:latin typeface="Calibri" pitchFamily="34" charset="0"/>
                <a:ea typeface="Calibri" pitchFamily="34" charset="-122"/>
                <a:cs typeface="Calibri" pitchFamily="34" charset="-120"/>
              </a:rPr>
              <a:t>Willis et al., “Fusion 360 Gallery Dataset,” 2021 — reference corpus for assembly-graph structure</a:t>
            </a:r>
            <a:endParaRPr lang="en-US" sz="1200" dirty="0"/>
          </a:p>
          <a:p>
            <a:pPr marL="177800" indent="-177800">
              <a:lnSpc>
                <a:spcPct val="115000"/>
              </a:lnSpc>
              <a:spcAft>
                <a:spcPts val="600"/>
              </a:spcAft>
              <a:buSzPct val="100000"/>
              <a:buChar char="•"/>
            </a:pPr>
            <a:r>
              <a:rPr lang="en-US" sz="1200" dirty="0">
                <a:solidFill>
                  <a:srgbClr val="CFD9E6"/>
                </a:solidFill>
                <a:latin typeface="Calibri" pitchFamily="34" charset="0"/>
                <a:ea typeface="Calibri" pitchFamily="34" charset="-122"/>
                <a:cs typeface="Calibri" pitchFamily="34" charset="-120"/>
              </a:rPr>
              <a:t>Project-internal: Phase 1 report (</a:t>
            </a:r>
            <a:endParaRPr lang="en-US" sz="1200" dirty="0"/>
          </a:p>
          <a:p>
            <a:pPr indent="0" marL="0">
              <a:lnSpc>
                <a:spcPct val="115000"/>
              </a:lnSpc>
              <a:buNone/>
            </a:pPr>
            <a:r>
              <a:rPr lang="en-US" sz="1200" dirty="0">
                <a:solidFill>
                  <a:srgbClr val="FFD9A0"/>
                </a:solidFill>
                <a:latin typeface="Consolas" pitchFamily="34" charset="0"/>
                <a:ea typeface="Consolas" pitchFamily="34" charset="-122"/>
                <a:cs typeface="Consolas" pitchFamily="34" charset="-120"/>
              </a:rPr>
              <a:t>Review_files/ParthasarathyPerumal_PES2PGE24DS193_ProjectReport.pdf</a:t>
            </a:r>
            <a:pPr indent="0" marL="0">
              <a:lnSpc>
                <a:spcPct val="115000"/>
              </a:lnSpc>
              <a:buNone/>
            </a:pPr>
            <a:r>
              <a:rPr lang="en-US" sz="1200" dirty="0">
                <a:solidFill>
                  <a:srgbClr val="CFD9E6"/>
                </a:solidFill>
                <a:latin typeface="Calibri" pitchFamily="34" charset="0"/>
                <a:ea typeface="Calibri" pitchFamily="34" charset="-122"/>
                <a:cs typeface="Calibri" pitchFamily="34" charset="-120"/>
              </a:rPr>
              <a:t>)</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A121F"/>
        </a:solidFill>
      </p:bgPr>
    </p:bg>
    <p:spTree>
      <p:nvGrpSpPr>
        <p:cNvPr id="1" name=""/>
        <p:cNvGrpSpPr/>
        <p:nvPr/>
      </p:nvGrpSpPr>
      <p:grpSpPr>
        <a:xfrm>
          <a:off x="0" y="0"/>
          <a:ext cx="0" cy="0"/>
          <a:chOff x="0" y="0"/>
          <a:chExt cx="0" cy="0"/>
        </a:xfrm>
      </p:grpSpPr>
      <p:sp>
        <p:nvSpPr>
          <p:cNvPr id="2" name="Text 0"/>
          <p:cNvSpPr/>
          <p:nvPr/>
        </p:nvSpPr>
        <p:spPr>
          <a:xfrm>
            <a:off x="0" y="2651760"/>
            <a:ext cx="12191695" cy="914400"/>
          </a:xfrm>
          <a:prstGeom prst="rect">
            <a:avLst/>
          </a:prstGeom>
          <a:noFill/>
          <a:ln/>
        </p:spPr>
        <p:txBody>
          <a:bodyPr wrap="square" rtlCol="0" anchor="ctr"/>
          <a:lstStyle/>
          <a:p>
            <a:pPr algn="ctr" indent="0" marL="0">
              <a:buNone/>
            </a:pPr>
            <a:r>
              <a:rPr lang="en-US" sz="4000" b="1" dirty="0">
                <a:solidFill>
                  <a:srgbClr val="E6EDF5"/>
                </a:solidFill>
                <a:latin typeface="Calibri" pitchFamily="34" charset="0"/>
                <a:ea typeface="Calibri" pitchFamily="34" charset="-122"/>
                <a:cs typeface="Calibri" pitchFamily="34" charset="-120"/>
              </a:rPr>
              <a:t>Thank you</a:t>
            </a:r>
            <a:endParaRPr lang="en-US" sz="4000" dirty="0"/>
          </a:p>
        </p:txBody>
      </p:sp>
      <p:sp>
        <p:nvSpPr>
          <p:cNvPr id="3" name="Text 1"/>
          <p:cNvSpPr/>
          <p:nvPr/>
        </p:nvSpPr>
        <p:spPr>
          <a:xfrm>
            <a:off x="1371600" y="3566160"/>
            <a:ext cx="9448495" cy="640080"/>
          </a:xfrm>
          <a:prstGeom prst="rect">
            <a:avLst/>
          </a:prstGeom>
          <a:noFill/>
          <a:ln/>
        </p:spPr>
        <p:txBody>
          <a:bodyPr wrap="square" rtlCol="0" anchor="ctr"/>
          <a:lstStyle/>
          <a:p>
            <a:pPr algn="ctr" indent="0" marL="0">
              <a:buNone/>
            </a:pPr>
            <a:r>
              <a:rPr lang="en-US" sz="1500" dirty="0">
                <a:solidFill>
                  <a:srgbClr val="8AA0B8"/>
                </a:solidFill>
                <a:latin typeface="Calibri" pitchFamily="34" charset="0"/>
                <a:ea typeface="Calibri" pitchFamily="34" charset="-122"/>
                <a:cs typeface="Calibri" pitchFamily="34" charset="-120"/>
              </a:rPr>
              <a:t>Looking forward to your guidance on Phase 2 direction and the Path A/B sequencing decision.</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Phase 2 — First Review</dc:title>
  <dc:subject>PptxGenJS Presentation</dc:subject>
  <dc:creator>Parthasarathy Perumal</dc:creator>
  <cp:lastModifiedBy>Parthasarathy Perumal</cp:lastModifiedBy>
  <cp:revision>1</cp:revision>
  <dcterms:created xsi:type="dcterms:W3CDTF">2026-08-31T04:23:01Z</dcterms:created>
  <dcterms:modified xsi:type="dcterms:W3CDTF">2026-08-31T04:23:01Z</dcterms:modified>
</cp:coreProperties>
</file>